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51b99e99-fe8b-2a3a-9480-695257c47fa7}">
          <p14:sldIdLst>
            <p14:sldId id="256"/>
            <p14:sldId id="257"/>
          </p14:sldIdLst>
        </p14:section>
        <p14:section name="El problema" id="{82b85d6c-2600-0cb5-4bcc-a053a81f8b7b}">
          <p14:sldIdLst>
            <p14:sldId id="258"/>
            <p14:sldId id="259"/>
            <p14:sldId id="260"/>
            <p14:sldId id="261"/>
            <p14:sldId id="262"/>
          </p14:sldIdLst>
        </p14:section>
        <p14:section name="La solución" id="{1b1b9419-8a37-5f6d-cd68-e3bf48b13178}">
          <p14:sldIdLst>
            <p14:sldId id="263"/>
            <p14:sldId id="264"/>
            <p14:sldId id="265"/>
            <p14:sldId id="266"/>
            <p14:sldId id="267"/>
          </p14:sldIdLst>
        </p14:section>
        <p14:section name="Demo" id="{21475fb6-7594-2bac-8e47-53ddaa2f12de}">
          <p14:sldIdLst>
            <p14:sldId id="268"/>
            <p14:sldId id="269"/>
            <p14:sldId id="270"/>
            <p14:sldId id="271"/>
            <p14:sldId id="272"/>
          </p14:sldIdLst>
        </p14:section>
        <p14:section name="Impacto" id="{3798ae0d-9424-cff8-c689-8621633ded4a}">
          <p14:sldIdLst>
            <p14:sldId id="273"/>
            <p14:sldId id="274"/>
          </p14:sldIdLst>
        </p14:section>
        <p14:section name="Cierre" id="{dd756f9e-16a7-989b-a534-516dfed24ab2}">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Buenas tardes. Somos el equipo Ellenistas y les presentamos Brasper IA.
Traemos dos soluciones para que Brasper deje de depender del tipeo manual: un robot que factura solo y seis agentes de IA que convierten los datos que Brasper ya tiene en decisiones. Al final lo van a ver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Brasper hace remesas y cambio de divisas entre Perú y Brasil, en los dos sentidos. Hoy procesa unas 60 operaciones al día y su meta es llegar a 1000.
Las ventas se cierran por WhatsApp con 3 vendedores, y cada operación queda registrada en un dashboard propio.
Un detalle clave para lo que viene: según el sentido de la remesa, el comprobante se emite en una plataforma distinta. Perú → Brasil se factura en KeyFácil y Brasil → Perú en Omie.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Así viaja hoy una operación. El cliente cierra la venta por WhatsApp; los 3 vendedores copian a mano nombre, DNI, cuentas, montos y tipo de cambio al dashboard. Ese es el primer tipeo.
Después, contabilidad abre el dashboard y vuelve a copiar los mismos datos en KeyFácil u Omie. Segundo tipeo.
Y como copiar a mano genera errores, hay un equipo que revisa que todo coincida. Entre estos sistemas no hay ninguna conexión: el puente son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El resultado son días de espera. En su peor momento, los comprobantes tardaban entre una semana y semana y media: un cliente que operó el 1 de octubre recibió su boleta el 16.
Hoy tardan 2 o 3 días, pero no porque algo se haya automatizado: sumaron 2 o 3 personas a contabilidad. Y ellos mismos dicen que sigue siendo mucho.
El problema de fondo es la escala: con la meta de 1000 operaciones al día, este modelo obliga a contratar al mismo ritmo que crecen.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Si lo miramos como costo, Brasper paga tres veces por cada comprobante. Paga la suscripción a KeyFácil y Omie. Paga a la persona que tipea los datos. Y paga a la persona que revisa que no se hayan tipeado mal.
Esa revisión no le agrega nada al cliente: existe solo para corregir un error que crea el propio proceso manual. Si los datos pasan solos de un sistema a otro, desaparece el error y, con él, la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En las reuniones con Brasper vimos que el tipeo no se limita a la facturación.
Brasper invierte en campañas de Meta, WhatsApp y TikTok, pero no sabe qué anuncio trajo a cada cliente: lo marca con etiquetas a mano. La liquidez de soles, reales y dólares se revisa en un Excel cada hora. Solo se registran las ventas que cierran, así que se pierde a quién hacerle seguimiento. Y muchos leads llegan creyendo que Brasper presta dinero.
Los datos para responder todo esto ya existen; nadie los está uniendo.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Antes de diseñar, Brasper nos puso una regla clara. Cuando pedimos acceso a su base de datos o a su API, la respuesta fue: «Nuestra API son las personas». Son datos sensibles y no los van a abrir.
Así que la solución tenía que trabajar sobre la interfaz, igual que lo hace el equipo. Además, los datos de clientes no pueden salir hacia servicios de IA externos, y el reglamento peruano de IA exige supervisión humana. Todo lo que van a ver respeta esas tres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Nuestra propuesta son dos soluciones con un mismo objetivo: que nadie tenga que tipear.
La primera es un RPA de facturación: un robot que hace el trabajo de contabilidad sobre las mismas pantallas, sin tocar la base de datos.
La segunda es un ARM, Agentic Relationship Management: seis agentes de IA y un Copiloto que unen campañas, clientes, operaciones y caja para responder las preguntas de gerencia.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El robot hace exactamente lo que hoy hace una persona de contabilidad, pero sin cansarse ni equivocarse.
Lee la fila de la operación en la vista Contabilidad: 13 datos. Valida las reglas: si corresponde boleta o factura, que el IGV sea el 18 % y que la venta final cuadre. Elige la plataforma según el sentido de la remesa. Llena el formulario campo por campo y emite. Después, la IA lee el PDF y lo compara con el dashboard. Y por último deja el número del comprobante en el dashboard, para que todos vean qué está facturado.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Lo importante de un robot no es cuando todo sale bien, sino qué hace cuando algo falla.
Este es un caso real de la demo: la operación PxB-001529 tiene una comisión de 5.08 y un IGV de 0.91, que suman 5.99. Pero la venta final del dashboard dice 14.14. El robot no la emite: la aparta para revisión humana y explica por qué. Contabilidad ya no revisa todo; solo las excepciones.
Además, como trabaja sobre la interfaz, si KeyFácil u Omie cambian de diseño, la visión IA reconoce los campos por su etiqueta y sigue. Y nunca factura dos veces la misma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La segunda solución es el ARM. Son seis agentes, cada uno con una tarea concreta, y un Copiloto que los coordina.
Rastro une cada anuncio con el cliente que trajo y sus operaciones. Capital mide ROI, ROAS y CAC sobre la comisión real, no sobre el monto enviado. Horizonte recomienda cuánto invertir, cuándo y dónde. Bitácora guarda cada cotización, cierre o no. Caudal reemplaza el Excel de saldos y alerta a tiempo. Y Lupa descubre por qué no cierran los leads.
Gerencia no tiene que saber a qué agente preguntarle: le pregunta al Copiloto en lenguaje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¿Cómo sabe Rastro qué cliente vino de qué anuncio? Meta y TikTok solo entregan totales: gasto, clics, edad, región. No dicen quién hizo clic.
El cruce lo hacemos en la web de Brasper: cuando la persona llega desde un anuncio guardamos los UTM y el ID de clic, lo amarramos a su registro con DNI o CPF y después a cada operación. Así se calcula el ROAS y el CAC reales por campaña. En WhatsApp y en los formularios el cruce es por el teléfono o el email cifrados.
Todo pasa solo después de que la persona acepta las cookies, como piden la Ley 29733 y la LGPD de Brasil.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≈3 min)
Antes de presentar: en la carpeta brasper-ia-demo, ejecutar «python3 -m http.server 8765» y abrir http://localhost:8765/_preview.html. Dejarlo abierto en otra pestaña.
1. Pestaña «RPA de facturación»: clic en «Activar RPA» y luego en «Iniciar facturación automática». Narrar cómo lee la fila, valida las reglas y llena KeyFácil (Perú → Brasil) u Omie (Brasil → Perú).
2. A mitad del lote, cambiar «Diseño de la plataforma destino» a «Rediseñada». Mostrar la visión IA reconociendo los campos. Señalar que PxB-001529 queda en «Revisión humana». Pasar a «Turbo» para terminar: 10 emitidos, 1 en revisión.
3. Pestaña «ARM con agentes IA»: clic en «Brasper ARM · Entrar». Mostrar el centro de mando. En el Copiloto, usar la sugerencia «¿Qué campaña apago y cuál escalo?». Abrir a Lupa y pulsar «¿Cómo cambio el mensaje?».
Consejo: usar las preguntas sugeridas. Una pregunta escrita a mano puede ir al agente equivocado.
Si la demo en vivo falla, seguir con las cuatro láminas siguientes, que muestran los mismos momentos.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de la demo, ≈30 s) A la izquierda está el dashboard de Brasper, en la vista Contabilidad. Al centro, el agente RPA: muestra qué operación procesa, los 13 datos que leyó y las reglas que validó. A la derecha, KeyFácil: el robot lo llena campo por campo con los datos del dashboard, emite y valida el PDF. La columna nueva del dashboard va mostrando el número de cada comprobante emitido.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de la demo, ≈30 s) A mitad del lote cambiamos el diseño de Omie, como si la plataforma se actualizara. El robot no se rompe: la visión IA reconoce cada campo por su etiqueta, con su nivel de confianza, y sigue trabajando. Al final, 10 de las 11 operaciones quedan emitidas y validadas. La PxB-001529 queda en «Revisión humana» porque sus montos no cuadran: contabilidad solo revisa ese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de la demo, ≈25 s) El ARM no reemplaza el dashboard: se suma como un botón más. Un clic abre el portal, donde se presentan los seis agentes, y llegamos al centro de mando: el Copiloto al centro y cada agente mostrando en qué está trabajando.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de la demo, ≈30 s) Gerencia pregunta en lenguaje natural. A «¿Qué campaña apago y cuál escalo?», el Copiloto coordina a Capital, Lupa y Horizonte y responde con el ROAS de cada campaña. A Lupa le preguntamos cómo cambiar el mensaje: propone un anuncio que habla de familia y tasa, y aclara que no es un préstamo. Las cifras de la demo son simuladas, pero siguen la estructura real de la base de Brasper.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En resumen, esto es lo que cambia. El comprobante pasa de 2 o 3 días a minutos después de cerrar la operación. El tipeo desaparece. La revisión ya no es de cada operación, sino solo de las excepciones, con su motivo. Brasper puede crecer hacia 1000 operaciones al día con el mismo equipo. Y en la parte comercial, cada cliente queda unido al anuncio que lo trajo, y la liquidez se vigila sola, con alertas y un plan de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Proponemos llevarlo a producción en tres fases.
Primero, un piloto en la ruta Perú → Brasil, que es el alcance acordado: el robot factura desde el dashboard actual, la IA valida cada PDF y contabilidad ve las excepciones en un panel.
Segundo, cumplir el pedido de Brasper de dejar KeyFácil: emisión directa por API ante SUNAT, aprovechando el módulo que su equipo de TI ya está construyendo, y Omie se mantiene para Brasil, llenado por su API.
Tercero, el ARM con datos reales: capturar UTM e IDs de clic en la web y poner en marcha a Rastro, Caudal y Bitácora.
En todas las fases hay supervisión humana, IA local y consentimiento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Ese es nuestro objetivo: que nadie tenga que tocar una operación entre el registro en el dashboard y la entrega del comprobante al cliente. Y que los datos que Brasper ya tiene trabajen para gerencia.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IERRE-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SECCION-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02920"/>
            <a:ext cx="457200" cy="457200"/>
          </a:xfrm>
          <a:prstGeom prst="rect">
            <a:avLst/>
          </a:prstGeom>
        </p:spPr>
      </p:pic>
      <p:sp>
        <p:nvSpPr>
          <p:cNvPr id="3" name="Text 0"/>
          <p:cNvSpPr/>
          <p:nvPr/>
        </p:nvSpPr>
        <p:spPr>
          <a:xfrm>
            <a:off x="1115568" y="502920"/>
            <a:ext cx="4572000" cy="457200"/>
          </a:xfrm>
          <a:prstGeom prst="rect">
            <a:avLst/>
          </a:prstGeom>
          <a:noFill/>
          <a:ln/>
        </p:spPr>
        <p:txBody>
          <a:bodyPr wrap="square" lIns="0" tIns="0" rIns="0" bIns="0" rtlCol="0" anchor="ctr"/>
          <a:lstStyle/>
          <a:p>
            <a:pPr indent="0" marL="0">
              <a:buNone/>
            </a:pPr>
            <a:r>
              <a:rPr lang="en-US" sz="1600" b="1" dirty="0">
                <a:solidFill>
                  <a:schemeClr val="bg1"/>
                </a:solidFill>
              </a:rPr>
              <a:t>Brasper × Ellenistas</a:t>
            </a:r>
            <a:endParaRPr lang="en-US" sz="1600" dirty="0"/>
          </a:p>
        </p:txBody>
      </p:sp>
      <p:sp>
        <p:nvSpPr>
          <p:cNvPr id="4" name="Text 1"/>
          <p:cNvSpPr/>
          <p:nvPr>
            <p:ph idx="102" type="body" hasCustomPrompt="1"/>
          </p:nvPr>
        </p:nvSpPr>
        <p:spPr>
          <a:xfrm>
            <a:off x="548640" y="1828800"/>
            <a:ext cx="6675120" cy="365760"/>
          </a:xfrm>
          <a:prstGeom prst="rect">
            <a:avLst/>
          </a:prstGeom>
          <a:noFill/>
          <a:ln/>
        </p:spPr>
        <p:txBody>
          <a:bodyPr wrap="square" rtlCol="0"/>
          <a:lstStyle>
            <a:lvl1pPr algn="l" indent="0" marL="0">
              <a:buNone/>
              <a:defRPr lang="en-US" sz="1400" b="1" spc="300" kern="0" dirty="0">
                <a:solidFill>
                  <a:schemeClr val="accent2"/>
                </a:solidFill>
              </a:defRPr>
            </a:lvl1pPr>
          </a:lstStyle>
          <a:p>
            <a:pPr algn="l" indent="0" marL="0">
              <a:buNone/>
            </a:pPr>
            <a:endParaRPr lang="en-US" sz="1400" dirty="0"/>
          </a:p>
        </p:txBody>
      </p:sp>
      <p:sp>
        <p:nvSpPr>
          <p:cNvPr id="5" name="Text 1"/>
          <p:cNvSpPr/>
          <p:nvPr>
            <p:ph idx="103" type="title" hasCustomPrompt="1"/>
          </p:nvPr>
        </p:nvSpPr>
        <p:spPr>
          <a:xfrm>
            <a:off x="548640" y="2240280"/>
            <a:ext cx="6675120" cy="12344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6" name="Text 1"/>
          <p:cNvSpPr/>
          <p:nvPr>
            <p:ph idx="104" type="body" hasCustomPrompt="1"/>
          </p:nvPr>
        </p:nvSpPr>
        <p:spPr>
          <a:xfrm>
            <a:off x="548640" y="3611880"/>
            <a:ext cx="6217920" cy="1463040"/>
          </a:xfrm>
          <a:prstGeom prst="rect">
            <a:avLst/>
          </a:prstGeom>
          <a:noFill/>
          <a:ln/>
        </p:spPr>
        <p:txBody>
          <a:bodyPr wrap="square" rtlCol="0"/>
          <a:lstStyle>
            <a:lvl1pPr algn="l" indent="0" marL="0">
              <a:lnSpc>
                <a:spcPct val="110000"/>
              </a:lnSpc>
              <a:buNone/>
              <a:defRPr lang="en-US" sz="2000" dirty="0">
                <a:solidFill>
                  <a:schemeClr val="bg2"/>
                </a:solidFill>
              </a:defRPr>
            </a:lvl1pPr>
          </a:lstStyle>
          <a:p>
            <a:pPr algn="l" indent="0" marL="0">
              <a:lnSpc>
                <a:spcPct val="110000"/>
              </a:lnSpc>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IER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02920"/>
            <a:ext cx="457200" cy="457200"/>
          </a:xfrm>
          <a:prstGeom prst="rect">
            <a:avLst/>
          </a:prstGeom>
        </p:spPr>
      </p:pic>
      <p:sp>
        <p:nvSpPr>
          <p:cNvPr id="3" name="Text 0"/>
          <p:cNvSpPr/>
          <p:nvPr/>
        </p:nvSpPr>
        <p:spPr>
          <a:xfrm>
            <a:off x="1115568" y="502920"/>
            <a:ext cx="4572000" cy="457200"/>
          </a:xfrm>
          <a:prstGeom prst="rect">
            <a:avLst/>
          </a:prstGeom>
          <a:noFill/>
          <a:ln/>
        </p:spPr>
        <p:txBody>
          <a:bodyPr wrap="square" lIns="0" tIns="0" rIns="0" bIns="0" rtlCol="0" anchor="ctr"/>
          <a:lstStyle/>
          <a:p>
            <a:pPr indent="0" marL="0">
              <a:buNone/>
            </a:pPr>
            <a:r>
              <a:rPr lang="en-US" sz="1600" b="1" dirty="0">
                <a:solidFill>
                  <a:schemeClr val="bg1"/>
                </a:solidFill>
              </a:rPr>
              <a:t>Brasper × Ellenistas</a:t>
            </a:r>
            <a:endParaRPr lang="en-US" sz="1600" dirty="0"/>
          </a:p>
        </p:txBody>
      </p:sp>
      <p:sp>
        <p:nvSpPr>
          <p:cNvPr id="4" name="Text 1"/>
          <p:cNvSpPr/>
          <p:nvPr>
            <p:ph idx="102" type="body" hasCustomPrompt="1"/>
          </p:nvPr>
        </p:nvSpPr>
        <p:spPr>
          <a:xfrm>
            <a:off x="548640" y="1828800"/>
            <a:ext cx="6675120" cy="365760"/>
          </a:xfrm>
          <a:prstGeom prst="rect">
            <a:avLst/>
          </a:prstGeom>
          <a:noFill/>
          <a:ln/>
        </p:spPr>
        <p:txBody>
          <a:bodyPr wrap="square" rtlCol="0"/>
          <a:lstStyle>
            <a:lvl1pPr algn="l" indent="0" marL="0">
              <a:buNone/>
              <a:defRPr lang="en-US" sz="1400" b="1" spc="300" kern="0" dirty="0">
                <a:solidFill>
                  <a:schemeClr val="accent2"/>
                </a:solidFill>
              </a:defRPr>
            </a:lvl1pPr>
          </a:lstStyle>
          <a:p>
            <a:pPr algn="l" indent="0" marL="0">
              <a:buNone/>
            </a:pPr>
            <a:endParaRPr lang="en-US" sz="1400" dirty="0"/>
          </a:p>
        </p:txBody>
      </p:sp>
      <p:sp>
        <p:nvSpPr>
          <p:cNvPr id="5" name="Text 1"/>
          <p:cNvSpPr/>
          <p:nvPr>
            <p:ph idx="103" type="title" hasCustomPrompt="1"/>
          </p:nvPr>
        </p:nvSpPr>
        <p:spPr>
          <a:xfrm>
            <a:off x="548640" y="2240280"/>
            <a:ext cx="667512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6" name="Text 1"/>
          <p:cNvSpPr/>
          <p:nvPr>
            <p:ph idx="104" type="body" hasCustomPrompt="1"/>
          </p:nvPr>
        </p:nvSpPr>
        <p:spPr>
          <a:xfrm>
            <a:off x="548640" y="4663440"/>
            <a:ext cx="6675120" cy="7315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02920"/>
            <a:ext cx="457200" cy="457200"/>
          </a:xfrm>
          <a:prstGeom prst="rect">
            <a:avLst/>
          </a:prstGeom>
        </p:spPr>
      </p:pic>
      <p:sp>
        <p:nvSpPr>
          <p:cNvPr id="3" name="Text 0"/>
          <p:cNvSpPr/>
          <p:nvPr/>
        </p:nvSpPr>
        <p:spPr>
          <a:xfrm>
            <a:off x="1115568" y="502920"/>
            <a:ext cx="4572000" cy="457200"/>
          </a:xfrm>
          <a:prstGeom prst="rect">
            <a:avLst/>
          </a:prstGeom>
          <a:noFill/>
          <a:ln/>
        </p:spPr>
        <p:txBody>
          <a:bodyPr wrap="square" lIns="0" tIns="0" rIns="0" bIns="0" rtlCol="0" anchor="ctr"/>
          <a:lstStyle/>
          <a:p>
            <a:pPr indent="0" marL="0">
              <a:buNone/>
            </a:pPr>
            <a:r>
              <a:rPr lang="en-US" sz="1600" b="1" dirty="0">
                <a:solidFill>
                  <a:schemeClr val="bg1"/>
                </a:solidFill>
              </a:rPr>
              <a:t>Brasper × Ellenistas</a:t>
            </a:r>
            <a:endParaRPr lang="en-US" sz="1600" dirty="0"/>
          </a:p>
        </p:txBody>
      </p:sp>
      <p:sp>
        <p:nvSpPr>
          <p:cNvPr id="4" name="Text 1"/>
          <p:cNvSpPr/>
          <p:nvPr>
            <p:ph idx="102" type="body" hasCustomPrompt="1"/>
          </p:nvPr>
        </p:nvSpPr>
        <p:spPr>
          <a:xfrm>
            <a:off x="548640" y="1828800"/>
            <a:ext cx="5303520" cy="365760"/>
          </a:xfrm>
          <a:prstGeom prst="rect">
            <a:avLst/>
          </a:prstGeom>
          <a:noFill/>
          <a:ln/>
        </p:spPr>
        <p:txBody>
          <a:bodyPr wrap="square" rtlCol="0"/>
          <a:lstStyle>
            <a:lvl1pPr algn="l" indent="0" marL="0">
              <a:buNone/>
              <a:defRPr lang="en-US" sz="1400" b="1" spc="300" kern="0" dirty="0">
                <a:solidFill>
                  <a:schemeClr val="accent2"/>
                </a:solidFill>
              </a:defRPr>
            </a:lvl1pPr>
          </a:lstStyle>
          <a:p>
            <a:pPr algn="l" indent="0" marL="0">
              <a:buNone/>
            </a:pPr>
            <a:endParaRPr lang="en-US" sz="1400" dirty="0"/>
          </a:p>
        </p:txBody>
      </p:sp>
      <p:sp>
        <p:nvSpPr>
          <p:cNvPr id="5" name="Text 1"/>
          <p:cNvSpPr/>
          <p:nvPr>
            <p:ph idx="103" type="title" hasCustomPrompt="1"/>
          </p:nvPr>
        </p:nvSpPr>
        <p:spPr>
          <a:xfrm>
            <a:off x="548640" y="2240280"/>
            <a:ext cx="5303520" cy="16002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6" name="Text 1"/>
          <p:cNvSpPr/>
          <p:nvPr>
            <p:ph idx="104" type="body" hasCustomPrompt="1"/>
          </p:nvPr>
        </p:nvSpPr>
        <p:spPr>
          <a:xfrm>
            <a:off x="548640" y="4069080"/>
            <a:ext cx="493776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64224"/>
            <a:ext cx="4572000" cy="256032"/>
          </a:xfrm>
          <a:prstGeom prst="rect">
            <a:avLst/>
          </a:prstGeom>
          <a:noFill/>
          <a:ln/>
        </p:spPr>
        <p:txBody>
          <a:bodyPr wrap="square" lIns="0" tIns="0" rIns="0" bIns="0" rtlCol="0" anchor="ctr"/>
          <a:lstStyle/>
          <a:p>
            <a:pPr indent="0" marL="0">
              <a:buNone/>
            </a:pPr>
            <a:r>
              <a:rPr lang="en-US" sz="1000" dirty="0">
                <a:solidFill>
                  <a:schemeClr val="tx2"/>
                </a:solidFill>
              </a:rPr>
              <a:t>Brasper IA · Ellenistas · IAthon 2026</a:t>
            </a:r>
            <a:endParaRPr lang="en-US" sz="1000" dirty="0"/>
          </a:p>
        </p:txBody>
      </p:sp>
      <p:sp>
        <p:nvSpPr>
          <p:cNvPr id="4" name="Text 1"/>
          <p:cNvSpPr/>
          <p:nvPr>
            <p:ph idx="102" type="body" hasCustomPrompt="1"/>
          </p:nvPr>
        </p:nvSpPr>
        <p:spPr>
          <a:xfrm>
            <a:off x="548640" y="411480"/>
            <a:ext cx="91440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5" name="Text 1"/>
          <p:cNvSpPr/>
          <p:nvPr>
            <p:ph idx="103" type="title" hasCustomPrompt="1"/>
          </p:nvPr>
        </p:nvSpPr>
        <p:spPr>
          <a:xfrm>
            <a:off x="548640" y="694944"/>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5.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5.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5.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jpe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5.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5.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5.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5.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slideLayout" Target="../slideLayouts/slideLayout5.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548640" y="1828800"/>
            <a:ext cx="6675120" cy="365760"/>
          </a:xfrm>
          <a:prstGeom prst="rect">
            <a:avLst/>
          </a:prstGeom>
          <a:noFill/>
          <a:ln/>
        </p:spPr>
        <p:txBody>
          <a:bodyPr wrap="square" lIns="0" tIns="0" rIns="0" bIns="0" rtlCol="0" anchor="t"/>
          <a:lstStyle/>
          <a:p>
            <a:pPr algn="l" indent="0" marL="0">
              <a:buNone/>
            </a:pPr>
            <a:r>
              <a:rPr lang="en-US" sz="1400" b="1" spc="300" kern="0" dirty="0">
                <a:solidFill>
                  <a:schemeClr val="accent2"/>
                </a:solidFill>
              </a:rPr>
              <a:t>IATHON 2026 · PITCH</a:t>
            </a:r>
            <a:endParaRPr lang="en-US" sz="1400" dirty="0"/>
          </a:p>
        </p:txBody>
      </p:sp>
      <p:sp>
        <p:nvSpPr>
          <p:cNvPr id="3" name="Text 1"/>
          <p:cNvSpPr/>
          <p:nvPr>
            <p:ph idx="103" type="title" hasCustomPrompt="1"/>
          </p:nvPr>
        </p:nvSpPr>
        <p:spPr>
          <a:xfrm>
            <a:off x="548640" y="2240280"/>
            <a:ext cx="6675120" cy="1234440"/>
          </a:xfrm>
          <a:prstGeom prst="rect">
            <a:avLst/>
          </a:prstGeom>
          <a:noFill/>
          <a:ln/>
        </p:spPr>
        <p:txBody>
          <a:bodyPr wrap="square" lIns="0" tIns="0" rIns="0" bIns="0" rtlCol="0" anchor="t"/>
          <a:lstStyle/>
          <a:p>
            <a:pPr algn="l" indent="0" marL="0">
              <a:buNone/>
            </a:pPr>
            <a:r>
              <a:rPr lang="en-US" sz="6000" b="1" dirty="0">
                <a:solidFill>
                  <a:schemeClr val="bg1"/>
                </a:solidFill>
              </a:rPr>
              <a:t>Brasper IA</a:t>
            </a:r>
            <a:endParaRPr lang="en-US" sz="6000" dirty="0"/>
          </a:p>
        </p:txBody>
      </p:sp>
      <p:sp>
        <p:nvSpPr>
          <p:cNvPr id="4" name="Text 1"/>
          <p:cNvSpPr/>
          <p:nvPr>
            <p:ph idx="104" type="body" hasCustomPrompt="1"/>
          </p:nvPr>
        </p:nvSpPr>
        <p:spPr>
          <a:xfrm>
            <a:off x="548640" y="3611880"/>
            <a:ext cx="6217920" cy="1463040"/>
          </a:xfrm>
          <a:prstGeom prst="rect">
            <a:avLst/>
          </a:prstGeom>
          <a:noFill/>
          <a:ln/>
        </p:spPr>
        <p:txBody>
          <a:bodyPr wrap="square" lIns="0" tIns="0" rIns="0" bIns="0" rtlCol="0" anchor="t"/>
          <a:lstStyle/>
          <a:p>
            <a:pPr algn="l" indent="0" marL="0">
              <a:lnSpc>
                <a:spcPct val="110000"/>
              </a:lnSpc>
              <a:buNone/>
            </a:pPr>
            <a:r>
              <a:rPr lang="en-US" sz="2000" dirty="0">
                <a:solidFill>
                  <a:schemeClr val="bg2"/>
                </a:solidFill>
              </a:rPr>
              <a:t>Del tipeo manual a agentes que trabajan solos: un robot que factura y seis agentes que convierten datos en decisiones.</a:t>
            </a:r>
            <a:endParaRPr lang="en-US" sz="2000" dirty="0"/>
          </a:p>
        </p:txBody>
      </p:sp>
      <p:pic>
        <p:nvPicPr>
          <p:cNvPr id="5" name="Mascota Rastro" descr="Mascota de Rastro">    </p:cNvPr>
          <p:cNvPicPr>
            <a:picLocks noChangeAspect="1"/>
          </p:cNvPicPr>
          <p:nvPr/>
        </p:nvPicPr>
        <p:blipFill>
          <a:blip r:embed="rId1"/>
          <a:stretch>
            <a:fillRect/>
          </a:stretch>
        </p:blipFill>
        <p:spPr>
          <a:xfrm>
            <a:off x="7452360" y="1234440"/>
            <a:ext cx="1325880" cy="1458468"/>
          </a:xfrm>
          <a:prstGeom prst="rect">
            <a:avLst/>
          </a:prstGeom>
        </p:spPr>
      </p:pic>
      <p:pic>
        <p:nvPicPr>
          <p:cNvPr id="6" name="Mascota Capital" descr="Mascota de Capital">    </p:cNvPr>
          <p:cNvPicPr>
            <a:picLocks noChangeAspect="1"/>
          </p:cNvPicPr>
          <p:nvPr/>
        </p:nvPicPr>
        <p:blipFill>
          <a:blip r:embed="rId2"/>
          <a:stretch>
            <a:fillRect/>
          </a:stretch>
        </p:blipFill>
        <p:spPr>
          <a:xfrm>
            <a:off x="8915400" y="1600200"/>
            <a:ext cx="1325880" cy="1458468"/>
          </a:xfrm>
          <a:prstGeom prst="rect">
            <a:avLst/>
          </a:prstGeom>
        </p:spPr>
      </p:pic>
      <p:pic>
        <p:nvPicPr>
          <p:cNvPr id="7" name="Mascota Horizonte" descr="Mascota de Horizonte">    </p:cNvPr>
          <p:cNvPicPr>
            <a:picLocks noChangeAspect="1"/>
          </p:cNvPicPr>
          <p:nvPr/>
        </p:nvPicPr>
        <p:blipFill>
          <a:blip r:embed="rId3"/>
          <a:stretch>
            <a:fillRect/>
          </a:stretch>
        </p:blipFill>
        <p:spPr>
          <a:xfrm>
            <a:off x="10378440" y="1234440"/>
            <a:ext cx="1325880" cy="1458468"/>
          </a:xfrm>
          <a:prstGeom prst="rect">
            <a:avLst/>
          </a:prstGeom>
        </p:spPr>
      </p:pic>
      <p:pic>
        <p:nvPicPr>
          <p:cNvPr id="8" name="Mascota Bitácora" descr="Mascota de Bitácora">    </p:cNvPr>
          <p:cNvPicPr>
            <a:picLocks noChangeAspect="1"/>
          </p:cNvPicPr>
          <p:nvPr/>
        </p:nvPicPr>
        <p:blipFill>
          <a:blip r:embed="rId4"/>
          <a:stretch>
            <a:fillRect/>
          </a:stretch>
        </p:blipFill>
        <p:spPr>
          <a:xfrm>
            <a:off x="7452360" y="3520440"/>
            <a:ext cx="1325880" cy="1458468"/>
          </a:xfrm>
          <a:prstGeom prst="rect">
            <a:avLst/>
          </a:prstGeom>
        </p:spPr>
      </p:pic>
      <p:pic>
        <p:nvPicPr>
          <p:cNvPr id="9" name="Mascota Caudal" descr="Mascota de Caudal">    </p:cNvPr>
          <p:cNvPicPr>
            <a:picLocks noChangeAspect="1"/>
          </p:cNvPicPr>
          <p:nvPr/>
        </p:nvPicPr>
        <p:blipFill>
          <a:blip r:embed="rId5"/>
          <a:stretch>
            <a:fillRect/>
          </a:stretch>
        </p:blipFill>
        <p:spPr>
          <a:xfrm>
            <a:off x="8915400" y="3886200"/>
            <a:ext cx="1325880" cy="1458468"/>
          </a:xfrm>
          <a:prstGeom prst="rect">
            <a:avLst/>
          </a:prstGeom>
        </p:spPr>
      </p:pic>
      <p:pic>
        <p:nvPicPr>
          <p:cNvPr id="10" name="Mascota Lupa" descr="Mascota de Lupa">    </p:cNvPr>
          <p:cNvPicPr>
            <a:picLocks noChangeAspect="1"/>
          </p:cNvPicPr>
          <p:nvPr/>
        </p:nvPicPr>
        <p:blipFill>
          <a:blip r:embed="rId6"/>
          <a:stretch>
            <a:fillRect/>
          </a:stretch>
        </p:blipFill>
        <p:spPr>
          <a:xfrm>
            <a:off x="10378440" y="3520440"/>
            <a:ext cx="1325880" cy="1458468"/>
          </a:xfrm>
          <a:prstGeom prst="rect">
            <a:avLst/>
          </a:prstGeom>
        </p:spPr>
      </p:pic>
      <p:sp>
        <p:nvSpPr>
          <p:cNvPr id="11" name="Text 3"/>
          <p:cNvSpPr txBox="1"/>
          <p:nvPr/>
        </p:nvSpPr>
        <p:spPr>
          <a:xfrm>
            <a:off x="548640" y="6035040"/>
            <a:ext cx="5486400" cy="320040"/>
          </a:xfrm>
          <a:prstGeom prst="rect">
            <a:avLst/>
          </a:prstGeom>
          <a:noFill/>
          <a:ln/>
        </p:spPr>
        <p:txBody>
          <a:bodyPr wrap="square" lIns="0" tIns="0" rIns="0" bIns="0" rtlCol="0" anchor="t"/>
          <a:lstStyle/>
          <a:p>
            <a:pPr indent="0" marL="0">
              <a:buNone/>
            </a:pPr>
            <a:r>
              <a:rPr lang="en-US" sz="1300" dirty="0">
                <a:solidFill>
                  <a:schemeClr val="bg2"/>
                </a:solidFill>
              </a:rPr>
              <a:t>Equipo Ellenistas · Octubre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CONTEXTO</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Brasper mueve remesas entre Perú y Brasil</a:t>
            </a:r>
            <a:endParaRPr lang="en-US" sz="3200" dirty="0"/>
          </a:p>
        </p:txBody>
      </p:sp>
      <p:sp>
        <p:nvSpPr>
          <p:cNvPr id="4" name="Dato ~60"/>
          <p:cNvSpPr/>
          <p:nvPr/>
        </p:nvSpPr>
        <p:spPr>
          <a:xfrm>
            <a:off x="548640" y="1691640"/>
            <a:ext cx="2567864" cy="1783080"/>
          </a:xfrm>
          <a:prstGeom prst="roundRect">
            <a:avLst>
              <a:gd name="adj" fmla="val 7179"/>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5" name="Text 3"/>
          <p:cNvSpPr txBox="1"/>
          <p:nvPr/>
        </p:nvSpPr>
        <p:spPr>
          <a:xfrm>
            <a:off x="822960" y="1920240"/>
            <a:ext cx="2019224"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~60</a:t>
            </a:r>
            <a:endParaRPr lang="en-US" sz="4400" dirty="0"/>
          </a:p>
        </p:txBody>
      </p:sp>
      <p:sp>
        <p:nvSpPr>
          <p:cNvPr id="6" name="Text 4"/>
          <p:cNvSpPr txBox="1"/>
          <p:nvPr/>
        </p:nvSpPr>
        <p:spPr>
          <a:xfrm>
            <a:off x="822960" y="2697480"/>
            <a:ext cx="2019224" cy="640080"/>
          </a:xfrm>
          <a:prstGeom prst="rect">
            <a:avLst/>
          </a:prstGeom>
          <a:noFill/>
          <a:ln/>
        </p:spPr>
        <p:txBody>
          <a:bodyPr wrap="square" lIns="0" tIns="0" rIns="0" bIns="0" rtlCol="0" anchor="t"/>
          <a:lstStyle/>
          <a:p>
            <a:pPr indent="0" marL="0">
              <a:buNone/>
            </a:pPr>
            <a:r>
              <a:rPr lang="en-US" sz="1400" dirty="0">
                <a:solidFill>
                  <a:schemeClr val="tx2"/>
                </a:solidFill>
              </a:rPr>
              <a:t>operaciones al día hoy</a:t>
            </a:r>
            <a:endParaRPr lang="en-US" sz="1400" dirty="0"/>
          </a:p>
        </p:txBody>
      </p:sp>
      <p:sp>
        <p:nvSpPr>
          <p:cNvPr id="7" name="Dato 1000"/>
          <p:cNvSpPr/>
          <p:nvPr/>
        </p:nvSpPr>
        <p:spPr>
          <a:xfrm>
            <a:off x="3390824" y="1691640"/>
            <a:ext cx="2567864" cy="1783080"/>
          </a:xfrm>
          <a:prstGeom prst="roundRect">
            <a:avLst>
              <a:gd name="adj" fmla="val 7179"/>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8" name="Text 6"/>
          <p:cNvSpPr txBox="1"/>
          <p:nvPr/>
        </p:nvSpPr>
        <p:spPr>
          <a:xfrm>
            <a:off x="3665144" y="1920240"/>
            <a:ext cx="2019224"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1000</a:t>
            </a:r>
            <a:endParaRPr lang="en-US" sz="4400" dirty="0"/>
          </a:p>
        </p:txBody>
      </p:sp>
      <p:sp>
        <p:nvSpPr>
          <p:cNvPr id="9" name="Text 7"/>
          <p:cNvSpPr txBox="1"/>
          <p:nvPr/>
        </p:nvSpPr>
        <p:spPr>
          <a:xfrm>
            <a:off x="3665144" y="2697480"/>
            <a:ext cx="2019224" cy="640080"/>
          </a:xfrm>
          <a:prstGeom prst="rect">
            <a:avLst/>
          </a:prstGeom>
          <a:noFill/>
          <a:ln/>
        </p:spPr>
        <p:txBody>
          <a:bodyPr wrap="square" lIns="0" tIns="0" rIns="0" bIns="0" rtlCol="0" anchor="t"/>
          <a:lstStyle/>
          <a:p>
            <a:pPr indent="0" marL="0">
              <a:buNone/>
            </a:pPr>
            <a:r>
              <a:rPr lang="en-US" sz="1400" dirty="0">
                <a:solidFill>
                  <a:schemeClr val="tx2"/>
                </a:solidFill>
              </a:rPr>
              <a:t>operaciones al día: la meta</a:t>
            </a:r>
            <a:endParaRPr lang="en-US" sz="1400" dirty="0"/>
          </a:p>
        </p:txBody>
      </p:sp>
      <p:sp>
        <p:nvSpPr>
          <p:cNvPr id="10" name="Dato 3"/>
          <p:cNvSpPr/>
          <p:nvPr/>
        </p:nvSpPr>
        <p:spPr>
          <a:xfrm>
            <a:off x="6233008" y="1691640"/>
            <a:ext cx="2567864" cy="1783080"/>
          </a:xfrm>
          <a:prstGeom prst="roundRect">
            <a:avLst>
              <a:gd name="adj" fmla="val 7179"/>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11" name="Text 9"/>
          <p:cNvSpPr txBox="1"/>
          <p:nvPr/>
        </p:nvSpPr>
        <p:spPr>
          <a:xfrm>
            <a:off x="6507328" y="1920240"/>
            <a:ext cx="2019224"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3</a:t>
            </a:r>
            <a:endParaRPr lang="en-US" sz="4400" dirty="0"/>
          </a:p>
        </p:txBody>
      </p:sp>
      <p:sp>
        <p:nvSpPr>
          <p:cNvPr id="12" name="Text 10"/>
          <p:cNvSpPr txBox="1"/>
          <p:nvPr/>
        </p:nvSpPr>
        <p:spPr>
          <a:xfrm>
            <a:off x="6507328" y="2697480"/>
            <a:ext cx="2019224" cy="640080"/>
          </a:xfrm>
          <a:prstGeom prst="rect">
            <a:avLst/>
          </a:prstGeom>
          <a:noFill/>
          <a:ln/>
        </p:spPr>
        <p:txBody>
          <a:bodyPr wrap="square" lIns="0" tIns="0" rIns="0" bIns="0" rtlCol="0" anchor="t"/>
          <a:lstStyle/>
          <a:p>
            <a:pPr indent="0" marL="0">
              <a:buNone/>
            </a:pPr>
            <a:r>
              <a:rPr lang="en-US" sz="1400" dirty="0">
                <a:solidFill>
                  <a:schemeClr val="tx2"/>
                </a:solidFill>
              </a:rPr>
              <a:t>vendedores cierran cada venta por WhatsApp</a:t>
            </a:r>
            <a:endParaRPr lang="en-US" sz="1400" dirty="0"/>
          </a:p>
        </p:txBody>
      </p:sp>
      <p:sp>
        <p:nvSpPr>
          <p:cNvPr id="13" name="Dato 2"/>
          <p:cNvSpPr/>
          <p:nvPr/>
        </p:nvSpPr>
        <p:spPr>
          <a:xfrm>
            <a:off x="9075191" y="1691640"/>
            <a:ext cx="2567864" cy="1783080"/>
          </a:xfrm>
          <a:prstGeom prst="roundRect">
            <a:avLst>
              <a:gd name="adj" fmla="val 7179"/>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14" name="Text 12"/>
          <p:cNvSpPr txBox="1"/>
          <p:nvPr/>
        </p:nvSpPr>
        <p:spPr>
          <a:xfrm>
            <a:off x="9349511" y="1920240"/>
            <a:ext cx="2019224"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2</a:t>
            </a:r>
            <a:endParaRPr lang="en-US" sz="4400" dirty="0"/>
          </a:p>
        </p:txBody>
      </p:sp>
      <p:sp>
        <p:nvSpPr>
          <p:cNvPr id="15" name="Text 13"/>
          <p:cNvSpPr txBox="1"/>
          <p:nvPr/>
        </p:nvSpPr>
        <p:spPr>
          <a:xfrm>
            <a:off x="9349511" y="2697480"/>
            <a:ext cx="2019224" cy="640080"/>
          </a:xfrm>
          <a:prstGeom prst="rect">
            <a:avLst/>
          </a:prstGeom>
          <a:noFill/>
          <a:ln/>
        </p:spPr>
        <p:txBody>
          <a:bodyPr wrap="square" lIns="0" tIns="0" rIns="0" bIns="0" rtlCol="0" anchor="t"/>
          <a:lstStyle/>
          <a:p>
            <a:pPr indent="0" marL="0">
              <a:buNone/>
            </a:pPr>
            <a:r>
              <a:rPr lang="en-US" sz="1400" dirty="0">
                <a:solidFill>
                  <a:schemeClr val="tx2"/>
                </a:solidFill>
              </a:rPr>
              <a:t>empresas emiten comprobantes en Perú</a:t>
            </a:r>
            <a:endParaRPr lang="en-US" sz="1400" dirty="0"/>
          </a:p>
        </p:txBody>
      </p:sp>
      <p:sp>
        <p:nvSpPr>
          <p:cNvPr id="16" name="Ruta Perú → Brasil · PxB"/>
          <p:cNvSpPr/>
          <p:nvPr/>
        </p:nvSpPr>
        <p:spPr>
          <a:xfrm>
            <a:off x="548640" y="3749040"/>
            <a:ext cx="5410048" cy="2286000"/>
          </a:xfrm>
          <a:prstGeom prst="roundRect">
            <a:avLst>
              <a:gd name="adj" fmla="val 5600"/>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7" name="Ícono route" descr="preencoded.png">    </p:cNvPr>
          <p:cNvPicPr>
            <a:picLocks noChangeAspect="1"/>
          </p:cNvPicPr>
          <p:nvPr/>
        </p:nvPicPr>
        <p:blipFill>
          <a:blip r:embed="rId1"/>
          <a:stretch>
            <a:fillRect/>
          </a:stretch>
        </p:blipFill>
        <p:spPr>
          <a:xfrm>
            <a:off x="868680" y="4069080"/>
            <a:ext cx="640080" cy="640080"/>
          </a:xfrm>
          <a:prstGeom prst="rect">
            <a:avLst/>
          </a:prstGeom>
        </p:spPr>
      </p:pic>
      <p:sp>
        <p:nvSpPr>
          <p:cNvPr id="18" name="Text 15"/>
          <p:cNvSpPr txBox="1"/>
          <p:nvPr/>
        </p:nvSpPr>
        <p:spPr>
          <a:xfrm>
            <a:off x="1691640" y="4069080"/>
            <a:ext cx="2666848" cy="640080"/>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Perú → Brasil · PxB</a:t>
            </a:r>
            <a:endParaRPr lang="en-US" sz="2000" dirty="0"/>
          </a:p>
        </p:txBody>
      </p:sp>
      <p:sp>
        <p:nvSpPr>
          <p:cNvPr id="19" name="Etiqueta KeyFácil"/>
          <p:cNvSpPr/>
          <p:nvPr/>
        </p:nvSpPr>
        <p:spPr>
          <a:xfrm>
            <a:off x="4495648" y="4224528"/>
            <a:ext cx="1143000" cy="329184"/>
          </a:xfrm>
          <a:prstGeom prst="roundRect">
            <a:avLst>
              <a:gd name="adj" fmla="val 50000"/>
            </a:avLst>
          </a:prstGeom>
          <a:solidFill>
            <a:schemeClr val="accent1">
              <a:alpha val="14000"/>
            </a:schemeClr>
          </a:solidFill>
          <a:ln/>
        </p:spPr>
      </p:sp>
      <p:sp>
        <p:nvSpPr>
          <p:cNvPr id="20" name="Text 17"/>
          <p:cNvSpPr txBox="1"/>
          <p:nvPr/>
        </p:nvSpPr>
        <p:spPr>
          <a:xfrm>
            <a:off x="4495648" y="4224528"/>
            <a:ext cx="1143000" cy="329184"/>
          </a:xfrm>
          <a:prstGeom prst="rect">
            <a:avLst/>
          </a:prstGeom>
          <a:noFill/>
          <a:ln/>
        </p:spPr>
        <p:txBody>
          <a:bodyPr wrap="square" lIns="0" tIns="0" rIns="0" bIns="0" rtlCol="0" anchor="ctr"/>
          <a:lstStyle/>
          <a:p>
            <a:pPr algn="ctr" indent="0" marL="0">
              <a:buNone/>
            </a:pPr>
            <a:r>
              <a:rPr lang="en-US" sz="1200" b="1" spc="100" kern="0" dirty="0">
                <a:solidFill>
                  <a:schemeClr val="tx1"/>
                </a:solidFill>
              </a:rPr>
              <a:t>KeyFácil</a:t>
            </a:r>
            <a:endParaRPr lang="en-US" sz="1200" dirty="0"/>
          </a:p>
        </p:txBody>
      </p:sp>
      <p:sp>
        <p:nvSpPr>
          <p:cNvPr id="21" name="Text 18"/>
          <p:cNvSpPr txBox="1"/>
          <p:nvPr/>
        </p:nvSpPr>
        <p:spPr>
          <a:xfrm>
            <a:off x="868680" y="4937760"/>
            <a:ext cx="4769968" cy="9144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El cliente envía soles y el beneficiario recibe reales. El comprobante (boleta o factura) se emite en KeyFácil.</a:t>
            </a:r>
            <a:endParaRPr lang="en-US" sz="1500" dirty="0"/>
          </a:p>
        </p:txBody>
      </p:sp>
      <p:sp>
        <p:nvSpPr>
          <p:cNvPr id="22" name="Ruta Brasil → Perú · BxP"/>
          <p:cNvSpPr/>
          <p:nvPr/>
        </p:nvSpPr>
        <p:spPr>
          <a:xfrm>
            <a:off x="6233008" y="3749040"/>
            <a:ext cx="5410048" cy="2286000"/>
          </a:xfrm>
          <a:prstGeom prst="roundRect">
            <a:avLst>
              <a:gd name="adj" fmla="val 5600"/>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23" name="Ícono route" descr="preencoded.png">    </p:cNvPr>
          <p:cNvPicPr>
            <a:picLocks noChangeAspect="1"/>
          </p:cNvPicPr>
          <p:nvPr/>
        </p:nvPicPr>
        <p:blipFill>
          <a:blip r:embed="rId2"/>
          <a:stretch>
            <a:fillRect/>
          </a:stretch>
        </p:blipFill>
        <p:spPr>
          <a:xfrm>
            <a:off x="6553048" y="4069080"/>
            <a:ext cx="640080" cy="640080"/>
          </a:xfrm>
          <a:prstGeom prst="rect">
            <a:avLst/>
          </a:prstGeom>
        </p:spPr>
      </p:pic>
      <p:sp>
        <p:nvSpPr>
          <p:cNvPr id="24" name="Text 20"/>
          <p:cNvSpPr txBox="1"/>
          <p:nvPr/>
        </p:nvSpPr>
        <p:spPr>
          <a:xfrm>
            <a:off x="7376008" y="4069080"/>
            <a:ext cx="2666848" cy="640080"/>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Brasil → Perú · BxP</a:t>
            </a:r>
            <a:endParaRPr lang="en-US" sz="2000" dirty="0"/>
          </a:p>
        </p:txBody>
      </p:sp>
      <p:sp>
        <p:nvSpPr>
          <p:cNvPr id="25" name="Etiqueta Omie"/>
          <p:cNvSpPr/>
          <p:nvPr/>
        </p:nvSpPr>
        <p:spPr>
          <a:xfrm>
            <a:off x="10180015" y="4224528"/>
            <a:ext cx="1143000" cy="329184"/>
          </a:xfrm>
          <a:prstGeom prst="roundRect">
            <a:avLst>
              <a:gd name="adj" fmla="val 50000"/>
            </a:avLst>
          </a:prstGeom>
          <a:solidFill>
            <a:schemeClr val="accent1">
              <a:alpha val="14000"/>
            </a:schemeClr>
          </a:solidFill>
          <a:ln/>
        </p:spPr>
      </p:sp>
      <p:sp>
        <p:nvSpPr>
          <p:cNvPr id="26" name="Text 22"/>
          <p:cNvSpPr txBox="1"/>
          <p:nvPr/>
        </p:nvSpPr>
        <p:spPr>
          <a:xfrm>
            <a:off x="10180015" y="4224528"/>
            <a:ext cx="1143000" cy="329184"/>
          </a:xfrm>
          <a:prstGeom prst="rect">
            <a:avLst/>
          </a:prstGeom>
          <a:noFill/>
          <a:ln/>
        </p:spPr>
        <p:txBody>
          <a:bodyPr wrap="square" lIns="0" tIns="0" rIns="0" bIns="0" rtlCol="0" anchor="ctr"/>
          <a:lstStyle/>
          <a:p>
            <a:pPr algn="ctr" indent="0" marL="0">
              <a:buNone/>
            </a:pPr>
            <a:r>
              <a:rPr lang="en-US" sz="1200" b="1" spc="100" kern="0" dirty="0">
                <a:solidFill>
                  <a:schemeClr val="tx1"/>
                </a:solidFill>
              </a:rPr>
              <a:t>Omie</a:t>
            </a:r>
            <a:endParaRPr lang="en-US" sz="1200" dirty="0"/>
          </a:p>
        </p:txBody>
      </p:sp>
      <p:sp>
        <p:nvSpPr>
          <p:cNvPr id="27" name="Text 23"/>
          <p:cNvSpPr txBox="1"/>
          <p:nvPr/>
        </p:nvSpPr>
        <p:spPr>
          <a:xfrm>
            <a:off x="6553048" y="4937760"/>
            <a:ext cx="4769968" cy="9144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El cliente envía reales y el beneficiario recibe soles. La nota fiscal de servicio (NFS-e) se emite en Omie.</a:t>
            </a:r>
            <a:endParaRPr lang="en-US" sz="15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EL PROBLEMA</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Cada operación se tipea dos veces</a:t>
            </a:r>
            <a:endParaRPr lang="en-US" sz="3200" dirty="0"/>
          </a:p>
        </p:txBody>
      </p:sp>
      <p:sp>
        <p:nvSpPr>
          <p:cNvPr id="4" name="Sistema WhatsApp"/>
          <p:cNvSpPr/>
          <p:nvPr/>
        </p:nvSpPr>
        <p:spPr>
          <a:xfrm>
            <a:off x="548640" y="1783080"/>
            <a:ext cx="2057400" cy="1600200"/>
          </a:xfrm>
          <a:prstGeom prst="roundRect">
            <a:avLst>
              <a:gd name="adj" fmla="val 8000"/>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Ícono msg" descr="preencoded.png">    </p:cNvPr>
          <p:cNvPicPr>
            <a:picLocks noChangeAspect="1"/>
          </p:cNvPicPr>
          <p:nvPr/>
        </p:nvPicPr>
        <p:blipFill>
          <a:blip r:embed="rId1"/>
          <a:stretch>
            <a:fillRect/>
          </a:stretch>
        </p:blipFill>
        <p:spPr>
          <a:xfrm>
            <a:off x="777240" y="2011680"/>
            <a:ext cx="548640" cy="548640"/>
          </a:xfrm>
          <a:prstGeom prst="rect">
            <a:avLst/>
          </a:prstGeom>
        </p:spPr>
      </p:pic>
      <p:sp>
        <p:nvSpPr>
          <p:cNvPr id="6" name="Text 3"/>
          <p:cNvSpPr txBox="1"/>
          <p:nvPr/>
        </p:nvSpPr>
        <p:spPr>
          <a:xfrm>
            <a:off x="777240" y="2670048"/>
            <a:ext cx="169164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WhatsApp</a:t>
            </a:r>
            <a:endParaRPr lang="en-US" sz="1700" dirty="0"/>
          </a:p>
        </p:txBody>
      </p:sp>
      <p:sp>
        <p:nvSpPr>
          <p:cNvPr id="7" name="Text 4"/>
          <p:cNvSpPr txBox="1"/>
          <p:nvPr/>
        </p:nvSpPr>
        <p:spPr>
          <a:xfrm>
            <a:off x="777240" y="3017520"/>
            <a:ext cx="1691640" cy="292608"/>
          </a:xfrm>
          <a:prstGeom prst="rect">
            <a:avLst/>
          </a:prstGeom>
          <a:noFill/>
          <a:ln/>
        </p:spPr>
        <p:txBody>
          <a:bodyPr wrap="square" lIns="0" tIns="0" rIns="0" bIns="0" rtlCol="0" anchor="t"/>
          <a:lstStyle/>
          <a:p>
            <a:pPr indent="0" marL="0">
              <a:buNone/>
            </a:pPr>
            <a:r>
              <a:rPr lang="en-US" sz="1300" dirty="0">
                <a:solidFill>
                  <a:schemeClr val="tx2"/>
                </a:solidFill>
              </a:rPr>
              <a:t>Chat con el cliente</a:t>
            </a:r>
            <a:endParaRPr lang="en-US" sz="1300" dirty="0"/>
          </a:p>
        </p:txBody>
      </p:sp>
      <p:sp>
        <p:nvSpPr>
          <p:cNvPr id="8" name="Sistema Dashboard"/>
          <p:cNvSpPr/>
          <p:nvPr/>
        </p:nvSpPr>
        <p:spPr>
          <a:xfrm>
            <a:off x="3560978" y="1783080"/>
            <a:ext cx="2057400" cy="1600200"/>
          </a:xfrm>
          <a:prstGeom prst="roundRect">
            <a:avLst>
              <a:gd name="adj" fmla="val 8000"/>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9" name="Ícono grid" descr="preencoded.png">    </p:cNvPr>
          <p:cNvPicPr>
            <a:picLocks noChangeAspect="1"/>
          </p:cNvPicPr>
          <p:nvPr/>
        </p:nvPicPr>
        <p:blipFill>
          <a:blip r:embed="rId2"/>
          <a:stretch>
            <a:fillRect/>
          </a:stretch>
        </p:blipFill>
        <p:spPr>
          <a:xfrm>
            <a:off x="3789578" y="2011680"/>
            <a:ext cx="548640" cy="548640"/>
          </a:xfrm>
          <a:prstGeom prst="rect">
            <a:avLst/>
          </a:prstGeom>
        </p:spPr>
      </p:pic>
      <p:sp>
        <p:nvSpPr>
          <p:cNvPr id="10" name="Text 6"/>
          <p:cNvSpPr txBox="1"/>
          <p:nvPr/>
        </p:nvSpPr>
        <p:spPr>
          <a:xfrm>
            <a:off x="3789578" y="2670048"/>
            <a:ext cx="169164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Dashboard</a:t>
            </a:r>
            <a:endParaRPr lang="en-US" sz="1700" dirty="0"/>
          </a:p>
        </p:txBody>
      </p:sp>
      <p:sp>
        <p:nvSpPr>
          <p:cNvPr id="11" name="Text 7"/>
          <p:cNvSpPr txBox="1"/>
          <p:nvPr/>
        </p:nvSpPr>
        <p:spPr>
          <a:xfrm>
            <a:off x="3789578" y="3017520"/>
            <a:ext cx="1691640" cy="292608"/>
          </a:xfrm>
          <a:prstGeom prst="rect">
            <a:avLst/>
          </a:prstGeom>
          <a:noFill/>
          <a:ln/>
        </p:spPr>
        <p:txBody>
          <a:bodyPr wrap="square" lIns="0" tIns="0" rIns="0" bIns="0" rtlCol="0" anchor="t"/>
          <a:lstStyle/>
          <a:p>
            <a:pPr indent="0" marL="0">
              <a:buNone/>
            </a:pPr>
            <a:r>
              <a:rPr lang="en-US" sz="1300" dirty="0">
                <a:solidFill>
                  <a:schemeClr val="tx2"/>
                </a:solidFill>
              </a:rPr>
              <a:t>Registro de la operación</a:t>
            </a:r>
            <a:endParaRPr lang="en-US" sz="1300" dirty="0"/>
          </a:p>
        </p:txBody>
      </p:sp>
      <p:sp>
        <p:nvSpPr>
          <p:cNvPr id="12" name="Sistema KeyFácil u Omie"/>
          <p:cNvSpPr/>
          <p:nvPr/>
        </p:nvSpPr>
        <p:spPr>
          <a:xfrm>
            <a:off x="6573317" y="1783080"/>
            <a:ext cx="2057400" cy="1600200"/>
          </a:xfrm>
          <a:prstGeom prst="roundRect">
            <a:avLst>
              <a:gd name="adj" fmla="val 8000"/>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3" name="Ícono receipt" descr="preencoded.png">    </p:cNvPr>
          <p:cNvPicPr>
            <a:picLocks noChangeAspect="1"/>
          </p:cNvPicPr>
          <p:nvPr/>
        </p:nvPicPr>
        <p:blipFill>
          <a:blip r:embed="rId3"/>
          <a:stretch>
            <a:fillRect/>
          </a:stretch>
        </p:blipFill>
        <p:spPr>
          <a:xfrm>
            <a:off x="6801917" y="2011680"/>
            <a:ext cx="548640" cy="548640"/>
          </a:xfrm>
          <a:prstGeom prst="rect">
            <a:avLst/>
          </a:prstGeom>
        </p:spPr>
      </p:pic>
      <p:sp>
        <p:nvSpPr>
          <p:cNvPr id="14" name="Text 9"/>
          <p:cNvSpPr txBox="1"/>
          <p:nvPr/>
        </p:nvSpPr>
        <p:spPr>
          <a:xfrm>
            <a:off x="6801917" y="2670048"/>
            <a:ext cx="169164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KeyFácil u Omie</a:t>
            </a:r>
            <a:endParaRPr lang="en-US" sz="1700" dirty="0"/>
          </a:p>
        </p:txBody>
      </p:sp>
      <p:sp>
        <p:nvSpPr>
          <p:cNvPr id="15" name="Text 10"/>
          <p:cNvSpPr txBox="1"/>
          <p:nvPr/>
        </p:nvSpPr>
        <p:spPr>
          <a:xfrm>
            <a:off x="6801917" y="3017520"/>
            <a:ext cx="1691640" cy="292608"/>
          </a:xfrm>
          <a:prstGeom prst="rect">
            <a:avLst/>
          </a:prstGeom>
          <a:noFill/>
          <a:ln/>
        </p:spPr>
        <p:txBody>
          <a:bodyPr wrap="square" lIns="0" tIns="0" rIns="0" bIns="0" rtlCol="0" anchor="t"/>
          <a:lstStyle/>
          <a:p>
            <a:pPr indent="0" marL="0">
              <a:buNone/>
            </a:pPr>
            <a:r>
              <a:rPr lang="en-US" sz="1300" dirty="0">
                <a:solidFill>
                  <a:schemeClr val="tx2"/>
                </a:solidFill>
              </a:rPr>
              <a:t>Emite el comprobante</a:t>
            </a:r>
            <a:endParaRPr lang="en-US" sz="1300" dirty="0"/>
          </a:p>
        </p:txBody>
      </p:sp>
      <p:sp>
        <p:nvSpPr>
          <p:cNvPr id="16" name="Sistema Cliente"/>
          <p:cNvSpPr/>
          <p:nvPr/>
        </p:nvSpPr>
        <p:spPr>
          <a:xfrm>
            <a:off x="9585655" y="1783080"/>
            <a:ext cx="2057400" cy="1600200"/>
          </a:xfrm>
          <a:prstGeom prst="roundRect">
            <a:avLst>
              <a:gd name="adj" fmla="val 8000"/>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7" name="Ícono send" descr="preencoded.png">    </p:cNvPr>
          <p:cNvPicPr>
            <a:picLocks noChangeAspect="1"/>
          </p:cNvPicPr>
          <p:nvPr/>
        </p:nvPicPr>
        <p:blipFill>
          <a:blip r:embed="rId4"/>
          <a:stretch>
            <a:fillRect/>
          </a:stretch>
        </p:blipFill>
        <p:spPr>
          <a:xfrm>
            <a:off x="9814255" y="2011680"/>
            <a:ext cx="548640" cy="548640"/>
          </a:xfrm>
          <a:prstGeom prst="rect">
            <a:avLst/>
          </a:prstGeom>
        </p:spPr>
      </p:pic>
      <p:sp>
        <p:nvSpPr>
          <p:cNvPr id="18" name="Text 12"/>
          <p:cNvSpPr txBox="1"/>
          <p:nvPr/>
        </p:nvSpPr>
        <p:spPr>
          <a:xfrm>
            <a:off x="9814255" y="2670048"/>
            <a:ext cx="169164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Cliente</a:t>
            </a:r>
            <a:endParaRPr lang="en-US" sz="1700" dirty="0"/>
          </a:p>
        </p:txBody>
      </p:sp>
      <p:sp>
        <p:nvSpPr>
          <p:cNvPr id="19" name="Text 13"/>
          <p:cNvSpPr txBox="1"/>
          <p:nvPr/>
        </p:nvSpPr>
        <p:spPr>
          <a:xfrm>
            <a:off x="9814255" y="3017520"/>
            <a:ext cx="1691640" cy="292608"/>
          </a:xfrm>
          <a:prstGeom prst="rect">
            <a:avLst/>
          </a:prstGeom>
          <a:noFill/>
          <a:ln/>
        </p:spPr>
        <p:txBody>
          <a:bodyPr wrap="square" lIns="0" tIns="0" rIns="0" bIns="0" rtlCol="0" anchor="t"/>
          <a:lstStyle/>
          <a:p>
            <a:pPr indent="0" marL="0">
              <a:buNone/>
            </a:pPr>
            <a:r>
              <a:rPr lang="en-US" sz="1300" dirty="0">
                <a:solidFill>
                  <a:schemeClr val="tx2"/>
                </a:solidFill>
              </a:rPr>
              <a:t>Recibe el PDF</a:t>
            </a:r>
            <a:endParaRPr lang="en-US" sz="1300" dirty="0"/>
          </a:p>
        </p:txBody>
      </p:sp>
      <p:sp>
        <p:nvSpPr>
          <p:cNvPr id="20" name="Flecha Tipeo 1"/>
          <p:cNvSpPr/>
          <p:nvPr/>
        </p:nvSpPr>
        <p:spPr>
          <a:xfrm>
            <a:off x="2697480" y="2583180"/>
            <a:ext cx="772058" cy="0"/>
          </a:xfrm>
          <a:prstGeom prst="line">
            <a:avLst/>
          </a:prstGeom>
          <a:noFill/>
          <a:ln w="28575">
            <a:solidFill>
              <a:schemeClr val="accent5"/>
            </a:solidFill>
            <a:prstDash val="solid"/>
            <a:tailEnd type="triangle"/>
          </a:ln>
        </p:spPr>
      </p:sp>
      <p:sp>
        <p:nvSpPr>
          <p:cNvPr id="21" name="Conector Tipeo 1"/>
          <p:cNvSpPr/>
          <p:nvPr/>
        </p:nvSpPr>
        <p:spPr>
          <a:xfrm>
            <a:off x="3083509" y="2651760"/>
            <a:ext cx="0" cy="1143000"/>
          </a:xfrm>
          <a:prstGeom prst="line">
            <a:avLst/>
          </a:prstGeom>
          <a:noFill/>
          <a:ln w="15875">
            <a:solidFill>
              <a:schemeClr val="accent5"/>
            </a:solidFill>
            <a:prstDash val="dash"/>
          </a:ln>
        </p:spPr>
      </p:sp>
      <p:sp>
        <p:nvSpPr>
          <p:cNvPr id="22" name="Paso manual Tipeo 1"/>
          <p:cNvSpPr/>
          <p:nvPr/>
        </p:nvSpPr>
        <p:spPr>
          <a:xfrm>
            <a:off x="1711909" y="3794760"/>
            <a:ext cx="2743200" cy="1600200"/>
          </a:xfrm>
          <a:prstGeom prst="roundRect">
            <a:avLst>
              <a:gd name="adj" fmla="val 8000"/>
            </a:avLst>
          </a:prstGeom>
          <a:solidFill>
            <a:schemeClr val="accent5">
              <a:alpha val="9000"/>
            </a:schemeClr>
          </a:solidFill>
          <a:ln/>
        </p:spPr>
      </p:sp>
      <p:pic>
        <p:nvPicPr>
          <p:cNvPr id="23" name="Ícono keyboard" descr="preencoded.png">    </p:cNvPr>
          <p:cNvPicPr>
            <a:picLocks noChangeAspect="1"/>
          </p:cNvPicPr>
          <p:nvPr/>
        </p:nvPicPr>
        <p:blipFill>
          <a:blip r:embed="rId5"/>
          <a:stretch>
            <a:fillRect/>
          </a:stretch>
        </p:blipFill>
        <p:spPr>
          <a:xfrm>
            <a:off x="1940509" y="4005072"/>
            <a:ext cx="457200" cy="457200"/>
          </a:xfrm>
          <a:prstGeom prst="rect">
            <a:avLst/>
          </a:prstGeom>
        </p:spPr>
      </p:pic>
      <p:sp>
        <p:nvSpPr>
          <p:cNvPr id="24" name="Text 17"/>
          <p:cNvSpPr txBox="1"/>
          <p:nvPr/>
        </p:nvSpPr>
        <p:spPr>
          <a:xfrm>
            <a:off x="2534869" y="4005072"/>
            <a:ext cx="1737360" cy="45720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Tipeo 1</a:t>
            </a:r>
            <a:endParaRPr lang="en-US" sz="1700" dirty="0"/>
          </a:p>
        </p:txBody>
      </p:sp>
      <p:sp>
        <p:nvSpPr>
          <p:cNvPr id="25" name="Text 18"/>
          <p:cNvSpPr txBox="1"/>
          <p:nvPr/>
        </p:nvSpPr>
        <p:spPr>
          <a:xfrm>
            <a:off x="1940509" y="4590288"/>
            <a:ext cx="2331720" cy="685800"/>
          </a:xfrm>
          <a:prstGeom prst="rect">
            <a:avLst/>
          </a:prstGeom>
          <a:noFill/>
          <a:ln/>
        </p:spPr>
        <p:txBody>
          <a:bodyPr wrap="square" lIns="0" tIns="0" rIns="0" bIns="0" rtlCol="0" anchor="t"/>
          <a:lstStyle/>
          <a:p>
            <a:pPr indent="0" marL="0">
              <a:buNone/>
            </a:pPr>
            <a:r>
              <a:rPr lang="en-US" sz="1400" dirty="0">
                <a:solidFill>
                  <a:schemeClr val="tx1"/>
                </a:solidFill>
              </a:rPr>
              <a:t>Los 3 vendedores copian el chat al dashboard.</a:t>
            </a:r>
            <a:endParaRPr lang="en-US" sz="1400" dirty="0"/>
          </a:p>
        </p:txBody>
      </p:sp>
      <p:sp>
        <p:nvSpPr>
          <p:cNvPr id="26" name="Flecha Tipeo 2"/>
          <p:cNvSpPr/>
          <p:nvPr/>
        </p:nvSpPr>
        <p:spPr>
          <a:xfrm>
            <a:off x="5709818" y="2583180"/>
            <a:ext cx="772058" cy="0"/>
          </a:xfrm>
          <a:prstGeom prst="line">
            <a:avLst/>
          </a:prstGeom>
          <a:noFill/>
          <a:ln w="28575">
            <a:solidFill>
              <a:schemeClr val="accent5"/>
            </a:solidFill>
            <a:prstDash val="solid"/>
            <a:tailEnd type="triangle"/>
          </a:ln>
        </p:spPr>
      </p:sp>
      <p:sp>
        <p:nvSpPr>
          <p:cNvPr id="27" name="Conector Tipeo 2"/>
          <p:cNvSpPr/>
          <p:nvPr/>
        </p:nvSpPr>
        <p:spPr>
          <a:xfrm>
            <a:off x="6095848" y="2651760"/>
            <a:ext cx="0" cy="1143000"/>
          </a:xfrm>
          <a:prstGeom prst="line">
            <a:avLst/>
          </a:prstGeom>
          <a:noFill/>
          <a:ln w="15875">
            <a:solidFill>
              <a:schemeClr val="accent5"/>
            </a:solidFill>
            <a:prstDash val="dash"/>
          </a:ln>
        </p:spPr>
      </p:sp>
      <p:sp>
        <p:nvSpPr>
          <p:cNvPr id="28" name="Paso manual Tipeo 2"/>
          <p:cNvSpPr/>
          <p:nvPr/>
        </p:nvSpPr>
        <p:spPr>
          <a:xfrm>
            <a:off x="4724248" y="3794760"/>
            <a:ext cx="2743200" cy="1600200"/>
          </a:xfrm>
          <a:prstGeom prst="roundRect">
            <a:avLst>
              <a:gd name="adj" fmla="val 8000"/>
            </a:avLst>
          </a:prstGeom>
          <a:solidFill>
            <a:schemeClr val="accent5">
              <a:alpha val="9000"/>
            </a:schemeClr>
          </a:solidFill>
          <a:ln/>
        </p:spPr>
      </p:sp>
      <p:pic>
        <p:nvPicPr>
          <p:cNvPr id="29" name="Ícono keyboard" descr="preencoded.png">    </p:cNvPr>
          <p:cNvPicPr>
            <a:picLocks noChangeAspect="1"/>
          </p:cNvPicPr>
          <p:nvPr/>
        </p:nvPicPr>
        <p:blipFill>
          <a:blip r:embed="rId6"/>
          <a:stretch>
            <a:fillRect/>
          </a:stretch>
        </p:blipFill>
        <p:spPr>
          <a:xfrm>
            <a:off x="4952848" y="4005072"/>
            <a:ext cx="457200" cy="457200"/>
          </a:xfrm>
          <a:prstGeom prst="rect">
            <a:avLst/>
          </a:prstGeom>
        </p:spPr>
      </p:pic>
      <p:sp>
        <p:nvSpPr>
          <p:cNvPr id="30" name="Text 22"/>
          <p:cNvSpPr txBox="1"/>
          <p:nvPr/>
        </p:nvSpPr>
        <p:spPr>
          <a:xfrm>
            <a:off x="5547208" y="4005072"/>
            <a:ext cx="1737360" cy="45720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Tipeo 2</a:t>
            </a:r>
            <a:endParaRPr lang="en-US" sz="1700" dirty="0"/>
          </a:p>
        </p:txBody>
      </p:sp>
      <p:sp>
        <p:nvSpPr>
          <p:cNvPr id="31" name="Text 23"/>
          <p:cNvSpPr txBox="1"/>
          <p:nvPr/>
        </p:nvSpPr>
        <p:spPr>
          <a:xfrm>
            <a:off x="4952848" y="4590288"/>
            <a:ext cx="2331720" cy="685800"/>
          </a:xfrm>
          <a:prstGeom prst="rect">
            <a:avLst/>
          </a:prstGeom>
          <a:noFill/>
          <a:ln/>
        </p:spPr>
        <p:txBody>
          <a:bodyPr wrap="square" lIns="0" tIns="0" rIns="0" bIns="0" rtlCol="0" anchor="t"/>
          <a:lstStyle/>
          <a:p>
            <a:pPr indent="0" marL="0">
              <a:buNone/>
            </a:pPr>
            <a:r>
              <a:rPr lang="en-US" sz="1400" dirty="0">
                <a:solidFill>
                  <a:schemeClr val="tx1"/>
                </a:solidFill>
              </a:rPr>
              <a:t>Contabilidad copia lo mismo en KeyFácil u Omie.</a:t>
            </a:r>
            <a:endParaRPr lang="en-US" sz="1400" dirty="0"/>
          </a:p>
        </p:txBody>
      </p:sp>
      <p:sp>
        <p:nvSpPr>
          <p:cNvPr id="32" name="Flecha Revisión"/>
          <p:cNvSpPr/>
          <p:nvPr/>
        </p:nvSpPr>
        <p:spPr>
          <a:xfrm>
            <a:off x="8722157" y="2583180"/>
            <a:ext cx="772058" cy="0"/>
          </a:xfrm>
          <a:prstGeom prst="line">
            <a:avLst/>
          </a:prstGeom>
          <a:noFill/>
          <a:ln w="28575">
            <a:solidFill>
              <a:schemeClr val="accent5"/>
            </a:solidFill>
            <a:prstDash val="solid"/>
            <a:tailEnd type="triangle"/>
          </a:ln>
        </p:spPr>
      </p:sp>
      <p:sp>
        <p:nvSpPr>
          <p:cNvPr id="33" name="Conector Revisión"/>
          <p:cNvSpPr/>
          <p:nvPr/>
        </p:nvSpPr>
        <p:spPr>
          <a:xfrm>
            <a:off x="9108186" y="2651760"/>
            <a:ext cx="0" cy="1143000"/>
          </a:xfrm>
          <a:prstGeom prst="line">
            <a:avLst/>
          </a:prstGeom>
          <a:noFill/>
          <a:ln w="15875">
            <a:solidFill>
              <a:schemeClr val="accent5"/>
            </a:solidFill>
            <a:prstDash val="dash"/>
          </a:ln>
        </p:spPr>
      </p:sp>
      <p:sp>
        <p:nvSpPr>
          <p:cNvPr id="34" name="Paso manual Revisión"/>
          <p:cNvSpPr/>
          <p:nvPr/>
        </p:nvSpPr>
        <p:spPr>
          <a:xfrm>
            <a:off x="7736586" y="3794760"/>
            <a:ext cx="2743200" cy="1600200"/>
          </a:xfrm>
          <a:prstGeom prst="roundRect">
            <a:avLst>
              <a:gd name="adj" fmla="val 8000"/>
            </a:avLst>
          </a:prstGeom>
          <a:solidFill>
            <a:schemeClr val="accent5">
              <a:alpha val="9000"/>
            </a:schemeClr>
          </a:solidFill>
          <a:ln/>
        </p:spPr>
      </p:sp>
      <p:pic>
        <p:nvPicPr>
          <p:cNvPr id="35" name="Ícono eye" descr="preencoded.png">    </p:cNvPr>
          <p:cNvPicPr>
            <a:picLocks noChangeAspect="1"/>
          </p:cNvPicPr>
          <p:nvPr/>
        </p:nvPicPr>
        <p:blipFill>
          <a:blip r:embed="rId7"/>
          <a:stretch>
            <a:fillRect/>
          </a:stretch>
        </p:blipFill>
        <p:spPr>
          <a:xfrm>
            <a:off x="7965186" y="4005072"/>
            <a:ext cx="457200" cy="457200"/>
          </a:xfrm>
          <a:prstGeom prst="rect">
            <a:avLst/>
          </a:prstGeom>
        </p:spPr>
      </p:pic>
      <p:sp>
        <p:nvSpPr>
          <p:cNvPr id="36" name="Text 27"/>
          <p:cNvSpPr txBox="1"/>
          <p:nvPr/>
        </p:nvSpPr>
        <p:spPr>
          <a:xfrm>
            <a:off x="8559546" y="4005072"/>
            <a:ext cx="1737360" cy="45720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Revisión</a:t>
            </a:r>
            <a:endParaRPr lang="en-US" sz="1700" dirty="0"/>
          </a:p>
        </p:txBody>
      </p:sp>
      <p:sp>
        <p:nvSpPr>
          <p:cNvPr id="37" name="Text 28"/>
          <p:cNvSpPr txBox="1"/>
          <p:nvPr/>
        </p:nvSpPr>
        <p:spPr>
          <a:xfrm>
            <a:off x="7965186" y="4590288"/>
            <a:ext cx="2331720" cy="685800"/>
          </a:xfrm>
          <a:prstGeom prst="rect">
            <a:avLst/>
          </a:prstGeom>
          <a:noFill/>
          <a:ln/>
        </p:spPr>
        <p:txBody>
          <a:bodyPr wrap="square" lIns="0" tIns="0" rIns="0" bIns="0" rtlCol="0" anchor="t"/>
          <a:lstStyle/>
          <a:p>
            <a:pPr indent="0" marL="0">
              <a:buNone/>
            </a:pPr>
            <a:r>
              <a:rPr lang="en-US" sz="1400" dirty="0">
                <a:solidFill>
                  <a:schemeClr val="tx1"/>
                </a:solidFill>
              </a:rPr>
              <a:t>Un equipo compara lo tipeado, operación por operación.</a:t>
            </a:r>
            <a:endParaRPr lang="en-US" sz="1400" dirty="0"/>
          </a:p>
        </p:txBody>
      </p:sp>
      <p:sp>
        <p:nvSpPr>
          <p:cNvPr id="38" name="Text 29"/>
          <p:cNvSpPr txBox="1"/>
          <p:nvPr/>
        </p:nvSpPr>
        <p:spPr>
          <a:xfrm>
            <a:off x="548640" y="5669280"/>
            <a:ext cx="11094415" cy="457200"/>
          </a:xfrm>
          <a:prstGeom prst="rect">
            <a:avLst/>
          </a:prstGeom>
          <a:noFill/>
          <a:ln/>
        </p:spPr>
        <p:txBody>
          <a:bodyPr wrap="square" lIns="0" tIns="0" rIns="0" bIns="0" rtlCol="0" anchor="t"/>
          <a:lstStyle/>
          <a:p>
            <a:pPr indent="0" marL="0">
              <a:buNone/>
            </a:pPr>
            <a:r>
              <a:rPr lang="en-US" sz="1500" dirty="0">
                <a:solidFill>
                  <a:schemeClr val="tx2"/>
                </a:solidFill>
              </a:rPr>
              <a:t>Son más de 7 pasos y varias pantallas por operación. Entre estos sistemas no hay ninguna conexión: el puente son personas.</a:t>
            </a:r>
            <a:endParaRPr lang="en-US" sz="15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EL PROBLEMA</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El comprobante tarda días, no minutos</a:t>
            </a:r>
            <a:endParaRPr lang="en-US" sz="3200" dirty="0"/>
          </a:p>
        </p:txBody>
      </p:sp>
      <p:sp>
        <p:nvSpPr>
          <p:cNvPr id="4" name="Tiempo ANTES"/>
          <p:cNvSpPr/>
          <p:nvPr/>
        </p:nvSpPr>
        <p:spPr>
          <a:xfrm>
            <a:off x="548640" y="1691640"/>
            <a:ext cx="3246120" cy="2377440"/>
          </a:xfrm>
          <a:prstGeom prst="roundRect">
            <a:avLst>
              <a:gd name="adj" fmla="val 538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5" name="Etiqueta ANTES"/>
          <p:cNvSpPr/>
          <p:nvPr/>
        </p:nvSpPr>
        <p:spPr>
          <a:xfrm>
            <a:off x="868680" y="1965960"/>
            <a:ext cx="1188720" cy="329184"/>
          </a:xfrm>
          <a:prstGeom prst="roundRect">
            <a:avLst>
              <a:gd name="adj" fmla="val 50000"/>
            </a:avLst>
          </a:prstGeom>
          <a:solidFill>
            <a:schemeClr val="accent5">
              <a:alpha val="15000"/>
            </a:schemeClr>
          </a:solidFill>
          <a:ln/>
        </p:spPr>
      </p:sp>
      <p:sp>
        <p:nvSpPr>
          <p:cNvPr id="6" name="Text 4"/>
          <p:cNvSpPr txBox="1"/>
          <p:nvPr/>
        </p:nvSpPr>
        <p:spPr>
          <a:xfrm>
            <a:off x="868680" y="1965960"/>
            <a:ext cx="1188720" cy="329184"/>
          </a:xfrm>
          <a:prstGeom prst="rect">
            <a:avLst/>
          </a:prstGeom>
          <a:noFill/>
          <a:ln/>
        </p:spPr>
        <p:txBody>
          <a:bodyPr wrap="square" lIns="0" tIns="0" rIns="0" bIns="0" rtlCol="0" anchor="ctr"/>
          <a:lstStyle/>
          <a:p>
            <a:pPr algn="ctr" indent="0" marL="0">
              <a:buNone/>
            </a:pPr>
            <a:r>
              <a:rPr lang="en-US" sz="1200" b="1" spc="100" kern="0" dirty="0">
                <a:solidFill>
                  <a:schemeClr val="tx1"/>
                </a:solidFill>
              </a:rPr>
              <a:t>ANTES</a:t>
            </a:r>
            <a:endParaRPr lang="en-US" sz="1200" dirty="0"/>
          </a:p>
        </p:txBody>
      </p:sp>
      <p:sp>
        <p:nvSpPr>
          <p:cNvPr id="7" name="Text 5"/>
          <p:cNvSpPr txBox="1"/>
          <p:nvPr/>
        </p:nvSpPr>
        <p:spPr>
          <a:xfrm>
            <a:off x="868680" y="2377440"/>
            <a:ext cx="2606040" cy="6858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Semanas</a:t>
            </a:r>
            <a:endParaRPr lang="en-US" sz="4000" dirty="0"/>
          </a:p>
        </p:txBody>
      </p:sp>
      <p:sp>
        <p:nvSpPr>
          <p:cNvPr id="8" name="Text 6"/>
          <p:cNvSpPr txBox="1"/>
          <p:nvPr/>
        </p:nvSpPr>
        <p:spPr>
          <a:xfrm>
            <a:off x="868680" y="3127248"/>
            <a:ext cx="2606040" cy="822960"/>
          </a:xfrm>
          <a:prstGeom prst="rect">
            <a:avLst/>
          </a:prstGeom>
          <a:noFill/>
          <a:ln/>
        </p:spPr>
        <p:txBody>
          <a:bodyPr wrap="square" lIns="0" tIns="0" rIns="0" bIns="0" rtlCol="0" anchor="t"/>
          <a:lstStyle/>
          <a:p>
            <a:pPr indent="0" marL="0">
              <a:buNone/>
            </a:pPr>
            <a:r>
              <a:rPr lang="en-US" sz="1400" dirty="0">
                <a:solidFill>
                  <a:schemeClr val="tx2"/>
                </a:solidFill>
              </a:rPr>
              <a:t>Entre 1 y 1,5 semanas. En el peor caso, quien operó el 1 de octubre recibió su boleta el 16.</a:t>
            </a:r>
            <a:endParaRPr lang="en-US" sz="1400" dirty="0"/>
          </a:p>
        </p:txBody>
      </p:sp>
      <p:sp>
        <p:nvSpPr>
          <p:cNvPr id="9" name="Flecha tiempo 1"/>
          <p:cNvSpPr/>
          <p:nvPr/>
        </p:nvSpPr>
        <p:spPr>
          <a:xfrm>
            <a:off x="3904488" y="2880360"/>
            <a:ext cx="458572" cy="0"/>
          </a:xfrm>
          <a:prstGeom prst="line">
            <a:avLst/>
          </a:prstGeom>
          <a:noFill/>
          <a:ln w="22225">
            <a:solidFill>
              <a:schemeClr val="tx2"/>
            </a:solidFill>
            <a:prstDash val="solid"/>
            <a:tailEnd type="triangle"/>
          </a:ln>
        </p:spPr>
      </p:sp>
      <p:sp>
        <p:nvSpPr>
          <p:cNvPr id="10" name="Tiempo HOY"/>
          <p:cNvSpPr/>
          <p:nvPr/>
        </p:nvSpPr>
        <p:spPr>
          <a:xfrm>
            <a:off x="4472788" y="1691640"/>
            <a:ext cx="3246120" cy="2377440"/>
          </a:xfrm>
          <a:prstGeom prst="roundRect">
            <a:avLst>
              <a:gd name="adj" fmla="val 538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11" name="Etiqueta HOY"/>
          <p:cNvSpPr/>
          <p:nvPr/>
        </p:nvSpPr>
        <p:spPr>
          <a:xfrm>
            <a:off x="4792828" y="1965960"/>
            <a:ext cx="1188720" cy="329184"/>
          </a:xfrm>
          <a:prstGeom prst="roundRect">
            <a:avLst>
              <a:gd name="adj" fmla="val 50000"/>
            </a:avLst>
          </a:prstGeom>
          <a:solidFill>
            <a:schemeClr val="accent3">
              <a:alpha val="20000"/>
            </a:schemeClr>
          </a:solidFill>
          <a:ln/>
        </p:spPr>
      </p:sp>
      <p:sp>
        <p:nvSpPr>
          <p:cNvPr id="12" name="Text 10"/>
          <p:cNvSpPr txBox="1"/>
          <p:nvPr/>
        </p:nvSpPr>
        <p:spPr>
          <a:xfrm>
            <a:off x="4792828" y="1965960"/>
            <a:ext cx="1188720" cy="329184"/>
          </a:xfrm>
          <a:prstGeom prst="rect">
            <a:avLst/>
          </a:prstGeom>
          <a:noFill/>
          <a:ln/>
        </p:spPr>
        <p:txBody>
          <a:bodyPr wrap="square" lIns="0" tIns="0" rIns="0" bIns="0" rtlCol="0" anchor="ctr"/>
          <a:lstStyle/>
          <a:p>
            <a:pPr algn="ctr" indent="0" marL="0">
              <a:buNone/>
            </a:pPr>
            <a:r>
              <a:rPr lang="en-US" sz="1200" b="1" spc="100" kern="0" dirty="0">
                <a:solidFill>
                  <a:schemeClr val="tx1"/>
                </a:solidFill>
              </a:rPr>
              <a:t>HOY</a:t>
            </a:r>
            <a:endParaRPr lang="en-US" sz="1200" dirty="0"/>
          </a:p>
        </p:txBody>
      </p:sp>
      <p:sp>
        <p:nvSpPr>
          <p:cNvPr id="13" name="Text 11"/>
          <p:cNvSpPr txBox="1"/>
          <p:nvPr/>
        </p:nvSpPr>
        <p:spPr>
          <a:xfrm>
            <a:off x="4792828" y="2377440"/>
            <a:ext cx="2606040" cy="6858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2–3 días</a:t>
            </a:r>
            <a:endParaRPr lang="en-US" sz="4000" dirty="0"/>
          </a:p>
        </p:txBody>
      </p:sp>
      <p:sp>
        <p:nvSpPr>
          <p:cNvPr id="14" name="Text 12"/>
          <p:cNvSpPr txBox="1"/>
          <p:nvPr/>
        </p:nvSpPr>
        <p:spPr>
          <a:xfrm>
            <a:off x="4792828" y="3127248"/>
            <a:ext cx="2606040" cy="822960"/>
          </a:xfrm>
          <a:prstGeom prst="rect">
            <a:avLst/>
          </a:prstGeom>
          <a:noFill/>
          <a:ln/>
        </p:spPr>
        <p:txBody>
          <a:bodyPr wrap="square" lIns="0" tIns="0" rIns="0" bIns="0" rtlCol="0" anchor="t"/>
          <a:lstStyle/>
          <a:p>
            <a:pPr indent="0" marL="0">
              <a:buNone/>
            </a:pPr>
            <a:r>
              <a:rPr lang="en-US" sz="1400" dirty="0">
                <a:solidFill>
                  <a:schemeClr val="tx2"/>
                </a:solidFill>
              </a:rPr>
              <a:t>La mejora vino de sumar 2 o 3 personas a contabilidad, no de automatizar.</a:t>
            </a:r>
            <a:endParaRPr lang="en-US" sz="1400" dirty="0"/>
          </a:p>
        </p:txBody>
      </p:sp>
      <p:sp>
        <p:nvSpPr>
          <p:cNvPr id="15" name="Flecha tiempo 2"/>
          <p:cNvSpPr/>
          <p:nvPr/>
        </p:nvSpPr>
        <p:spPr>
          <a:xfrm>
            <a:off x="7828636" y="2880360"/>
            <a:ext cx="458572" cy="0"/>
          </a:xfrm>
          <a:prstGeom prst="line">
            <a:avLst/>
          </a:prstGeom>
          <a:noFill/>
          <a:ln w="22225">
            <a:solidFill>
              <a:schemeClr val="tx2"/>
            </a:solidFill>
            <a:prstDash val="solid"/>
            <a:tailEnd type="triangle"/>
          </a:ln>
        </p:spPr>
      </p:sp>
      <p:sp>
        <p:nvSpPr>
          <p:cNvPr id="16" name="Tiempo LA META"/>
          <p:cNvSpPr/>
          <p:nvPr/>
        </p:nvSpPr>
        <p:spPr>
          <a:xfrm>
            <a:off x="8396935" y="1691640"/>
            <a:ext cx="3246120" cy="2377440"/>
          </a:xfrm>
          <a:prstGeom prst="roundRect">
            <a:avLst>
              <a:gd name="adj" fmla="val 538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17" name="Etiqueta LA META"/>
          <p:cNvSpPr/>
          <p:nvPr/>
        </p:nvSpPr>
        <p:spPr>
          <a:xfrm>
            <a:off x="8716975" y="1965960"/>
            <a:ext cx="1188720" cy="329184"/>
          </a:xfrm>
          <a:prstGeom prst="roundRect">
            <a:avLst>
              <a:gd name="adj" fmla="val 50000"/>
            </a:avLst>
          </a:prstGeom>
          <a:solidFill>
            <a:schemeClr val="accent4">
              <a:alpha val="20000"/>
            </a:schemeClr>
          </a:solidFill>
          <a:ln/>
        </p:spPr>
      </p:sp>
      <p:sp>
        <p:nvSpPr>
          <p:cNvPr id="18" name="Text 16"/>
          <p:cNvSpPr txBox="1"/>
          <p:nvPr/>
        </p:nvSpPr>
        <p:spPr>
          <a:xfrm>
            <a:off x="8716975" y="1965960"/>
            <a:ext cx="1188720" cy="329184"/>
          </a:xfrm>
          <a:prstGeom prst="rect">
            <a:avLst/>
          </a:prstGeom>
          <a:noFill/>
          <a:ln/>
        </p:spPr>
        <p:txBody>
          <a:bodyPr wrap="square" lIns="0" tIns="0" rIns="0" bIns="0" rtlCol="0" anchor="ctr"/>
          <a:lstStyle/>
          <a:p>
            <a:pPr algn="ctr" indent="0" marL="0">
              <a:buNone/>
            </a:pPr>
            <a:r>
              <a:rPr lang="en-US" sz="1200" b="1" spc="100" kern="0" dirty="0">
                <a:solidFill>
                  <a:schemeClr val="tx1"/>
                </a:solidFill>
              </a:rPr>
              <a:t>LA META</a:t>
            </a:r>
            <a:endParaRPr lang="en-US" sz="1200" dirty="0"/>
          </a:p>
        </p:txBody>
      </p:sp>
      <p:sp>
        <p:nvSpPr>
          <p:cNvPr id="19" name="Text 17"/>
          <p:cNvSpPr txBox="1"/>
          <p:nvPr/>
        </p:nvSpPr>
        <p:spPr>
          <a:xfrm>
            <a:off x="8716975" y="2377440"/>
            <a:ext cx="2606040" cy="6858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Minutos</a:t>
            </a:r>
            <a:endParaRPr lang="en-US" sz="4000" dirty="0"/>
          </a:p>
        </p:txBody>
      </p:sp>
      <p:sp>
        <p:nvSpPr>
          <p:cNvPr id="20" name="Text 18"/>
          <p:cNvSpPr txBox="1"/>
          <p:nvPr/>
        </p:nvSpPr>
        <p:spPr>
          <a:xfrm>
            <a:off x="8716975" y="3127248"/>
            <a:ext cx="2606040" cy="822960"/>
          </a:xfrm>
          <a:prstGeom prst="rect">
            <a:avLst/>
          </a:prstGeom>
          <a:noFill/>
          <a:ln/>
        </p:spPr>
        <p:txBody>
          <a:bodyPr wrap="square" lIns="0" tIns="0" rIns="0" bIns="0" rtlCol="0" anchor="t"/>
          <a:lstStyle/>
          <a:p>
            <a:pPr indent="0" marL="0">
              <a:buNone/>
            </a:pPr>
            <a:r>
              <a:rPr lang="en-US" sz="1400" dirty="0">
                <a:solidFill>
                  <a:schemeClr val="tx2"/>
                </a:solidFill>
              </a:rPr>
              <a:t>Que el comprobante salga apenas se cierra la operación.</a:t>
            </a:r>
            <a:endParaRPr lang="en-US" sz="1400" dirty="0"/>
          </a:p>
        </p:txBody>
      </p:sp>
      <p:sp>
        <p:nvSpPr>
          <p:cNvPr id="21" name="Banda de escala"/>
          <p:cNvSpPr/>
          <p:nvPr/>
        </p:nvSpPr>
        <p:spPr>
          <a:xfrm>
            <a:off x="548640" y="4343400"/>
            <a:ext cx="11094415" cy="1691640"/>
          </a:xfrm>
          <a:prstGeom prst="roundRect">
            <a:avLst>
              <a:gd name="adj" fmla="val 7568"/>
            </a:avLst>
          </a:prstGeom>
          <a:solidFill>
            <a:schemeClr val="tx1"/>
          </a:solidFill>
          <a:ln/>
        </p:spPr>
      </p:sp>
      <p:sp>
        <p:nvSpPr>
          <p:cNvPr id="22" name="Text 20"/>
          <p:cNvSpPr txBox="1"/>
          <p:nvPr/>
        </p:nvSpPr>
        <p:spPr>
          <a:xfrm>
            <a:off x="960120" y="4343400"/>
            <a:ext cx="3383280" cy="1691640"/>
          </a:xfrm>
          <a:prstGeom prst="rect">
            <a:avLst/>
          </a:prstGeom>
          <a:noFill/>
          <a:ln/>
        </p:spPr>
        <p:txBody>
          <a:bodyPr wrap="square" lIns="0" tIns="0" rIns="0" bIns="0" rtlCol="0" anchor="ctr"/>
          <a:lstStyle/>
          <a:p>
            <a:pPr indent="0" marL="0">
              <a:buNone/>
            </a:pPr>
            <a:r>
              <a:rPr lang="en-US" sz="4400" b="1" dirty="0">
                <a:solidFill>
                  <a:schemeClr val="bg1"/>
                </a:solidFill>
                <a:latin typeface="+mj-lt" pitchFamily="34" charset="0"/>
                <a:ea typeface="+mj-lt" pitchFamily="34" charset="-122"/>
                <a:cs typeface="+mj-lt" pitchFamily="34" charset="-120"/>
              </a:rPr>
              <a:t>60 → 1000</a:t>
            </a:r>
            <a:endParaRPr lang="en-US" sz="4400" dirty="0"/>
          </a:p>
        </p:txBody>
      </p:sp>
      <p:sp>
        <p:nvSpPr>
          <p:cNvPr id="23" name="Text 21"/>
          <p:cNvSpPr txBox="1"/>
          <p:nvPr/>
        </p:nvSpPr>
        <p:spPr>
          <a:xfrm>
            <a:off x="4572000" y="4343400"/>
            <a:ext cx="6659575" cy="1691640"/>
          </a:xfrm>
          <a:prstGeom prst="rect">
            <a:avLst/>
          </a:prstGeom>
          <a:noFill/>
          <a:ln/>
        </p:spPr>
        <p:txBody>
          <a:bodyPr wrap="square" lIns="0" tIns="0" rIns="0" bIns="0" rtlCol="0" anchor="ctr"/>
          <a:lstStyle/>
          <a:p>
            <a:pPr indent="0" marL="0">
              <a:lnSpc>
                <a:spcPct val="105000"/>
              </a:lnSpc>
              <a:buNone/>
            </a:pPr>
            <a:r>
              <a:rPr lang="en-US" sz="1700" dirty="0">
                <a:solidFill>
                  <a:schemeClr val="bg1"/>
                </a:solidFill>
              </a:rPr>
              <a:t>operaciones al día es la meta. Si cada comprobante necesita alguien que lo tipee y alguien que lo revise, crecer 16 veces obliga a contratar al mismo ritmo.</a:t>
            </a:r>
            <a:endParaRPr lang="en-US" sz="17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EL PROBLEMA</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Brasper paga tres veces por cada comprobante</a:t>
            </a:r>
            <a:endParaRPr lang="en-US" sz="3200" dirty="0"/>
          </a:p>
        </p:txBody>
      </p:sp>
      <p:sp>
        <p:nvSpPr>
          <p:cNvPr id="4" name="Pago 1"/>
          <p:cNvSpPr/>
          <p:nvPr/>
        </p:nvSpPr>
        <p:spPr>
          <a:xfrm>
            <a:off x="548640" y="1691640"/>
            <a:ext cx="3515258" cy="2834640"/>
          </a:xfrm>
          <a:prstGeom prst="roundRect">
            <a:avLst>
              <a:gd name="adj" fmla="val 4516"/>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Ícono card" descr="preencoded.png">    </p:cNvPr>
          <p:cNvPicPr>
            <a:picLocks noChangeAspect="1"/>
          </p:cNvPicPr>
          <p:nvPr/>
        </p:nvPicPr>
        <p:blipFill>
          <a:blip r:embed="rId1"/>
          <a:stretch>
            <a:fillRect/>
          </a:stretch>
        </p:blipFill>
        <p:spPr>
          <a:xfrm>
            <a:off x="868680" y="2011680"/>
            <a:ext cx="685800" cy="685800"/>
          </a:xfrm>
          <a:prstGeom prst="rect">
            <a:avLst/>
          </a:prstGeom>
        </p:spPr>
      </p:pic>
      <p:sp>
        <p:nvSpPr>
          <p:cNvPr id="6" name="Text 3"/>
          <p:cNvSpPr txBox="1"/>
          <p:nvPr/>
        </p:nvSpPr>
        <p:spPr>
          <a:xfrm>
            <a:off x="3149498" y="2011680"/>
            <a:ext cx="594360" cy="411480"/>
          </a:xfrm>
          <a:prstGeom prst="rect">
            <a:avLst/>
          </a:prstGeom>
          <a:noFill/>
          <a:ln/>
        </p:spPr>
        <p:txBody>
          <a:bodyPr wrap="square" lIns="0" tIns="0" rIns="0" bIns="0" rtlCol="0" anchor="t"/>
          <a:lstStyle/>
          <a:p>
            <a:pPr algn="r" indent="0" marL="0">
              <a:buNone/>
            </a:pPr>
            <a:r>
              <a:rPr lang="en-US" sz="1800" b="1" dirty="0">
                <a:solidFill>
                  <a:schemeClr val="accent5"/>
                </a:solidFill>
                <a:latin typeface="+mj-lt" pitchFamily="34" charset="0"/>
                <a:ea typeface="+mj-lt" pitchFamily="34" charset="-122"/>
                <a:cs typeface="+mj-lt" pitchFamily="34" charset="-120"/>
              </a:rPr>
              <a:t>01</a:t>
            </a:r>
            <a:endParaRPr lang="en-US" sz="1800" dirty="0"/>
          </a:p>
        </p:txBody>
      </p:sp>
      <p:sp>
        <p:nvSpPr>
          <p:cNvPr id="7" name="Text 4"/>
          <p:cNvSpPr txBox="1"/>
          <p:nvPr/>
        </p:nvSpPr>
        <p:spPr>
          <a:xfrm>
            <a:off x="868680" y="2926080"/>
            <a:ext cx="2875178"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La suscripción</a:t>
            </a:r>
            <a:endParaRPr lang="en-US" sz="2000" dirty="0"/>
          </a:p>
        </p:txBody>
      </p:sp>
      <p:sp>
        <p:nvSpPr>
          <p:cNvPr id="8" name="Text 5"/>
          <p:cNvSpPr txBox="1"/>
          <p:nvPr/>
        </p:nvSpPr>
        <p:spPr>
          <a:xfrm>
            <a:off x="868680" y="3429000"/>
            <a:ext cx="2875178" cy="9144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KeyFácil y Omie se pagan cada mes, haya muchas o pocas operaciones.</a:t>
            </a:r>
            <a:endParaRPr lang="en-US" sz="1500" dirty="0"/>
          </a:p>
        </p:txBody>
      </p:sp>
      <p:sp>
        <p:nvSpPr>
          <p:cNvPr id="9" name="Pago 2"/>
          <p:cNvSpPr/>
          <p:nvPr/>
        </p:nvSpPr>
        <p:spPr>
          <a:xfrm>
            <a:off x="4338218" y="1691640"/>
            <a:ext cx="3515258" cy="2834640"/>
          </a:xfrm>
          <a:prstGeom prst="roundRect">
            <a:avLst>
              <a:gd name="adj" fmla="val 4516"/>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0" name="Ícono keyboard" descr="preencoded.png">    </p:cNvPr>
          <p:cNvPicPr>
            <a:picLocks noChangeAspect="1"/>
          </p:cNvPicPr>
          <p:nvPr/>
        </p:nvPicPr>
        <p:blipFill>
          <a:blip r:embed="rId2"/>
          <a:stretch>
            <a:fillRect/>
          </a:stretch>
        </p:blipFill>
        <p:spPr>
          <a:xfrm>
            <a:off x="4658258" y="2011680"/>
            <a:ext cx="685800" cy="685800"/>
          </a:xfrm>
          <a:prstGeom prst="rect">
            <a:avLst/>
          </a:prstGeom>
        </p:spPr>
      </p:pic>
      <p:sp>
        <p:nvSpPr>
          <p:cNvPr id="11" name="Text 7"/>
          <p:cNvSpPr txBox="1"/>
          <p:nvPr/>
        </p:nvSpPr>
        <p:spPr>
          <a:xfrm>
            <a:off x="6939077" y="2011680"/>
            <a:ext cx="594360" cy="411480"/>
          </a:xfrm>
          <a:prstGeom prst="rect">
            <a:avLst/>
          </a:prstGeom>
          <a:noFill/>
          <a:ln/>
        </p:spPr>
        <p:txBody>
          <a:bodyPr wrap="square" lIns="0" tIns="0" rIns="0" bIns="0" rtlCol="0" anchor="t"/>
          <a:lstStyle/>
          <a:p>
            <a:pPr algn="r" indent="0" marL="0">
              <a:buNone/>
            </a:pPr>
            <a:r>
              <a:rPr lang="en-US" sz="1800" b="1" dirty="0">
                <a:solidFill>
                  <a:schemeClr val="accent5"/>
                </a:solidFill>
                <a:latin typeface="+mj-lt" pitchFamily="34" charset="0"/>
                <a:ea typeface="+mj-lt" pitchFamily="34" charset="-122"/>
                <a:cs typeface="+mj-lt" pitchFamily="34" charset="-120"/>
              </a:rPr>
              <a:t>02</a:t>
            </a:r>
            <a:endParaRPr lang="en-US" sz="1800" dirty="0"/>
          </a:p>
        </p:txBody>
      </p:sp>
      <p:sp>
        <p:nvSpPr>
          <p:cNvPr id="12" name="Text 8"/>
          <p:cNvSpPr txBox="1"/>
          <p:nvPr/>
        </p:nvSpPr>
        <p:spPr>
          <a:xfrm>
            <a:off x="4658258" y="2926080"/>
            <a:ext cx="2875178"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La persona que tipea</a:t>
            </a:r>
            <a:endParaRPr lang="en-US" sz="2000" dirty="0"/>
          </a:p>
        </p:txBody>
      </p:sp>
      <p:sp>
        <p:nvSpPr>
          <p:cNvPr id="13" name="Text 9"/>
          <p:cNvSpPr txBox="1"/>
          <p:nvPr/>
        </p:nvSpPr>
        <p:spPr>
          <a:xfrm>
            <a:off x="4658258" y="3429000"/>
            <a:ext cx="2875178" cy="9144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Pasa los datos del dashboard a la plataforma, uno por uno.</a:t>
            </a:r>
            <a:endParaRPr lang="en-US" sz="1500" dirty="0"/>
          </a:p>
        </p:txBody>
      </p:sp>
      <p:sp>
        <p:nvSpPr>
          <p:cNvPr id="14" name="Pago 3"/>
          <p:cNvSpPr/>
          <p:nvPr/>
        </p:nvSpPr>
        <p:spPr>
          <a:xfrm>
            <a:off x="8127797" y="1691640"/>
            <a:ext cx="3515258" cy="2834640"/>
          </a:xfrm>
          <a:prstGeom prst="roundRect">
            <a:avLst>
              <a:gd name="adj" fmla="val 4516"/>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5" name="Ícono eye" descr="preencoded.png">    </p:cNvPr>
          <p:cNvPicPr>
            <a:picLocks noChangeAspect="1"/>
          </p:cNvPicPr>
          <p:nvPr/>
        </p:nvPicPr>
        <p:blipFill>
          <a:blip r:embed="rId3"/>
          <a:stretch>
            <a:fillRect/>
          </a:stretch>
        </p:blipFill>
        <p:spPr>
          <a:xfrm>
            <a:off x="8447837" y="2011680"/>
            <a:ext cx="685800" cy="685800"/>
          </a:xfrm>
          <a:prstGeom prst="rect">
            <a:avLst/>
          </a:prstGeom>
        </p:spPr>
      </p:pic>
      <p:sp>
        <p:nvSpPr>
          <p:cNvPr id="16" name="Text 11"/>
          <p:cNvSpPr txBox="1"/>
          <p:nvPr/>
        </p:nvSpPr>
        <p:spPr>
          <a:xfrm>
            <a:off x="10728655" y="2011680"/>
            <a:ext cx="594360" cy="411480"/>
          </a:xfrm>
          <a:prstGeom prst="rect">
            <a:avLst/>
          </a:prstGeom>
          <a:noFill/>
          <a:ln/>
        </p:spPr>
        <p:txBody>
          <a:bodyPr wrap="square" lIns="0" tIns="0" rIns="0" bIns="0" rtlCol="0" anchor="t"/>
          <a:lstStyle/>
          <a:p>
            <a:pPr algn="r" indent="0" marL="0">
              <a:buNone/>
            </a:pPr>
            <a:r>
              <a:rPr lang="en-US" sz="1800" b="1" dirty="0">
                <a:solidFill>
                  <a:schemeClr val="accent5"/>
                </a:solidFill>
                <a:latin typeface="+mj-lt" pitchFamily="34" charset="0"/>
                <a:ea typeface="+mj-lt" pitchFamily="34" charset="-122"/>
                <a:cs typeface="+mj-lt" pitchFamily="34" charset="-120"/>
              </a:rPr>
              <a:t>03</a:t>
            </a:r>
            <a:endParaRPr lang="en-US" sz="1800" dirty="0"/>
          </a:p>
        </p:txBody>
      </p:sp>
      <p:sp>
        <p:nvSpPr>
          <p:cNvPr id="17" name="Text 12"/>
          <p:cNvSpPr txBox="1"/>
          <p:nvPr/>
        </p:nvSpPr>
        <p:spPr>
          <a:xfrm>
            <a:off x="8447837" y="2926080"/>
            <a:ext cx="2875178"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La persona que revisa</a:t>
            </a:r>
            <a:endParaRPr lang="en-US" sz="2000" dirty="0"/>
          </a:p>
        </p:txBody>
      </p:sp>
      <p:sp>
        <p:nvSpPr>
          <p:cNvPr id="18" name="Text 13"/>
          <p:cNvSpPr txBox="1"/>
          <p:nvPr/>
        </p:nvSpPr>
        <p:spPr>
          <a:xfrm>
            <a:off x="8447837" y="3429000"/>
            <a:ext cx="2875178" cy="9144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Confirma que nombre, DNI/RUC, montos y N° de operación coincidan.</a:t>
            </a:r>
            <a:endParaRPr lang="en-US" sz="1500" dirty="0"/>
          </a:p>
        </p:txBody>
      </p:sp>
      <p:sp>
        <p:nvSpPr>
          <p:cNvPr id="19" name="Idea clave"/>
          <p:cNvSpPr/>
          <p:nvPr/>
        </p:nvSpPr>
        <p:spPr>
          <a:xfrm>
            <a:off x="548640" y="4800600"/>
            <a:ext cx="11094415" cy="1234440"/>
          </a:xfrm>
          <a:prstGeom prst="roundRect">
            <a:avLst>
              <a:gd name="adj" fmla="val 10370"/>
            </a:avLst>
          </a:prstGeom>
          <a:solidFill>
            <a:schemeClr val="accent1">
              <a:alpha val="9000"/>
            </a:schemeClr>
          </a:solidFill>
          <a:ln/>
        </p:spPr>
      </p:sp>
      <p:pic>
        <p:nvPicPr>
          <p:cNvPr id="20" name="Ícono spark" descr="preencoded.png">    </p:cNvPr>
          <p:cNvPicPr>
            <a:picLocks noChangeAspect="1"/>
          </p:cNvPicPr>
          <p:nvPr/>
        </p:nvPicPr>
        <p:blipFill>
          <a:blip r:embed="rId4"/>
          <a:stretch>
            <a:fillRect/>
          </a:stretch>
        </p:blipFill>
        <p:spPr>
          <a:xfrm>
            <a:off x="868680" y="5120640"/>
            <a:ext cx="594360" cy="594360"/>
          </a:xfrm>
          <a:prstGeom prst="rect">
            <a:avLst/>
          </a:prstGeom>
        </p:spPr>
      </p:pic>
      <p:sp>
        <p:nvSpPr>
          <p:cNvPr id="21" name="Text 15"/>
          <p:cNvSpPr txBox="1"/>
          <p:nvPr/>
        </p:nvSpPr>
        <p:spPr>
          <a:xfrm>
            <a:off x="1737360" y="4800600"/>
            <a:ext cx="9539935" cy="1234440"/>
          </a:xfrm>
          <a:prstGeom prst="rect">
            <a:avLst/>
          </a:prstGeom>
          <a:noFill/>
          <a:ln/>
        </p:spPr>
        <p:txBody>
          <a:bodyPr wrap="square" lIns="0" tIns="0" rIns="0" bIns="0" rtlCol="0" anchor="ctr"/>
          <a:lstStyle/>
          <a:p>
            <a:pPr indent="0" marL="0">
              <a:buNone/>
            </a:pPr>
            <a:r>
              <a:rPr lang="en-US" sz="1900" b="1" dirty="0">
                <a:solidFill>
                  <a:schemeClr val="tx1"/>
                </a:solidFill>
              </a:rPr>
              <a:t>Si los datos pasan solos de un sistema a otro, desaparece el error de tipeo y, con él, la revisión manual.</a:t>
            </a:r>
            <a:endParaRPr lang="en-US" sz="19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EL PROBLEMA · CAMPAÑAS Y CAJA</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Las campañas y la caja también se manejan a mano</a:t>
            </a:r>
            <a:endParaRPr lang="en-US" sz="3200" dirty="0"/>
          </a:p>
        </p:txBody>
      </p:sp>
      <p:sp>
        <p:nvSpPr>
          <p:cNvPr id="4" name="Problema 1"/>
          <p:cNvSpPr/>
          <p:nvPr/>
        </p:nvSpPr>
        <p:spPr>
          <a:xfrm>
            <a:off x="548640" y="1691640"/>
            <a:ext cx="5410048" cy="1920240"/>
          </a:xfrm>
          <a:prstGeom prst="roundRect">
            <a:avLst>
              <a:gd name="adj" fmla="val 6667"/>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Ícono route" descr="preencoded.png">    </p:cNvPr>
          <p:cNvPicPr>
            <a:picLocks noChangeAspect="1"/>
          </p:cNvPicPr>
          <p:nvPr/>
        </p:nvPicPr>
        <p:blipFill>
          <a:blip r:embed="rId1"/>
          <a:stretch>
            <a:fillRect/>
          </a:stretch>
        </p:blipFill>
        <p:spPr>
          <a:xfrm>
            <a:off x="868680" y="2011680"/>
            <a:ext cx="640080" cy="640080"/>
          </a:xfrm>
          <a:prstGeom prst="rect">
            <a:avLst/>
          </a:prstGeom>
        </p:spPr>
      </p:pic>
      <p:sp>
        <p:nvSpPr>
          <p:cNvPr id="6" name="Text 3"/>
          <p:cNvSpPr txBox="1"/>
          <p:nvPr/>
        </p:nvSpPr>
        <p:spPr>
          <a:xfrm>
            <a:off x="1737360" y="1965960"/>
            <a:ext cx="3901288" cy="73152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No se sabe qué anuncio trajo a cada cliente</a:t>
            </a:r>
            <a:endParaRPr lang="en-US" sz="1800" dirty="0"/>
          </a:p>
        </p:txBody>
      </p:sp>
      <p:sp>
        <p:nvSpPr>
          <p:cNvPr id="7" name="Text 4"/>
          <p:cNvSpPr txBox="1"/>
          <p:nvPr/>
        </p:nvSpPr>
        <p:spPr>
          <a:xfrm>
            <a:off x="1737360" y="2743200"/>
            <a:ext cx="3901288" cy="731520"/>
          </a:xfrm>
          <a:prstGeom prst="rect">
            <a:avLst/>
          </a:prstGeom>
          <a:noFill/>
          <a:ln/>
        </p:spPr>
        <p:txBody>
          <a:bodyPr wrap="square" lIns="0" tIns="0" rIns="0" bIns="0" rtlCol="0" anchor="t"/>
          <a:lstStyle/>
          <a:p>
            <a:pPr indent="0" marL="0">
              <a:buNone/>
            </a:pPr>
            <a:r>
              <a:rPr lang="en-US" sz="1500" dirty="0">
                <a:solidFill>
                  <a:schemeClr val="tx2"/>
                </a:solidFill>
              </a:rPr>
              <a:t>El origen se marca con etiquetas a mano, como «Campaña 22/08/2026».</a:t>
            </a:r>
            <a:endParaRPr lang="en-US" sz="1500" dirty="0"/>
          </a:p>
        </p:txBody>
      </p:sp>
      <p:sp>
        <p:nvSpPr>
          <p:cNvPr id="8" name="Problema 2"/>
          <p:cNvSpPr/>
          <p:nvPr/>
        </p:nvSpPr>
        <p:spPr>
          <a:xfrm>
            <a:off x="6233008" y="1691640"/>
            <a:ext cx="5410048" cy="1920240"/>
          </a:xfrm>
          <a:prstGeom prst="roundRect">
            <a:avLst>
              <a:gd name="adj" fmla="val 6667"/>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9" name="Ícono drop" descr="preencoded.png">    </p:cNvPr>
          <p:cNvPicPr>
            <a:picLocks noChangeAspect="1"/>
          </p:cNvPicPr>
          <p:nvPr/>
        </p:nvPicPr>
        <p:blipFill>
          <a:blip r:embed="rId2"/>
          <a:stretch>
            <a:fillRect/>
          </a:stretch>
        </p:blipFill>
        <p:spPr>
          <a:xfrm>
            <a:off x="6553048" y="2011680"/>
            <a:ext cx="640080" cy="640080"/>
          </a:xfrm>
          <a:prstGeom prst="rect">
            <a:avLst/>
          </a:prstGeom>
        </p:spPr>
      </p:pic>
      <p:sp>
        <p:nvSpPr>
          <p:cNvPr id="10" name="Text 6"/>
          <p:cNvSpPr txBox="1"/>
          <p:nvPr/>
        </p:nvSpPr>
        <p:spPr>
          <a:xfrm>
            <a:off x="7421728" y="1965960"/>
            <a:ext cx="3901288" cy="73152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La liquidez se revisa en un Excel cada hora</a:t>
            </a:r>
            <a:endParaRPr lang="en-US" sz="1800" dirty="0"/>
          </a:p>
        </p:txBody>
      </p:sp>
      <p:sp>
        <p:nvSpPr>
          <p:cNvPr id="11" name="Text 7"/>
          <p:cNvSpPr txBox="1"/>
          <p:nvPr/>
        </p:nvSpPr>
        <p:spPr>
          <a:xfrm>
            <a:off x="7421728" y="2743200"/>
            <a:ext cx="3901288" cy="731520"/>
          </a:xfrm>
          <a:prstGeom prst="rect">
            <a:avLst/>
          </a:prstGeom>
          <a:noFill/>
          <a:ln/>
        </p:spPr>
        <p:txBody>
          <a:bodyPr wrap="square" lIns="0" tIns="0" rIns="0" bIns="0" rtlCol="0" anchor="t"/>
          <a:lstStyle/>
          <a:p>
            <a:pPr indent="0" marL="0">
              <a:buNone/>
            </a:pPr>
            <a:r>
              <a:rPr lang="en-US" sz="1500" dirty="0">
                <a:solidFill>
                  <a:schemeClr val="tx2"/>
                </a:solidFill>
              </a:rPr>
              <a:t>Saldos en soles, reales y dólares, repartidos en varios bancos y sin alertas.</a:t>
            </a:r>
            <a:endParaRPr lang="en-US" sz="1500" dirty="0"/>
          </a:p>
        </p:txBody>
      </p:sp>
      <p:sp>
        <p:nvSpPr>
          <p:cNvPr id="12" name="Problema 3"/>
          <p:cNvSpPr/>
          <p:nvPr/>
        </p:nvSpPr>
        <p:spPr>
          <a:xfrm>
            <a:off x="548640" y="3886200"/>
            <a:ext cx="5410048" cy="1920240"/>
          </a:xfrm>
          <a:prstGeom prst="roundRect">
            <a:avLst>
              <a:gd name="adj" fmla="val 6667"/>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3" name="Ícono book" descr="preencoded.png">    </p:cNvPr>
          <p:cNvPicPr>
            <a:picLocks noChangeAspect="1"/>
          </p:cNvPicPr>
          <p:nvPr/>
        </p:nvPicPr>
        <p:blipFill>
          <a:blip r:embed="rId3"/>
          <a:stretch>
            <a:fillRect/>
          </a:stretch>
        </p:blipFill>
        <p:spPr>
          <a:xfrm>
            <a:off x="868680" y="4206240"/>
            <a:ext cx="640080" cy="640080"/>
          </a:xfrm>
          <a:prstGeom prst="rect">
            <a:avLst/>
          </a:prstGeom>
        </p:spPr>
      </p:pic>
      <p:sp>
        <p:nvSpPr>
          <p:cNvPr id="14" name="Text 9"/>
          <p:cNvSpPr txBox="1"/>
          <p:nvPr/>
        </p:nvSpPr>
        <p:spPr>
          <a:xfrm>
            <a:off x="1737360" y="4160520"/>
            <a:ext cx="3901288" cy="73152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Solo se registran las ventas que cierran</a:t>
            </a:r>
            <a:endParaRPr lang="en-US" sz="1800" dirty="0"/>
          </a:p>
        </p:txBody>
      </p:sp>
      <p:sp>
        <p:nvSpPr>
          <p:cNvPr id="15" name="Text 10"/>
          <p:cNvSpPr txBox="1"/>
          <p:nvPr/>
        </p:nvSpPr>
        <p:spPr>
          <a:xfrm>
            <a:off x="1737360" y="4937760"/>
            <a:ext cx="3901288" cy="731520"/>
          </a:xfrm>
          <a:prstGeom prst="rect">
            <a:avLst/>
          </a:prstGeom>
          <a:noFill/>
          <a:ln/>
        </p:spPr>
        <p:txBody>
          <a:bodyPr wrap="square" lIns="0" tIns="0" rIns="0" bIns="0" rtlCol="0" anchor="t"/>
          <a:lstStyle/>
          <a:p>
            <a:pPr indent="0" marL="0">
              <a:buNone/>
            </a:pPr>
            <a:r>
              <a:rPr lang="en-US" sz="1500" dirty="0">
                <a:solidFill>
                  <a:schemeClr val="tx2"/>
                </a:solidFill>
              </a:rPr>
              <a:t>Las cotizaciones que no se concretan se pierden, y con ellas el seguimiento.</a:t>
            </a:r>
            <a:endParaRPr lang="en-US" sz="1500" dirty="0"/>
          </a:p>
        </p:txBody>
      </p:sp>
      <p:sp>
        <p:nvSpPr>
          <p:cNvPr id="16" name="Problema 4"/>
          <p:cNvSpPr/>
          <p:nvPr/>
        </p:nvSpPr>
        <p:spPr>
          <a:xfrm>
            <a:off x="6233008" y="3886200"/>
            <a:ext cx="5410048" cy="1920240"/>
          </a:xfrm>
          <a:prstGeom prst="roundRect">
            <a:avLst>
              <a:gd name="adj" fmla="val 6667"/>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7" name="Ícono lens" descr="preencoded.png">    </p:cNvPr>
          <p:cNvPicPr>
            <a:picLocks noChangeAspect="1"/>
          </p:cNvPicPr>
          <p:nvPr/>
        </p:nvPicPr>
        <p:blipFill>
          <a:blip r:embed="rId4"/>
          <a:stretch>
            <a:fillRect/>
          </a:stretch>
        </p:blipFill>
        <p:spPr>
          <a:xfrm>
            <a:off x="6553048" y="4206240"/>
            <a:ext cx="640080" cy="640080"/>
          </a:xfrm>
          <a:prstGeom prst="rect">
            <a:avLst/>
          </a:prstGeom>
        </p:spPr>
      </p:pic>
      <p:sp>
        <p:nvSpPr>
          <p:cNvPr id="18" name="Text 12"/>
          <p:cNvSpPr txBox="1"/>
          <p:nvPr/>
        </p:nvSpPr>
        <p:spPr>
          <a:xfrm>
            <a:off x="7421728" y="4160520"/>
            <a:ext cx="3901288" cy="73152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Muchos leads creen que Brasper presta dinero</a:t>
            </a:r>
            <a:endParaRPr lang="en-US" sz="1800" dirty="0"/>
          </a:p>
        </p:txBody>
      </p:sp>
      <p:sp>
        <p:nvSpPr>
          <p:cNvPr id="19" name="Text 13"/>
          <p:cNvSpPr txBox="1"/>
          <p:nvPr/>
        </p:nvSpPr>
        <p:spPr>
          <a:xfrm>
            <a:off x="7421728" y="4937760"/>
            <a:ext cx="3901288" cy="731520"/>
          </a:xfrm>
          <a:prstGeom prst="rect">
            <a:avLst/>
          </a:prstGeom>
          <a:noFill/>
          <a:ln/>
        </p:spPr>
        <p:txBody>
          <a:bodyPr wrap="square" lIns="0" tIns="0" rIns="0" bIns="0" rtlCol="0" anchor="t"/>
          <a:lstStyle/>
          <a:p>
            <a:pPr indent="0" marL="0">
              <a:buNone/>
            </a:pPr>
            <a:r>
              <a:rPr lang="en-US" sz="1500" dirty="0">
                <a:solidFill>
                  <a:schemeClr val="tx2"/>
                </a:solidFill>
              </a:rPr>
              <a:t>El texto de algunos anuncios atrae a quien busca un crédito, no una remesa.</a:t>
            </a:r>
            <a:endParaRPr lang="en-US" sz="15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LAS REGLAS DEL JUEGO</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La solución no podía tocar su base de datos</a:t>
            </a:r>
            <a:endParaRPr lang="en-US" sz="3200" dirty="0"/>
          </a:p>
        </p:txBody>
      </p:sp>
      <p:sp>
        <p:nvSpPr>
          <p:cNvPr id="4" name="Cita de Brasper"/>
          <p:cNvSpPr/>
          <p:nvPr/>
        </p:nvSpPr>
        <p:spPr>
          <a:xfrm>
            <a:off x="548640" y="1691640"/>
            <a:ext cx="4892040" cy="4343400"/>
          </a:xfrm>
          <a:prstGeom prst="roundRect">
            <a:avLst>
              <a:gd name="adj" fmla="val 2947"/>
            </a:avLst>
          </a:prstGeom>
          <a:solidFill>
            <a:schemeClr val="tx1"/>
          </a:solidFill>
          <a:ln/>
        </p:spPr>
      </p:sp>
      <p:sp>
        <p:nvSpPr>
          <p:cNvPr id="5" name="Text 3"/>
          <p:cNvSpPr txBox="1"/>
          <p:nvPr/>
        </p:nvSpPr>
        <p:spPr>
          <a:xfrm>
            <a:off x="960120" y="1828800"/>
            <a:ext cx="1371600" cy="1188720"/>
          </a:xfrm>
          <a:prstGeom prst="rect">
            <a:avLst/>
          </a:prstGeom>
          <a:noFill/>
          <a:ln/>
        </p:spPr>
        <p:txBody>
          <a:bodyPr wrap="square" lIns="0" tIns="0" rIns="0" bIns="0" rtlCol="0" anchor="t"/>
          <a:lstStyle/>
          <a:p>
            <a:pPr indent="0" marL="0">
              <a:buNone/>
            </a:pPr>
            <a:r>
              <a:rPr lang="en-US" sz="11000" b="1" dirty="0">
                <a:solidFill>
                  <a:schemeClr val="accent2"/>
                </a:solidFill>
                <a:latin typeface="+mj-lt" pitchFamily="34" charset="0"/>
                <a:ea typeface="+mj-lt" pitchFamily="34" charset="-122"/>
                <a:cs typeface="+mj-lt" pitchFamily="34" charset="-120"/>
              </a:rPr>
              <a:t>“</a:t>
            </a:r>
            <a:endParaRPr lang="en-US" sz="11000" dirty="0"/>
          </a:p>
        </p:txBody>
      </p:sp>
      <p:sp>
        <p:nvSpPr>
          <p:cNvPr id="6" name="Text 4"/>
          <p:cNvSpPr txBox="1"/>
          <p:nvPr/>
        </p:nvSpPr>
        <p:spPr>
          <a:xfrm>
            <a:off x="960120" y="2971800"/>
            <a:ext cx="4069080" cy="1463040"/>
          </a:xfrm>
          <a:prstGeom prst="rect">
            <a:avLst/>
          </a:prstGeom>
          <a:noFill/>
          <a:ln/>
        </p:spPr>
        <p:txBody>
          <a:bodyPr wrap="square" lIns="0" tIns="0" rIns="0" bIns="0" rtlCol="0" anchor="t"/>
          <a:lstStyle/>
          <a:p>
            <a:pPr indent="0" marL="0">
              <a:buNone/>
            </a:pPr>
            <a:r>
              <a:rPr lang="en-US" sz="3400" b="1" dirty="0">
                <a:solidFill>
                  <a:schemeClr val="bg1"/>
                </a:solidFill>
                <a:latin typeface="+mj-lt" pitchFamily="34" charset="0"/>
                <a:ea typeface="+mj-lt" pitchFamily="34" charset="-122"/>
                <a:cs typeface="+mj-lt" pitchFamily="34" charset="-120"/>
              </a:rPr>
              <a:t>Nuestra API son las personas.</a:t>
            </a:r>
            <a:endParaRPr lang="en-US" sz="3400" dirty="0"/>
          </a:p>
        </p:txBody>
      </p:sp>
      <p:sp>
        <p:nvSpPr>
          <p:cNvPr id="7" name="Text 5"/>
          <p:cNvSpPr txBox="1"/>
          <p:nvPr/>
        </p:nvSpPr>
        <p:spPr>
          <a:xfrm>
            <a:off x="960120" y="4709160"/>
            <a:ext cx="4069080" cy="822960"/>
          </a:xfrm>
          <a:prstGeom prst="rect">
            <a:avLst/>
          </a:prstGeom>
          <a:noFill/>
          <a:ln/>
        </p:spPr>
        <p:txBody>
          <a:bodyPr wrap="square" lIns="0" tIns="0" rIns="0" bIns="0" rtlCol="0" anchor="t"/>
          <a:lstStyle/>
          <a:p>
            <a:pPr indent="0" marL="0">
              <a:buNone/>
            </a:pPr>
            <a:r>
              <a:rPr lang="en-US" sz="1500" dirty="0">
                <a:solidFill>
                  <a:schemeClr val="bg2"/>
                </a:solidFill>
              </a:rPr>
              <a:t>Brasper, cuando le pedimos acceso a su base de datos y a su API.</a:t>
            </a:r>
            <a:endParaRPr lang="en-US" sz="1500" dirty="0"/>
          </a:p>
        </p:txBody>
      </p:sp>
      <p:sp>
        <p:nvSpPr>
          <p:cNvPr id="8" name="Regla Solo la interfaz"/>
          <p:cNvSpPr/>
          <p:nvPr/>
        </p:nvSpPr>
        <p:spPr>
          <a:xfrm>
            <a:off x="5715000" y="1691640"/>
            <a:ext cx="5928055"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9" name="Ícono lock" descr="preencoded.png">    </p:cNvPr>
          <p:cNvPicPr>
            <a:picLocks noChangeAspect="1"/>
          </p:cNvPicPr>
          <p:nvPr/>
        </p:nvPicPr>
        <p:blipFill>
          <a:blip r:embed="rId1"/>
          <a:stretch>
            <a:fillRect/>
          </a:stretch>
        </p:blipFill>
        <p:spPr>
          <a:xfrm>
            <a:off x="5989320" y="2057400"/>
            <a:ext cx="594360" cy="594360"/>
          </a:xfrm>
          <a:prstGeom prst="rect">
            <a:avLst/>
          </a:prstGeom>
        </p:spPr>
      </p:pic>
      <p:sp>
        <p:nvSpPr>
          <p:cNvPr id="10" name="Text 7"/>
          <p:cNvSpPr txBox="1"/>
          <p:nvPr/>
        </p:nvSpPr>
        <p:spPr>
          <a:xfrm>
            <a:off x="6812280" y="1892808"/>
            <a:ext cx="4556455"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Solo la interfaz</a:t>
            </a:r>
            <a:endParaRPr lang="en-US" sz="1700" dirty="0"/>
          </a:p>
        </p:txBody>
      </p:sp>
      <p:sp>
        <p:nvSpPr>
          <p:cNvPr id="11" name="Text 8"/>
          <p:cNvSpPr txBox="1"/>
          <p:nvPr/>
        </p:nvSpPr>
        <p:spPr>
          <a:xfrm>
            <a:off x="6812280" y="2276856"/>
            <a:ext cx="4556455" cy="640080"/>
          </a:xfrm>
          <a:prstGeom prst="rect">
            <a:avLst/>
          </a:prstGeom>
          <a:noFill/>
          <a:ln/>
        </p:spPr>
        <p:txBody>
          <a:bodyPr wrap="square" lIns="0" tIns="0" rIns="0" bIns="0" rtlCol="0" anchor="t"/>
          <a:lstStyle/>
          <a:p>
            <a:pPr indent="0" marL="0">
              <a:buNone/>
            </a:pPr>
            <a:r>
              <a:rPr lang="en-US" sz="1400" dirty="0">
                <a:solidFill>
                  <a:schemeClr val="tx2"/>
                </a:solidFill>
              </a:rPr>
              <a:t>Sin acceso a la base de datos ni a la API: hay que trabajar sobre las mismas pantallas que usa el equipo.</a:t>
            </a:r>
            <a:endParaRPr lang="en-US" sz="1400" dirty="0"/>
          </a:p>
        </p:txBody>
      </p:sp>
      <p:sp>
        <p:nvSpPr>
          <p:cNvPr id="12" name="Regla IA local"/>
          <p:cNvSpPr/>
          <p:nvPr/>
        </p:nvSpPr>
        <p:spPr>
          <a:xfrm>
            <a:off x="5715000" y="3200400"/>
            <a:ext cx="5928055"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3" name="Ícono shield" descr="preencoded.png">    </p:cNvPr>
          <p:cNvPicPr>
            <a:picLocks noChangeAspect="1"/>
          </p:cNvPicPr>
          <p:nvPr/>
        </p:nvPicPr>
        <p:blipFill>
          <a:blip r:embed="rId2"/>
          <a:stretch>
            <a:fillRect/>
          </a:stretch>
        </p:blipFill>
        <p:spPr>
          <a:xfrm>
            <a:off x="5989320" y="3566160"/>
            <a:ext cx="594360" cy="594360"/>
          </a:xfrm>
          <a:prstGeom prst="rect">
            <a:avLst/>
          </a:prstGeom>
        </p:spPr>
      </p:pic>
      <p:sp>
        <p:nvSpPr>
          <p:cNvPr id="14" name="Text 10"/>
          <p:cNvSpPr txBox="1"/>
          <p:nvPr/>
        </p:nvSpPr>
        <p:spPr>
          <a:xfrm>
            <a:off x="6812280" y="3401568"/>
            <a:ext cx="4556455"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IA local</a:t>
            </a:r>
            <a:endParaRPr lang="en-US" sz="1700" dirty="0"/>
          </a:p>
        </p:txBody>
      </p:sp>
      <p:sp>
        <p:nvSpPr>
          <p:cNvPr id="15" name="Text 11"/>
          <p:cNvSpPr txBox="1"/>
          <p:nvPr/>
        </p:nvSpPr>
        <p:spPr>
          <a:xfrm>
            <a:off x="6812280" y="3785616"/>
            <a:ext cx="4556455" cy="640080"/>
          </a:xfrm>
          <a:prstGeom prst="rect">
            <a:avLst/>
          </a:prstGeom>
          <a:noFill/>
          <a:ln/>
        </p:spPr>
        <p:txBody>
          <a:bodyPr wrap="square" lIns="0" tIns="0" rIns="0" bIns="0" rtlCol="0" anchor="t"/>
          <a:lstStyle/>
          <a:p>
            <a:pPr indent="0" marL="0">
              <a:buNone/>
            </a:pPr>
            <a:r>
              <a:rPr lang="en-US" sz="1400" dirty="0">
                <a:solidFill>
                  <a:schemeClr val="tx2"/>
                </a:solidFill>
              </a:rPr>
              <a:t>DNI, cuentas y montos no pueden salir hacia servicios de IA externos.</a:t>
            </a:r>
            <a:endParaRPr lang="en-US" sz="1400" dirty="0"/>
          </a:p>
        </p:txBody>
      </p:sp>
      <p:sp>
        <p:nvSpPr>
          <p:cNvPr id="16" name="Regla Supervisión humana"/>
          <p:cNvSpPr/>
          <p:nvPr/>
        </p:nvSpPr>
        <p:spPr>
          <a:xfrm>
            <a:off x="5715000" y="4709160"/>
            <a:ext cx="5928055"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7" name="Ícono users" descr="preencoded.png">    </p:cNvPr>
          <p:cNvPicPr>
            <a:picLocks noChangeAspect="1"/>
          </p:cNvPicPr>
          <p:nvPr/>
        </p:nvPicPr>
        <p:blipFill>
          <a:blip r:embed="rId3"/>
          <a:stretch>
            <a:fillRect/>
          </a:stretch>
        </p:blipFill>
        <p:spPr>
          <a:xfrm>
            <a:off x="5989320" y="5074920"/>
            <a:ext cx="594360" cy="594360"/>
          </a:xfrm>
          <a:prstGeom prst="rect">
            <a:avLst/>
          </a:prstGeom>
        </p:spPr>
      </p:pic>
      <p:sp>
        <p:nvSpPr>
          <p:cNvPr id="18" name="Text 13"/>
          <p:cNvSpPr txBox="1"/>
          <p:nvPr/>
        </p:nvSpPr>
        <p:spPr>
          <a:xfrm>
            <a:off x="6812280" y="4910328"/>
            <a:ext cx="4556455"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Supervisión humana</a:t>
            </a:r>
            <a:endParaRPr lang="en-US" sz="1700" dirty="0"/>
          </a:p>
        </p:txBody>
      </p:sp>
      <p:sp>
        <p:nvSpPr>
          <p:cNvPr id="19" name="Text 14"/>
          <p:cNvSpPr txBox="1"/>
          <p:nvPr/>
        </p:nvSpPr>
        <p:spPr>
          <a:xfrm>
            <a:off x="6812280" y="5294376"/>
            <a:ext cx="4556455" cy="640080"/>
          </a:xfrm>
          <a:prstGeom prst="rect">
            <a:avLst/>
          </a:prstGeom>
          <a:noFill/>
          <a:ln/>
        </p:spPr>
        <p:txBody>
          <a:bodyPr wrap="square" lIns="0" tIns="0" rIns="0" bIns="0" rtlCol="0" anchor="t"/>
          <a:lstStyle/>
          <a:p>
            <a:pPr indent="0" marL="0">
              <a:buNone/>
            </a:pPr>
            <a:r>
              <a:rPr lang="en-US" sz="1400" dirty="0">
                <a:solidFill>
                  <a:schemeClr val="tx2"/>
                </a:solidFill>
              </a:rPr>
              <a:t>El reglamento de IA (D.S. 115-2025-PCM) la exige, y en finanzas la transparencia algorítmica ya aplica.</a:t>
            </a:r>
            <a:endParaRPr lang="en-US" sz="14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LA SOLUCIÓN</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Dos soluciones, un mismo objetivo: cero tipeo</a:t>
            </a:r>
            <a:endParaRPr lang="en-US" sz="3200" dirty="0"/>
          </a:p>
        </p:txBody>
      </p:sp>
      <p:sp>
        <p:nvSpPr>
          <p:cNvPr id="4" name="Solución 1 · RPA de facturación"/>
          <p:cNvSpPr/>
          <p:nvPr/>
        </p:nvSpPr>
        <p:spPr>
          <a:xfrm>
            <a:off x="548640" y="1691640"/>
            <a:ext cx="5410048" cy="4389120"/>
          </a:xfrm>
          <a:prstGeom prst="roundRect">
            <a:avLst>
              <a:gd name="adj" fmla="val 2917"/>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Captura Solución 1 · RPA de facturación" descr="Solución 1 · RPA de facturación">    </p:cNvPr>
          <p:cNvPicPr>
            <a:picLocks noChangeAspect="1"/>
          </p:cNvPicPr>
          <p:nvPr/>
        </p:nvPicPr>
        <p:blipFill>
          <a:blip r:embed="rId1"/>
          <a:stretch>
            <a:fillRect/>
          </a:stretch>
        </p:blipFill>
        <p:spPr>
          <a:xfrm>
            <a:off x="731520" y="1874520"/>
            <a:ext cx="5044288" cy="2193817"/>
          </a:xfrm>
          <a:prstGeom prst="rect">
            <a:avLst/>
          </a:prstGeom>
        </p:spPr>
      </p:pic>
      <p:pic>
        <p:nvPicPr>
          <p:cNvPr id="6" name="Ícono bot" descr="preencoded.png">    </p:cNvPr>
          <p:cNvPicPr>
            <a:picLocks noChangeAspect="1"/>
          </p:cNvPicPr>
          <p:nvPr/>
        </p:nvPicPr>
        <p:blipFill>
          <a:blip r:embed="rId2"/>
          <a:stretch>
            <a:fillRect/>
          </a:stretch>
        </p:blipFill>
        <p:spPr>
          <a:xfrm>
            <a:off x="822960" y="4206240"/>
            <a:ext cx="548640" cy="548640"/>
          </a:xfrm>
          <a:prstGeom prst="rect">
            <a:avLst/>
          </a:prstGeom>
        </p:spPr>
      </p:pic>
      <p:sp>
        <p:nvSpPr>
          <p:cNvPr id="7" name="Text 3"/>
          <p:cNvSpPr txBox="1"/>
          <p:nvPr/>
        </p:nvSpPr>
        <p:spPr>
          <a:xfrm>
            <a:off x="1508760" y="4206240"/>
            <a:ext cx="4221328" cy="54864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Solución 1 · RPA de facturación</a:t>
            </a:r>
            <a:endParaRPr lang="en-US" sz="1900" dirty="0"/>
          </a:p>
        </p:txBody>
      </p:sp>
      <p:sp>
        <p:nvSpPr>
          <p:cNvPr id="8" name="Text 4"/>
          <p:cNvSpPr txBox="1"/>
          <p:nvPr/>
        </p:nvSpPr>
        <p:spPr>
          <a:xfrm>
            <a:off x="822960" y="4864608"/>
            <a:ext cx="4861408" cy="685800"/>
          </a:xfrm>
          <a:prstGeom prst="rect">
            <a:avLst/>
          </a:prstGeom>
          <a:noFill/>
          <a:ln/>
        </p:spPr>
        <p:txBody>
          <a:bodyPr wrap="square" lIns="0" tIns="0" rIns="0" bIns="0" rtlCol="0" anchor="t"/>
          <a:lstStyle/>
          <a:p>
            <a:pPr indent="0" marL="0">
              <a:buNone/>
            </a:pPr>
            <a:r>
              <a:rPr lang="en-US" sz="1500" dirty="0">
                <a:solidFill>
                  <a:schemeClr val="tx2"/>
                </a:solidFill>
              </a:rPr>
              <a:t>Un robot lee el dashboard, llena KeyFácil u Omie, emite el comprobante y valida el PDF con IA.</a:t>
            </a:r>
            <a:endParaRPr lang="en-US" sz="1500" dirty="0"/>
          </a:p>
        </p:txBody>
      </p:sp>
      <p:pic>
        <p:nvPicPr>
          <p:cNvPr id="9" name="Ícono check" descr="preencoded.png">    </p:cNvPr>
          <p:cNvPicPr>
            <a:picLocks noChangeAspect="1"/>
          </p:cNvPicPr>
          <p:nvPr/>
        </p:nvPicPr>
        <p:blipFill>
          <a:blip r:embed="rId3"/>
          <a:stretch>
            <a:fillRect/>
          </a:stretch>
        </p:blipFill>
        <p:spPr>
          <a:xfrm>
            <a:off x="822960" y="5623560"/>
            <a:ext cx="292608" cy="292608"/>
          </a:xfrm>
          <a:prstGeom prst="rect">
            <a:avLst/>
          </a:prstGeom>
        </p:spPr>
      </p:pic>
      <p:sp>
        <p:nvSpPr>
          <p:cNvPr id="10" name="Text 5"/>
          <p:cNvSpPr txBox="1"/>
          <p:nvPr/>
        </p:nvSpPr>
        <p:spPr>
          <a:xfrm>
            <a:off x="1234440" y="5623560"/>
            <a:ext cx="4495648" cy="292608"/>
          </a:xfrm>
          <a:prstGeom prst="rect">
            <a:avLst/>
          </a:prstGeom>
          <a:noFill/>
          <a:ln/>
        </p:spPr>
        <p:txBody>
          <a:bodyPr wrap="square" lIns="0" tIns="0" rIns="0" bIns="0" rtlCol="0" anchor="ctr"/>
          <a:lstStyle/>
          <a:p>
            <a:pPr indent="0" marL="0">
              <a:buNone/>
            </a:pPr>
            <a:r>
              <a:rPr lang="en-US" sz="1400" b="1" dirty="0">
                <a:solidFill>
                  <a:schemeClr val="tx1"/>
                </a:solidFill>
              </a:rPr>
              <a:t>Elimina el tipeo y la revisión de cada operación</a:t>
            </a:r>
            <a:endParaRPr lang="en-US" sz="1400" dirty="0"/>
          </a:p>
        </p:txBody>
      </p:sp>
      <p:sp>
        <p:nvSpPr>
          <p:cNvPr id="11" name="Solución 2 · ARM con agentes IA"/>
          <p:cNvSpPr/>
          <p:nvPr/>
        </p:nvSpPr>
        <p:spPr>
          <a:xfrm>
            <a:off x="6233008" y="1691640"/>
            <a:ext cx="5410048" cy="4389120"/>
          </a:xfrm>
          <a:prstGeom prst="roundRect">
            <a:avLst>
              <a:gd name="adj" fmla="val 2917"/>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2" name="Captura Solución 2 · ARM con agentes IA" descr="Solución 2 · ARM con agentes IA">    </p:cNvPr>
          <p:cNvPicPr>
            <a:picLocks noChangeAspect="1"/>
          </p:cNvPicPr>
          <p:nvPr/>
        </p:nvPicPr>
        <p:blipFill>
          <a:blip r:embed="rId4"/>
          <a:stretch>
            <a:fillRect/>
          </a:stretch>
        </p:blipFill>
        <p:spPr>
          <a:xfrm>
            <a:off x="6415888" y="1874520"/>
            <a:ext cx="5044288" cy="2193679"/>
          </a:xfrm>
          <a:prstGeom prst="rect">
            <a:avLst/>
          </a:prstGeom>
        </p:spPr>
      </p:pic>
      <p:pic>
        <p:nvPicPr>
          <p:cNvPr id="13" name="Ícono spark" descr="preencoded.png">    </p:cNvPr>
          <p:cNvPicPr>
            <a:picLocks noChangeAspect="1"/>
          </p:cNvPicPr>
          <p:nvPr/>
        </p:nvPicPr>
        <p:blipFill>
          <a:blip r:embed="rId5"/>
          <a:stretch>
            <a:fillRect/>
          </a:stretch>
        </p:blipFill>
        <p:spPr>
          <a:xfrm>
            <a:off x="6507328" y="4206240"/>
            <a:ext cx="548640" cy="548640"/>
          </a:xfrm>
          <a:prstGeom prst="rect">
            <a:avLst/>
          </a:prstGeom>
        </p:spPr>
      </p:pic>
      <p:sp>
        <p:nvSpPr>
          <p:cNvPr id="14" name="Text 7"/>
          <p:cNvSpPr txBox="1"/>
          <p:nvPr/>
        </p:nvSpPr>
        <p:spPr>
          <a:xfrm>
            <a:off x="7193128" y="4206240"/>
            <a:ext cx="4221328" cy="548640"/>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Solución 2 · ARM con agentes IA</a:t>
            </a:r>
            <a:endParaRPr lang="en-US" sz="1900" dirty="0"/>
          </a:p>
        </p:txBody>
      </p:sp>
      <p:sp>
        <p:nvSpPr>
          <p:cNvPr id="15" name="Text 8"/>
          <p:cNvSpPr txBox="1"/>
          <p:nvPr/>
        </p:nvSpPr>
        <p:spPr>
          <a:xfrm>
            <a:off x="6507328" y="4864608"/>
            <a:ext cx="4861408" cy="685800"/>
          </a:xfrm>
          <a:prstGeom prst="rect">
            <a:avLst/>
          </a:prstGeom>
          <a:noFill/>
          <a:ln/>
        </p:spPr>
        <p:txBody>
          <a:bodyPr wrap="square" lIns="0" tIns="0" rIns="0" bIns="0" rtlCol="0" anchor="t"/>
          <a:lstStyle/>
          <a:p>
            <a:pPr indent="0" marL="0">
              <a:buNone/>
            </a:pPr>
            <a:r>
              <a:rPr lang="en-US" sz="1500" dirty="0">
                <a:solidFill>
                  <a:schemeClr val="tx2"/>
                </a:solidFill>
              </a:rPr>
              <a:t>ARM (Agentic Relationship Management): seis agentes y un Copiloto unen campañas, clientes, operaciones y caja.</a:t>
            </a:r>
            <a:endParaRPr lang="en-US" sz="1500" dirty="0"/>
          </a:p>
        </p:txBody>
      </p:sp>
      <p:pic>
        <p:nvPicPr>
          <p:cNvPr id="16" name="Ícono check" descr="preencoded.png">    </p:cNvPr>
          <p:cNvPicPr>
            <a:picLocks noChangeAspect="1"/>
          </p:cNvPicPr>
          <p:nvPr/>
        </p:nvPicPr>
        <p:blipFill>
          <a:blip r:embed="rId6"/>
          <a:stretch>
            <a:fillRect/>
          </a:stretch>
        </p:blipFill>
        <p:spPr>
          <a:xfrm>
            <a:off x="6507328" y="5623560"/>
            <a:ext cx="292608" cy="292608"/>
          </a:xfrm>
          <a:prstGeom prst="rect">
            <a:avLst/>
          </a:prstGeom>
        </p:spPr>
      </p:pic>
      <p:sp>
        <p:nvSpPr>
          <p:cNvPr id="17" name="Text 9"/>
          <p:cNvSpPr txBox="1"/>
          <p:nvPr/>
        </p:nvSpPr>
        <p:spPr>
          <a:xfrm>
            <a:off x="6918808" y="5623560"/>
            <a:ext cx="4495648" cy="292608"/>
          </a:xfrm>
          <a:prstGeom prst="rect">
            <a:avLst/>
          </a:prstGeom>
          <a:noFill/>
          <a:ln/>
        </p:spPr>
        <p:txBody>
          <a:bodyPr wrap="square" lIns="0" tIns="0" rIns="0" bIns="0" rtlCol="0" anchor="ctr"/>
          <a:lstStyle/>
          <a:p>
            <a:pPr indent="0" marL="0">
              <a:buNone/>
            </a:pPr>
            <a:r>
              <a:rPr lang="en-US" sz="1400" b="1" dirty="0">
                <a:solidFill>
                  <a:schemeClr val="tx1"/>
                </a:solidFill>
              </a:rPr>
              <a:t>Convierte los datos que ya existen en decisiones</a:t>
            </a:r>
            <a:endParaRPr lang="en-US" sz="14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SOLUCIÓN 1 · RPA DE FACTURACIÓN</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El robot factura como lo haría el contador</a:t>
            </a:r>
            <a:endParaRPr lang="en-US" sz="3200" dirty="0"/>
          </a:p>
        </p:txBody>
      </p:sp>
      <p:pic>
        <p:nvPicPr>
          <p:cNvPr id="4" name="Ícono file" descr="preencoded.png">    </p:cNvPr>
          <p:cNvPicPr>
            <a:picLocks noChangeAspect="1"/>
          </p:cNvPicPr>
          <p:nvPr/>
        </p:nvPicPr>
        <p:blipFill>
          <a:blip r:embed="rId1"/>
          <a:stretch>
            <a:fillRect/>
          </a:stretch>
        </p:blipFill>
        <p:spPr>
          <a:xfrm>
            <a:off x="548640" y="1828800"/>
            <a:ext cx="822960" cy="822960"/>
          </a:xfrm>
          <a:prstGeom prst="rect">
            <a:avLst/>
          </a:prstGeom>
        </p:spPr>
      </p:pic>
      <p:sp>
        <p:nvSpPr>
          <p:cNvPr id="5" name="Número 1"/>
          <p:cNvSpPr/>
          <p:nvPr/>
        </p:nvSpPr>
        <p:spPr>
          <a:xfrm>
            <a:off x="1188720" y="1691640"/>
            <a:ext cx="329184" cy="329184"/>
          </a:xfrm>
          <a:prstGeom prst="ellipse">
            <a:avLst/>
          </a:prstGeom>
          <a:solidFill>
            <a:schemeClr val="accent1"/>
          </a:solidFill>
          <a:ln w="25400">
            <a:solidFill>
              <a:schemeClr val="bg1"/>
            </a:solidFill>
            <a:prstDash val="solid"/>
          </a:ln>
        </p:spPr>
      </p:sp>
      <p:sp>
        <p:nvSpPr>
          <p:cNvPr id="6" name="Text 3"/>
          <p:cNvSpPr txBox="1"/>
          <p:nvPr/>
        </p:nvSpPr>
        <p:spPr>
          <a:xfrm>
            <a:off x="1188720" y="1691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1</a:t>
            </a:r>
            <a:endParaRPr lang="en-US" sz="1200" dirty="0"/>
          </a:p>
        </p:txBody>
      </p:sp>
      <p:sp>
        <p:nvSpPr>
          <p:cNvPr id="7" name="Flecha paso 1"/>
          <p:cNvSpPr/>
          <p:nvPr/>
        </p:nvSpPr>
        <p:spPr>
          <a:xfrm>
            <a:off x="1481328" y="2240280"/>
            <a:ext cx="844753" cy="0"/>
          </a:xfrm>
          <a:prstGeom prst="line">
            <a:avLst/>
          </a:prstGeom>
          <a:noFill/>
          <a:ln w="22225">
            <a:solidFill>
              <a:schemeClr val="tx2">
                <a:alpha val="60000"/>
              </a:schemeClr>
            </a:solidFill>
            <a:prstDash val="solid"/>
            <a:tailEnd type="triangle"/>
          </a:ln>
        </p:spPr>
      </p:sp>
      <p:sp>
        <p:nvSpPr>
          <p:cNvPr id="8" name="Text 5"/>
          <p:cNvSpPr txBox="1"/>
          <p:nvPr/>
        </p:nvSpPr>
        <p:spPr>
          <a:xfrm>
            <a:off x="548640" y="2880360"/>
            <a:ext cx="1658569" cy="38404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Lee la fila</a:t>
            </a:r>
            <a:endParaRPr lang="en-US" sz="1700" dirty="0"/>
          </a:p>
        </p:txBody>
      </p:sp>
      <p:sp>
        <p:nvSpPr>
          <p:cNvPr id="9" name="Text 6"/>
          <p:cNvSpPr txBox="1"/>
          <p:nvPr/>
        </p:nvSpPr>
        <p:spPr>
          <a:xfrm>
            <a:off x="548640" y="3337560"/>
            <a:ext cx="1612849" cy="13716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Toma 13 datos de la vista Contabilidad del dashboard.</a:t>
            </a:r>
            <a:endParaRPr lang="en-US" sz="1500" dirty="0"/>
          </a:p>
        </p:txBody>
      </p:sp>
      <p:pic>
        <p:nvPicPr>
          <p:cNvPr id="10" name="Ícono check" descr="preencoded.png">    </p:cNvPr>
          <p:cNvPicPr>
            <a:picLocks noChangeAspect="1"/>
          </p:cNvPicPr>
          <p:nvPr/>
        </p:nvPicPr>
        <p:blipFill>
          <a:blip r:embed="rId2"/>
          <a:stretch>
            <a:fillRect/>
          </a:stretch>
        </p:blipFill>
        <p:spPr>
          <a:xfrm>
            <a:off x="2435809" y="1828800"/>
            <a:ext cx="822960" cy="822960"/>
          </a:xfrm>
          <a:prstGeom prst="rect">
            <a:avLst/>
          </a:prstGeom>
        </p:spPr>
      </p:pic>
      <p:sp>
        <p:nvSpPr>
          <p:cNvPr id="11" name="Número 2"/>
          <p:cNvSpPr/>
          <p:nvPr/>
        </p:nvSpPr>
        <p:spPr>
          <a:xfrm>
            <a:off x="3075889" y="1691640"/>
            <a:ext cx="329184" cy="329184"/>
          </a:xfrm>
          <a:prstGeom prst="ellipse">
            <a:avLst/>
          </a:prstGeom>
          <a:solidFill>
            <a:schemeClr val="accent1"/>
          </a:solidFill>
          <a:ln w="25400">
            <a:solidFill>
              <a:schemeClr val="bg1"/>
            </a:solidFill>
            <a:prstDash val="solid"/>
          </a:ln>
        </p:spPr>
      </p:sp>
      <p:sp>
        <p:nvSpPr>
          <p:cNvPr id="12" name="Text 8"/>
          <p:cNvSpPr txBox="1"/>
          <p:nvPr/>
        </p:nvSpPr>
        <p:spPr>
          <a:xfrm>
            <a:off x="3075889" y="1691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2</a:t>
            </a:r>
            <a:endParaRPr lang="en-US" sz="1200" dirty="0"/>
          </a:p>
        </p:txBody>
      </p:sp>
      <p:sp>
        <p:nvSpPr>
          <p:cNvPr id="13" name="Flecha paso 2"/>
          <p:cNvSpPr/>
          <p:nvPr/>
        </p:nvSpPr>
        <p:spPr>
          <a:xfrm>
            <a:off x="3368497" y="2240280"/>
            <a:ext cx="844753" cy="0"/>
          </a:xfrm>
          <a:prstGeom prst="line">
            <a:avLst/>
          </a:prstGeom>
          <a:noFill/>
          <a:ln w="22225">
            <a:solidFill>
              <a:schemeClr val="tx2">
                <a:alpha val="60000"/>
              </a:schemeClr>
            </a:solidFill>
            <a:prstDash val="solid"/>
            <a:tailEnd type="triangle"/>
          </a:ln>
        </p:spPr>
      </p:sp>
      <p:sp>
        <p:nvSpPr>
          <p:cNvPr id="14" name="Text 10"/>
          <p:cNvSpPr txBox="1"/>
          <p:nvPr/>
        </p:nvSpPr>
        <p:spPr>
          <a:xfrm>
            <a:off x="2435809" y="2880360"/>
            <a:ext cx="1658569" cy="38404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Valida reglas</a:t>
            </a:r>
            <a:endParaRPr lang="en-US" sz="1700" dirty="0"/>
          </a:p>
        </p:txBody>
      </p:sp>
      <p:sp>
        <p:nvSpPr>
          <p:cNvPr id="15" name="Text 11"/>
          <p:cNvSpPr txBox="1"/>
          <p:nvPr/>
        </p:nvSpPr>
        <p:spPr>
          <a:xfrm>
            <a:off x="2435809" y="3337560"/>
            <a:ext cx="1612849" cy="13716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Boleta o factura, IGV de 18 % y que la venta final cuadre.</a:t>
            </a:r>
            <a:endParaRPr lang="en-US" sz="1500" dirty="0"/>
          </a:p>
        </p:txBody>
      </p:sp>
      <p:pic>
        <p:nvPicPr>
          <p:cNvPr id="16" name="Ícono route" descr="preencoded.png">    </p:cNvPr>
          <p:cNvPicPr>
            <a:picLocks noChangeAspect="1"/>
          </p:cNvPicPr>
          <p:nvPr/>
        </p:nvPicPr>
        <p:blipFill>
          <a:blip r:embed="rId3"/>
          <a:stretch>
            <a:fillRect/>
          </a:stretch>
        </p:blipFill>
        <p:spPr>
          <a:xfrm>
            <a:off x="4322978" y="1828800"/>
            <a:ext cx="822960" cy="822960"/>
          </a:xfrm>
          <a:prstGeom prst="rect">
            <a:avLst/>
          </a:prstGeom>
        </p:spPr>
      </p:pic>
      <p:sp>
        <p:nvSpPr>
          <p:cNvPr id="17" name="Número 3"/>
          <p:cNvSpPr/>
          <p:nvPr/>
        </p:nvSpPr>
        <p:spPr>
          <a:xfrm>
            <a:off x="4963058" y="1691640"/>
            <a:ext cx="329184" cy="329184"/>
          </a:xfrm>
          <a:prstGeom prst="ellipse">
            <a:avLst/>
          </a:prstGeom>
          <a:solidFill>
            <a:schemeClr val="accent1"/>
          </a:solidFill>
          <a:ln w="25400">
            <a:solidFill>
              <a:schemeClr val="bg1"/>
            </a:solidFill>
            <a:prstDash val="solid"/>
          </a:ln>
        </p:spPr>
      </p:sp>
      <p:sp>
        <p:nvSpPr>
          <p:cNvPr id="18" name="Text 13"/>
          <p:cNvSpPr txBox="1"/>
          <p:nvPr/>
        </p:nvSpPr>
        <p:spPr>
          <a:xfrm>
            <a:off x="4963058" y="1691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3</a:t>
            </a:r>
            <a:endParaRPr lang="en-US" sz="1200" dirty="0"/>
          </a:p>
        </p:txBody>
      </p:sp>
      <p:sp>
        <p:nvSpPr>
          <p:cNvPr id="19" name="Flecha paso 3"/>
          <p:cNvSpPr/>
          <p:nvPr/>
        </p:nvSpPr>
        <p:spPr>
          <a:xfrm>
            <a:off x="5255666" y="2240280"/>
            <a:ext cx="844753" cy="0"/>
          </a:xfrm>
          <a:prstGeom prst="line">
            <a:avLst/>
          </a:prstGeom>
          <a:noFill/>
          <a:ln w="22225">
            <a:solidFill>
              <a:schemeClr val="tx2">
                <a:alpha val="60000"/>
              </a:schemeClr>
            </a:solidFill>
            <a:prstDash val="solid"/>
            <a:tailEnd type="triangle"/>
          </a:ln>
        </p:spPr>
      </p:sp>
      <p:sp>
        <p:nvSpPr>
          <p:cNvPr id="20" name="Text 15"/>
          <p:cNvSpPr txBox="1"/>
          <p:nvPr/>
        </p:nvSpPr>
        <p:spPr>
          <a:xfrm>
            <a:off x="4322978" y="2880360"/>
            <a:ext cx="1658569" cy="38404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Elige destino</a:t>
            </a:r>
            <a:endParaRPr lang="en-US" sz="1700" dirty="0"/>
          </a:p>
        </p:txBody>
      </p:sp>
      <p:sp>
        <p:nvSpPr>
          <p:cNvPr id="21" name="Text 16"/>
          <p:cNvSpPr txBox="1"/>
          <p:nvPr/>
        </p:nvSpPr>
        <p:spPr>
          <a:xfrm>
            <a:off x="4322978" y="3337560"/>
            <a:ext cx="1612849" cy="13716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Perú → Brasil va a KeyFácil; Brasil → Perú, a Omie.</a:t>
            </a:r>
            <a:endParaRPr lang="en-US" sz="1500" dirty="0"/>
          </a:p>
        </p:txBody>
      </p:sp>
      <p:pic>
        <p:nvPicPr>
          <p:cNvPr id="22" name="Ícono form" descr="preencoded.png">    </p:cNvPr>
          <p:cNvPicPr>
            <a:picLocks noChangeAspect="1"/>
          </p:cNvPicPr>
          <p:nvPr/>
        </p:nvPicPr>
        <p:blipFill>
          <a:blip r:embed="rId4"/>
          <a:stretch>
            <a:fillRect/>
          </a:stretch>
        </p:blipFill>
        <p:spPr>
          <a:xfrm>
            <a:off x="6210148" y="1828800"/>
            <a:ext cx="822960" cy="822960"/>
          </a:xfrm>
          <a:prstGeom prst="rect">
            <a:avLst/>
          </a:prstGeom>
        </p:spPr>
      </p:pic>
      <p:sp>
        <p:nvSpPr>
          <p:cNvPr id="23" name="Número 4"/>
          <p:cNvSpPr/>
          <p:nvPr/>
        </p:nvSpPr>
        <p:spPr>
          <a:xfrm>
            <a:off x="6850228" y="1691640"/>
            <a:ext cx="329184" cy="329184"/>
          </a:xfrm>
          <a:prstGeom prst="ellipse">
            <a:avLst/>
          </a:prstGeom>
          <a:solidFill>
            <a:schemeClr val="accent1"/>
          </a:solidFill>
          <a:ln w="25400">
            <a:solidFill>
              <a:schemeClr val="bg1"/>
            </a:solidFill>
            <a:prstDash val="solid"/>
          </a:ln>
        </p:spPr>
      </p:sp>
      <p:sp>
        <p:nvSpPr>
          <p:cNvPr id="24" name="Text 18"/>
          <p:cNvSpPr txBox="1"/>
          <p:nvPr/>
        </p:nvSpPr>
        <p:spPr>
          <a:xfrm>
            <a:off x="6850228" y="1691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4</a:t>
            </a:r>
            <a:endParaRPr lang="en-US" sz="1200" dirty="0"/>
          </a:p>
        </p:txBody>
      </p:sp>
      <p:sp>
        <p:nvSpPr>
          <p:cNvPr id="25" name="Flecha paso 4"/>
          <p:cNvSpPr/>
          <p:nvPr/>
        </p:nvSpPr>
        <p:spPr>
          <a:xfrm>
            <a:off x="7142836" y="2240280"/>
            <a:ext cx="844753" cy="0"/>
          </a:xfrm>
          <a:prstGeom prst="line">
            <a:avLst/>
          </a:prstGeom>
          <a:noFill/>
          <a:ln w="22225">
            <a:solidFill>
              <a:schemeClr val="tx2">
                <a:alpha val="60000"/>
              </a:schemeClr>
            </a:solidFill>
            <a:prstDash val="solid"/>
            <a:tailEnd type="triangle"/>
          </a:ln>
        </p:spPr>
      </p:sp>
      <p:sp>
        <p:nvSpPr>
          <p:cNvPr id="26" name="Text 20"/>
          <p:cNvSpPr txBox="1"/>
          <p:nvPr/>
        </p:nvSpPr>
        <p:spPr>
          <a:xfrm>
            <a:off x="6210148" y="2880360"/>
            <a:ext cx="1658569" cy="38404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Llena y emite</a:t>
            </a:r>
            <a:endParaRPr lang="en-US" sz="1700" dirty="0"/>
          </a:p>
        </p:txBody>
      </p:sp>
      <p:sp>
        <p:nvSpPr>
          <p:cNvPr id="27" name="Text 21"/>
          <p:cNvSpPr txBox="1"/>
          <p:nvPr/>
        </p:nvSpPr>
        <p:spPr>
          <a:xfrm>
            <a:off x="6210148" y="3337560"/>
            <a:ext cx="1612849" cy="13716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Completa el formulario campo por campo y pulsa Emitir.</a:t>
            </a:r>
            <a:endParaRPr lang="en-US" sz="1500" dirty="0"/>
          </a:p>
        </p:txBody>
      </p:sp>
      <p:pic>
        <p:nvPicPr>
          <p:cNvPr id="28" name="Ícono pdf" descr="preencoded.png">    </p:cNvPr>
          <p:cNvPicPr>
            <a:picLocks noChangeAspect="1"/>
          </p:cNvPicPr>
          <p:nvPr/>
        </p:nvPicPr>
        <p:blipFill>
          <a:blip r:embed="rId5"/>
          <a:stretch>
            <a:fillRect/>
          </a:stretch>
        </p:blipFill>
        <p:spPr>
          <a:xfrm>
            <a:off x="8097317" y="1828800"/>
            <a:ext cx="822960" cy="822960"/>
          </a:xfrm>
          <a:prstGeom prst="rect">
            <a:avLst/>
          </a:prstGeom>
        </p:spPr>
      </p:pic>
      <p:sp>
        <p:nvSpPr>
          <p:cNvPr id="29" name="Número 5"/>
          <p:cNvSpPr/>
          <p:nvPr/>
        </p:nvSpPr>
        <p:spPr>
          <a:xfrm>
            <a:off x="8737397" y="1691640"/>
            <a:ext cx="329184" cy="329184"/>
          </a:xfrm>
          <a:prstGeom prst="ellipse">
            <a:avLst/>
          </a:prstGeom>
          <a:solidFill>
            <a:schemeClr val="accent1"/>
          </a:solidFill>
          <a:ln w="25400">
            <a:solidFill>
              <a:schemeClr val="bg1"/>
            </a:solidFill>
            <a:prstDash val="solid"/>
          </a:ln>
        </p:spPr>
      </p:sp>
      <p:sp>
        <p:nvSpPr>
          <p:cNvPr id="30" name="Text 23"/>
          <p:cNvSpPr txBox="1"/>
          <p:nvPr/>
        </p:nvSpPr>
        <p:spPr>
          <a:xfrm>
            <a:off x="8737397" y="1691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5</a:t>
            </a:r>
            <a:endParaRPr lang="en-US" sz="1200" dirty="0"/>
          </a:p>
        </p:txBody>
      </p:sp>
      <p:sp>
        <p:nvSpPr>
          <p:cNvPr id="31" name="Flecha paso 5"/>
          <p:cNvSpPr/>
          <p:nvPr/>
        </p:nvSpPr>
        <p:spPr>
          <a:xfrm>
            <a:off x="9030005" y="2240280"/>
            <a:ext cx="844753" cy="0"/>
          </a:xfrm>
          <a:prstGeom prst="line">
            <a:avLst/>
          </a:prstGeom>
          <a:noFill/>
          <a:ln w="22225">
            <a:solidFill>
              <a:schemeClr val="tx2">
                <a:alpha val="60000"/>
              </a:schemeClr>
            </a:solidFill>
            <a:prstDash val="solid"/>
            <a:tailEnd type="triangle"/>
          </a:ln>
        </p:spPr>
      </p:sp>
      <p:sp>
        <p:nvSpPr>
          <p:cNvPr id="32" name="Text 25"/>
          <p:cNvSpPr txBox="1"/>
          <p:nvPr/>
        </p:nvSpPr>
        <p:spPr>
          <a:xfrm>
            <a:off x="8097317" y="2880360"/>
            <a:ext cx="1658569" cy="38404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Valida el PDF</a:t>
            </a:r>
            <a:endParaRPr lang="en-US" sz="1700" dirty="0"/>
          </a:p>
        </p:txBody>
      </p:sp>
      <p:sp>
        <p:nvSpPr>
          <p:cNvPr id="33" name="Text 26"/>
          <p:cNvSpPr txBox="1"/>
          <p:nvPr/>
        </p:nvSpPr>
        <p:spPr>
          <a:xfrm>
            <a:off x="8097317" y="3337560"/>
            <a:ext cx="1612849" cy="13716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La IA lee el comprobante y lo compara con el dashboard.</a:t>
            </a:r>
            <a:endParaRPr lang="en-US" sz="1500" dirty="0"/>
          </a:p>
        </p:txBody>
      </p:sp>
      <p:pic>
        <p:nvPicPr>
          <p:cNvPr id="34" name="Ícono clip" descr="preencoded.png">    </p:cNvPr>
          <p:cNvPicPr>
            <a:picLocks noChangeAspect="1"/>
          </p:cNvPicPr>
          <p:nvPr/>
        </p:nvPicPr>
        <p:blipFill>
          <a:blip r:embed="rId6"/>
          <a:stretch>
            <a:fillRect/>
          </a:stretch>
        </p:blipFill>
        <p:spPr>
          <a:xfrm>
            <a:off x="9984486" y="1828800"/>
            <a:ext cx="822960" cy="822960"/>
          </a:xfrm>
          <a:prstGeom prst="rect">
            <a:avLst/>
          </a:prstGeom>
        </p:spPr>
      </p:pic>
      <p:sp>
        <p:nvSpPr>
          <p:cNvPr id="35" name="Número 6"/>
          <p:cNvSpPr/>
          <p:nvPr/>
        </p:nvSpPr>
        <p:spPr>
          <a:xfrm>
            <a:off x="10624566" y="1691640"/>
            <a:ext cx="329184" cy="329184"/>
          </a:xfrm>
          <a:prstGeom prst="ellipse">
            <a:avLst/>
          </a:prstGeom>
          <a:solidFill>
            <a:schemeClr val="accent1"/>
          </a:solidFill>
          <a:ln w="25400">
            <a:solidFill>
              <a:schemeClr val="bg1"/>
            </a:solidFill>
            <a:prstDash val="solid"/>
          </a:ln>
        </p:spPr>
      </p:sp>
      <p:sp>
        <p:nvSpPr>
          <p:cNvPr id="36" name="Text 28"/>
          <p:cNvSpPr txBox="1"/>
          <p:nvPr/>
        </p:nvSpPr>
        <p:spPr>
          <a:xfrm>
            <a:off x="10624566" y="16916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6</a:t>
            </a:r>
            <a:endParaRPr lang="en-US" sz="1200" dirty="0"/>
          </a:p>
        </p:txBody>
      </p:sp>
      <p:sp>
        <p:nvSpPr>
          <p:cNvPr id="37" name="Text 29"/>
          <p:cNvSpPr txBox="1"/>
          <p:nvPr/>
        </p:nvSpPr>
        <p:spPr>
          <a:xfrm>
            <a:off x="9984486" y="2880360"/>
            <a:ext cx="1658569" cy="38404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Registra</a:t>
            </a:r>
            <a:endParaRPr lang="en-US" sz="1700" dirty="0"/>
          </a:p>
        </p:txBody>
      </p:sp>
      <p:sp>
        <p:nvSpPr>
          <p:cNvPr id="38" name="Text 30"/>
          <p:cNvSpPr txBox="1"/>
          <p:nvPr/>
        </p:nvSpPr>
        <p:spPr>
          <a:xfrm>
            <a:off x="9984486" y="3337560"/>
            <a:ext cx="1612849" cy="1371600"/>
          </a:xfrm>
          <a:prstGeom prst="rect">
            <a:avLst/>
          </a:prstGeom>
          <a:noFill/>
          <a:ln/>
        </p:spPr>
        <p:txBody>
          <a:bodyPr wrap="square" lIns="0" tIns="0" rIns="0" bIns="0" rtlCol="0" anchor="t"/>
          <a:lstStyle/>
          <a:p>
            <a:pPr indent="0" marL="0">
              <a:lnSpc>
                <a:spcPct val="105000"/>
              </a:lnSpc>
              <a:buNone/>
            </a:pPr>
            <a:r>
              <a:rPr lang="en-US" sz="1500" dirty="0">
                <a:solidFill>
                  <a:schemeClr val="tx2"/>
                </a:solidFill>
              </a:rPr>
              <a:t>Escribe el número del comprobante en el dashboard.</a:t>
            </a:r>
            <a:endParaRPr lang="en-US" sz="1500" dirty="0"/>
          </a:p>
        </p:txBody>
      </p:sp>
      <p:sp>
        <p:nvSpPr>
          <p:cNvPr id="39" name="Resultado de la demo"/>
          <p:cNvSpPr/>
          <p:nvPr/>
        </p:nvSpPr>
        <p:spPr>
          <a:xfrm>
            <a:off x="548640" y="4892040"/>
            <a:ext cx="11094415" cy="1143000"/>
          </a:xfrm>
          <a:prstGeom prst="roundRect">
            <a:avLst>
              <a:gd name="adj" fmla="val 11200"/>
            </a:avLst>
          </a:prstGeom>
          <a:solidFill>
            <a:schemeClr val="accent4">
              <a:alpha val="11000"/>
            </a:schemeClr>
          </a:solidFill>
          <a:ln/>
        </p:spPr>
      </p:sp>
      <p:pic>
        <p:nvPicPr>
          <p:cNvPr id="40" name="Ícono check" descr="preencoded.png">    </p:cNvPr>
          <p:cNvPicPr>
            <a:picLocks noChangeAspect="1"/>
          </p:cNvPicPr>
          <p:nvPr/>
        </p:nvPicPr>
        <p:blipFill>
          <a:blip r:embed="rId7"/>
          <a:stretch>
            <a:fillRect/>
          </a:stretch>
        </p:blipFill>
        <p:spPr>
          <a:xfrm>
            <a:off x="868680" y="5184648"/>
            <a:ext cx="548640" cy="548640"/>
          </a:xfrm>
          <a:prstGeom prst="rect">
            <a:avLst/>
          </a:prstGeom>
        </p:spPr>
      </p:pic>
      <p:sp>
        <p:nvSpPr>
          <p:cNvPr id="41" name="Text 32"/>
          <p:cNvSpPr txBox="1"/>
          <p:nvPr/>
        </p:nvSpPr>
        <p:spPr>
          <a:xfrm>
            <a:off x="1645920" y="4892040"/>
            <a:ext cx="9677095" cy="1143000"/>
          </a:xfrm>
          <a:prstGeom prst="rect">
            <a:avLst/>
          </a:prstGeom>
          <a:noFill/>
          <a:ln/>
        </p:spPr>
        <p:txBody>
          <a:bodyPr wrap="square" lIns="0" tIns="0" rIns="0" bIns="0" rtlCol="0" anchor="ctr"/>
          <a:lstStyle/>
          <a:p>
            <a:pPr indent="0" marL="0">
              <a:buNone/>
            </a:pPr>
            <a:r>
              <a:rPr lang="en-US" sz="1700" b="1" dirty="0">
                <a:solidFill>
                  <a:schemeClr val="tx1"/>
                </a:solidFill>
              </a:rPr>
              <a:t>En la demo: 10 de 11 comprobantes emitidos y validados sin que nadie toque el teclado. </a:t>
            </a:r>
            <a:pPr indent="0" marL="0">
              <a:buNone/>
            </a:pPr>
            <a:r>
              <a:rPr lang="en-US" sz="1700" dirty="0">
                <a:solidFill>
                  <a:schemeClr val="tx1"/>
                </a:solidFill>
              </a:rPr>
              <a:t>El que no cuadraba quedó apartado, con su motivo.</a:t>
            </a:r>
            <a:endParaRPr lang="en-US" sz="17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SOLUCIÓN 1 · RPA DE FACTURACIÓN</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Si algo no cuadra, el robot no emite: lo aparta</a:t>
            </a:r>
            <a:endParaRPr lang="en-US" sz="3200" dirty="0"/>
          </a:p>
        </p:txBody>
      </p:sp>
      <p:sp>
        <p:nvSpPr>
          <p:cNvPr id="4" name="Caso PxB-001529"/>
          <p:cNvSpPr/>
          <p:nvPr/>
        </p:nvSpPr>
        <p:spPr>
          <a:xfrm>
            <a:off x="548640" y="1691640"/>
            <a:ext cx="5029200" cy="4389120"/>
          </a:xfrm>
          <a:prstGeom prst="roundRect">
            <a:avLst>
              <a:gd name="adj" fmla="val 2917"/>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5" name="Text 3"/>
          <p:cNvSpPr txBox="1"/>
          <p:nvPr/>
        </p:nvSpPr>
        <p:spPr>
          <a:xfrm>
            <a:off x="914400" y="1965960"/>
            <a:ext cx="42976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PxB-001529</a:t>
            </a:r>
            <a:endParaRPr lang="en-US" sz="2200" dirty="0"/>
          </a:p>
        </p:txBody>
      </p:sp>
      <p:sp>
        <p:nvSpPr>
          <p:cNvPr id="6" name="Text 4"/>
          <p:cNvSpPr txBox="1"/>
          <p:nvPr/>
        </p:nvSpPr>
        <p:spPr>
          <a:xfrm>
            <a:off x="914400" y="2395728"/>
            <a:ext cx="4297680" cy="292608"/>
          </a:xfrm>
          <a:prstGeom prst="rect">
            <a:avLst/>
          </a:prstGeom>
          <a:noFill/>
          <a:ln/>
        </p:spPr>
        <p:txBody>
          <a:bodyPr wrap="square" lIns="0" tIns="0" rIns="0" bIns="0" rtlCol="0" anchor="t"/>
          <a:lstStyle/>
          <a:p>
            <a:pPr indent="0" marL="0">
              <a:buNone/>
            </a:pPr>
            <a:r>
              <a:rPr lang="en-US" sz="1300" dirty="0">
                <a:solidFill>
                  <a:schemeClr val="tx2"/>
                </a:solidFill>
              </a:rPr>
              <a:t>Perú → Brasil · boleta · caso de la demo</a:t>
            </a:r>
            <a:endParaRPr lang="en-US" sz="1300" dirty="0"/>
          </a:p>
        </p:txBody>
      </p:sp>
      <p:sp>
        <p:nvSpPr>
          <p:cNvPr id="7" name="Text 5"/>
          <p:cNvSpPr txBox="1"/>
          <p:nvPr/>
        </p:nvSpPr>
        <p:spPr>
          <a:xfrm>
            <a:off x="914400" y="2880360"/>
            <a:ext cx="2926080" cy="457200"/>
          </a:xfrm>
          <a:prstGeom prst="rect">
            <a:avLst/>
          </a:prstGeom>
          <a:noFill/>
          <a:ln/>
        </p:spPr>
        <p:txBody>
          <a:bodyPr wrap="square" lIns="0" tIns="0" rIns="0" bIns="0" rtlCol="0" anchor="ctr"/>
          <a:lstStyle/>
          <a:p>
            <a:pPr indent="0" marL="0">
              <a:buNone/>
            </a:pPr>
            <a:r>
              <a:rPr lang="en-US" sz="1500" dirty="0">
                <a:solidFill>
                  <a:schemeClr val="tx2"/>
                </a:solidFill>
              </a:rPr>
              <a:t>Comisión final interna</a:t>
            </a:r>
            <a:endParaRPr lang="en-US" sz="1500" dirty="0"/>
          </a:p>
        </p:txBody>
      </p:sp>
      <p:sp>
        <p:nvSpPr>
          <p:cNvPr id="8" name="Text 6"/>
          <p:cNvSpPr txBox="1"/>
          <p:nvPr/>
        </p:nvSpPr>
        <p:spPr>
          <a:xfrm>
            <a:off x="3749040" y="2880360"/>
            <a:ext cx="1463040" cy="457200"/>
          </a:xfrm>
          <a:prstGeom prst="rect">
            <a:avLst/>
          </a:prstGeom>
          <a:noFill/>
          <a:ln/>
        </p:spPr>
        <p:txBody>
          <a:bodyPr wrap="square" lIns="0" tIns="0" rIns="0" bIns="0" rtlCol="0" anchor="ctr"/>
          <a:lstStyle/>
          <a:p>
            <a:pPr algn="r" indent="0" marL="0">
              <a:buNone/>
            </a:pPr>
            <a:r>
              <a:rPr lang="en-US" sz="1700" b="1" dirty="0">
                <a:solidFill>
                  <a:schemeClr val="tx1"/>
                </a:solidFill>
              </a:rPr>
              <a:t>S/ 5.08</a:t>
            </a:r>
            <a:endParaRPr lang="en-US" sz="1700" dirty="0"/>
          </a:p>
        </p:txBody>
      </p:sp>
      <p:sp>
        <p:nvSpPr>
          <p:cNvPr id="9" name="Separador 1"/>
          <p:cNvSpPr/>
          <p:nvPr/>
        </p:nvSpPr>
        <p:spPr>
          <a:xfrm>
            <a:off x="914400" y="3355848"/>
            <a:ext cx="4297680" cy="0"/>
          </a:xfrm>
          <a:prstGeom prst="line">
            <a:avLst/>
          </a:prstGeom>
          <a:noFill/>
          <a:ln w="9525">
            <a:solidFill>
              <a:schemeClr val="tx2">
                <a:alpha val="20000"/>
              </a:schemeClr>
            </a:solidFill>
            <a:prstDash val="solid"/>
          </a:ln>
        </p:spPr>
      </p:sp>
      <p:sp>
        <p:nvSpPr>
          <p:cNvPr id="10" name="Text 8"/>
          <p:cNvSpPr txBox="1"/>
          <p:nvPr/>
        </p:nvSpPr>
        <p:spPr>
          <a:xfrm>
            <a:off x="914400" y="3383280"/>
            <a:ext cx="2926080" cy="457200"/>
          </a:xfrm>
          <a:prstGeom prst="rect">
            <a:avLst/>
          </a:prstGeom>
          <a:noFill/>
          <a:ln/>
        </p:spPr>
        <p:txBody>
          <a:bodyPr wrap="square" lIns="0" tIns="0" rIns="0" bIns="0" rtlCol="0" anchor="ctr"/>
          <a:lstStyle/>
          <a:p>
            <a:pPr indent="0" marL="0">
              <a:buNone/>
            </a:pPr>
            <a:r>
              <a:rPr lang="en-US" sz="1500" dirty="0">
                <a:solidFill>
                  <a:schemeClr val="tx2"/>
                </a:solidFill>
              </a:rPr>
              <a:t>Impuesto (IGV 18 %)</a:t>
            </a:r>
            <a:endParaRPr lang="en-US" sz="1500" dirty="0"/>
          </a:p>
        </p:txBody>
      </p:sp>
      <p:sp>
        <p:nvSpPr>
          <p:cNvPr id="11" name="Text 9"/>
          <p:cNvSpPr txBox="1"/>
          <p:nvPr/>
        </p:nvSpPr>
        <p:spPr>
          <a:xfrm>
            <a:off x="3749040" y="3383280"/>
            <a:ext cx="1463040" cy="457200"/>
          </a:xfrm>
          <a:prstGeom prst="rect">
            <a:avLst/>
          </a:prstGeom>
          <a:noFill/>
          <a:ln/>
        </p:spPr>
        <p:txBody>
          <a:bodyPr wrap="square" lIns="0" tIns="0" rIns="0" bIns="0" rtlCol="0" anchor="ctr"/>
          <a:lstStyle/>
          <a:p>
            <a:pPr algn="r" indent="0" marL="0">
              <a:buNone/>
            </a:pPr>
            <a:r>
              <a:rPr lang="en-US" sz="1700" b="1" dirty="0">
                <a:solidFill>
                  <a:schemeClr val="tx1"/>
                </a:solidFill>
              </a:rPr>
              <a:t>S/ 0.91</a:t>
            </a:r>
            <a:endParaRPr lang="en-US" sz="1700" dirty="0"/>
          </a:p>
        </p:txBody>
      </p:sp>
      <p:sp>
        <p:nvSpPr>
          <p:cNvPr id="12" name="Separador 2"/>
          <p:cNvSpPr/>
          <p:nvPr/>
        </p:nvSpPr>
        <p:spPr>
          <a:xfrm>
            <a:off x="914400" y="3858768"/>
            <a:ext cx="4297680" cy="0"/>
          </a:xfrm>
          <a:prstGeom prst="line">
            <a:avLst/>
          </a:prstGeom>
          <a:noFill/>
          <a:ln w="9525">
            <a:solidFill>
              <a:schemeClr val="tx2">
                <a:alpha val="20000"/>
              </a:schemeClr>
            </a:solidFill>
            <a:prstDash val="solid"/>
          </a:ln>
        </p:spPr>
      </p:sp>
      <p:sp>
        <p:nvSpPr>
          <p:cNvPr id="13" name="Text 11"/>
          <p:cNvSpPr txBox="1"/>
          <p:nvPr/>
        </p:nvSpPr>
        <p:spPr>
          <a:xfrm>
            <a:off x="914400" y="3886200"/>
            <a:ext cx="2926080" cy="457200"/>
          </a:xfrm>
          <a:prstGeom prst="rect">
            <a:avLst/>
          </a:prstGeom>
          <a:noFill/>
          <a:ln/>
        </p:spPr>
        <p:txBody>
          <a:bodyPr wrap="square" lIns="0" tIns="0" rIns="0" bIns="0" rtlCol="0" anchor="ctr"/>
          <a:lstStyle/>
          <a:p>
            <a:pPr indent="0" marL="0">
              <a:buNone/>
            </a:pPr>
            <a:r>
              <a:rPr lang="en-US" sz="1500" b="1" dirty="0">
                <a:solidFill>
                  <a:schemeClr val="tx2"/>
                </a:solidFill>
              </a:rPr>
              <a:t>Comisión + impuesto</a:t>
            </a:r>
            <a:endParaRPr lang="en-US" sz="1500" dirty="0"/>
          </a:p>
        </p:txBody>
      </p:sp>
      <p:sp>
        <p:nvSpPr>
          <p:cNvPr id="14" name="Text 12"/>
          <p:cNvSpPr txBox="1"/>
          <p:nvPr/>
        </p:nvSpPr>
        <p:spPr>
          <a:xfrm>
            <a:off x="3749040" y="3886200"/>
            <a:ext cx="1463040" cy="457200"/>
          </a:xfrm>
          <a:prstGeom prst="rect">
            <a:avLst/>
          </a:prstGeom>
          <a:noFill/>
          <a:ln/>
        </p:spPr>
        <p:txBody>
          <a:bodyPr wrap="square" lIns="0" tIns="0" rIns="0" bIns="0" rtlCol="0" anchor="ctr"/>
          <a:lstStyle/>
          <a:p>
            <a:pPr algn="r" indent="0" marL="0">
              <a:buNone/>
            </a:pPr>
            <a:r>
              <a:rPr lang="en-US" sz="1700" b="1" dirty="0">
                <a:solidFill>
                  <a:schemeClr val="tx1"/>
                </a:solidFill>
              </a:rPr>
              <a:t>S/ 5.99</a:t>
            </a:r>
            <a:endParaRPr lang="en-US" sz="1700" dirty="0"/>
          </a:p>
        </p:txBody>
      </p:sp>
      <p:sp>
        <p:nvSpPr>
          <p:cNvPr id="15" name="Separador 3"/>
          <p:cNvSpPr/>
          <p:nvPr/>
        </p:nvSpPr>
        <p:spPr>
          <a:xfrm>
            <a:off x="914400" y="4361688"/>
            <a:ext cx="4297680" cy="0"/>
          </a:xfrm>
          <a:prstGeom prst="line">
            <a:avLst/>
          </a:prstGeom>
          <a:noFill/>
          <a:ln w="9525">
            <a:solidFill>
              <a:schemeClr val="tx2">
                <a:alpha val="20000"/>
              </a:schemeClr>
            </a:solidFill>
            <a:prstDash val="solid"/>
          </a:ln>
        </p:spPr>
      </p:sp>
      <p:sp>
        <p:nvSpPr>
          <p:cNvPr id="16" name="Text 14"/>
          <p:cNvSpPr txBox="1"/>
          <p:nvPr/>
        </p:nvSpPr>
        <p:spPr>
          <a:xfrm>
            <a:off x="914400" y="4389120"/>
            <a:ext cx="2926080" cy="457200"/>
          </a:xfrm>
          <a:prstGeom prst="rect">
            <a:avLst/>
          </a:prstGeom>
          <a:noFill/>
          <a:ln/>
        </p:spPr>
        <p:txBody>
          <a:bodyPr wrap="square" lIns="0" tIns="0" rIns="0" bIns="0" rtlCol="0" anchor="ctr"/>
          <a:lstStyle/>
          <a:p>
            <a:pPr indent="0" marL="0">
              <a:buNone/>
            </a:pPr>
            <a:r>
              <a:rPr lang="en-US" sz="1500" b="1" dirty="0">
                <a:solidFill>
                  <a:schemeClr val="tx2"/>
                </a:solidFill>
              </a:rPr>
              <a:t>Venta final en el dashboard</a:t>
            </a:r>
            <a:endParaRPr lang="en-US" sz="1500" dirty="0"/>
          </a:p>
        </p:txBody>
      </p:sp>
      <p:sp>
        <p:nvSpPr>
          <p:cNvPr id="17" name="Text 15"/>
          <p:cNvSpPr txBox="1"/>
          <p:nvPr/>
        </p:nvSpPr>
        <p:spPr>
          <a:xfrm>
            <a:off x="3749040" y="4389120"/>
            <a:ext cx="1463040" cy="457200"/>
          </a:xfrm>
          <a:prstGeom prst="rect">
            <a:avLst/>
          </a:prstGeom>
          <a:noFill/>
          <a:ln/>
        </p:spPr>
        <p:txBody>
          <a:bodyPr wrap="square" lIns="0" tIns="0" rIns="0" bIns="0" rtlCol="0" anchor="ctr"/>
          <a:lstStyle/>
          <a:p>
            <a:pPr algn="r" indent="0" marL="0">
              <a:buNone/>
            </a:pPr>
            <a:r>
              <a:rPr lang="en-US" sz="1700" b="1" dirty="0">
                <a:solidFill>
                  <a:schemeClr val="accent5"/>
                </a:solidFill>
              </a:rPr>
              <a:t>S/ 14.14</a:t>
            </a:r>
            <a:endParaRPr lang="en-US" sz="1700" dirty="0"/>
          </a:p>
        </p:txBody>
      </p:sp>
      <p:sp>
        <p:nvSpPr>
          <p:cNvPr id="18" name="Decisión del robot"/>
          <p:cNvSpPr/>
          <p:nvPr/>
        </p:nvSpPr>
        <p:spPr>
          <a:xfrm>
            <a:off x="822960" y="5029200"/>
            <a:ext cx="4480560" cy="777240"/>
          </a:xfrm>
          <a:prstGeom prst="roundRect">
            <a:avLst>
              <a:gd name="adj" fmla="val 14118"/>
            </a:avLst>
          </a:prstGeom>
          <a:solidFill>
            <a:schemeClr val="accent5">
              <a:alpha val="11000"/>
            </a:schemeClr>
          </a:solidFill>
          <a:ln/>
        </p:spPr>
      </p:sp>
      <p:pic>
        <p:nvPicPr>
          <p:cNvPr id="19" name="Ícono alert" descr="preencoded.png">    </p:cNvPr>
          <p:cNvPicPr>
            <a:picLocks noChangeAspect="1"/>
          </p:cNvPicPr>
          <p:nvPr/>
        </p:nvPicPr>
        <p:blipFill>
          <a:blip r:embed="rId1"/>
          <a:stretch>
            <a:fillRect/>
          </a:stretch>
        </p:blipFill>
        <p:spPr>
          <a:xfrm>
            <a:off x="1005840" y="5184648"/>
            <a:ext cx="457200" cy="457200"/>
          </a:xfrm>
          <a:prstGeom prst="rect">
            <a:avLst/>
          </a:prstGeom>
        </p:spPr>
      </p:pic>
      <p:sp>
        <p:nvSpPr>
          <p:cNvPr id="20" name="Text 17"/>
          <p:cNvSpPr txBox="1"/>
          <p:nvPr/>
        </p:nvSpPr>
        <p:spPr>
          <a:xfrm>
            <a:off x="1600200" y="5029200"/>
            <a:ext cx="3611880" cy="777240"/>
          </a:xfrm>
          <a:prstGeom prst="rect">
            <a:avLst/>
          </a:prstGeom>
          <a:noFill/>
          <a:ln/>
        </p:spPr>
        <p:txBody>
          <a:bodyPr wrap="square" lIns="0" tIns="0" rIns="0" bIns="0" rtlCol="0" anchor="ctr"/>
          <a:lstStyle/>
          <a:p>
            <a:pPr indent="0" marL="0">
              <a:buNone/>
            </a:pPr>
            <a:r>
              <a:rPr lang="en-US" sz="1400" b="1" dirty="0">
                <a:solidFill>
                  <a:schemeClr val="tx1"/>
                </a:solidFill>
              </a:rPr>
              <a:t>No emite: pasa a revisión humana con el motivo.</a:t>
            </a:r>
            <a:endParaRPr lang="en-US" sz="1400" dirty="0"/>
          </a:p>
        </p:txBody>
      </p:sp>
      <p:sp>
        <p:nvSpPr>
          <p:cNvPr id="21" name="Garantía Trabaja sobre la interfaz"/>
          <p:cNvSpPr/>
          <p:nvPr/>
        </p:nvSpPr>
        <p:spPr>
          <a:xfrm>
            <a:off x="5852160" y="1691640"/>
            <a:ext cx="5790895"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22" name="Ícono monitor" descr="preencoded.png">    </p:cNvPr>
          <p:cNvPicPr>
            <a:picLocks noChangeAspect="1"/>
          </p:cNvPicPr>
          <p:nvPr/>
        </p:nvPicPr>
        <p:blipFill>
          <a:blip r:embed="rId2"/>
          <a:stretch>
            <a:fillRect/>
          </a:stretch>
        </p:blipFill>
        <p:spPr>
          <a:xfrm>
            <a:off x="6126480" y="2057400"/>
            <a:ext cx="594360" cy="594360"/>
          </a:xfrm>
          <a:prstGeom prst="rect">
            <a:avLst/>
          </a:prstGeom>
        </p:spPr>
      </p:pic>
      <p:sp>
        <p:nvSpPr>
          <p:cNvPr id="23" name="Text 19"/>
          <p:cNvSpPr txBox="1"/>
          <p:nvPr/>
        </p:nvSpPr>
        <p:spPr>
          <a:xfrm>
            <a:off x="6949440" y="1892808"/>
            <a:ext cx="4419295"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Trabaja sobre la interfaz</a:t>
            </a:r>
            <a:endParaRPr lang="en-US" sz="1700" dirty="0"/>
          </a:p>
        </p:txBody>
      </p:sp>
      <p:sp>
        <p:nvSpPr>
          <p:cNvPr id="24" name="Text 20"/>
          <p:cNvSpPr txBox="1"/>
          <p:nvPr/>
        </p:nvSpPr>
        <p:spPr>
          <a:xfrm>
            <a:off x="6949440" y="2276856"/>
            <a:ext cx="4419295" cy="640080"/>
          </a:xfrm>
          <a:prstGeom prst="rect">
            <a:avLst/>
          </a:prstGeom>
          <a:noFill/>
          <a:ln/>
        </p:spPr>
        <p:txBody>
          <a:bodyPr wrap="square" lIns="0" tIns="0" rIns="0" bIns="0" rtlCol="0" anchor="t"/>
          <a:lstStyle/>
          <a:p>
            <a:pPr indent="0" marL="0">
              <a:buNone/>
            </a:pPr>
            <a:r>
              <a:rPr lang="en-US" sz="1400" dirty="0">
                <a:solidFill>
                  <a:schemeClr val="tx2"/>
                </a:solidFill>
              </a:rPr>
              <a:t>Lee el dashboard como un usuario más: no necesita acceso a la base de datos.</a:t>
            </a:r>
            <a:endParaRPr lang="en-US" sz="1400" dirty="0"/>
          </a:p>
        </p:txBody>
      </p:sp>
      <p:sp>
        <p:nvSpPr>
          <p:cNvPr id="25" name="Garantía Visión IA si la pantalla cambia"/>
          <p:cNvSpPr/>
          <p:nvPr/>
        </p:nvSpPr>
        <p:spPr>
          <a:xfrm>
            <a:off x="5852160" y="3223260"/>
            <a:ext cx="5790895"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26" name="Ícono eye" descr="preencoded.png">    </p:cNvPr>
          <p:cNvPicPr>
            <a:picLocks noChangeAspect="1"/>
          </p:cNvPicPr>
          <p:nvPr/>
        </p:nvPicPr>
        <p:blipFill>
          <a:blip r:embed="rId3"/>
          <a:stretch>
            <a:fillRect/>
          </a:stretch>
        </p:blipFill>
        <p:spPr>
          <a:xfrm>
            <a:off x="6126480" y="3589020"/>
            <a:ext cx="594360" cy="594360"/>
          </a:xfrm>
          <a:prstGeom prst="rect">
            <a:avLst/>
          </a:prstGeom>
        </p:spPr>
      </p:pic>
      <p:sp>
        <p:nvSpPr>
          <p:cNvPr id="27" name="Text 22"/>
          <p:cNvSpPr txBox="1"/>
          <p:nvPr/>
        </p:nvSpPr>
        <p:spPr>
          <a:xfrm>
            <a:off x="6949440" y="3424428"/>
            <a:ext cx="4419295"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Visión IA si la pantalla cambia</a:t>
            </a:r>
            <a:endParaRPr lang="en-US" sz="1700" dirty="0"/>
          </a:p>
        </p:txBody>
      </p:sp>
      <p:sp>
        <p:nvSpPr>
          <p:cNvPr id="28" name="Text 23"/>
          <p:cNvSpPr txBox="1"/>
          <p:nvPr/>
        </p:nvSpPr>
        <p:spPr>
          <a:xfrm>
            <a:off x="6949440" y="3808476"/>
            <a:ext cx="4419295" cy="640080"/>
          </a:xfrm>
          <a:prstGeom prst="rect">
            <a:avLst/>
          </a:prstGeom>
          <a:noFill/>
          <a:ln/>
        </p:spPr>
        <p:txBody>
          <a:bodyPr wrap="square" lIns="0" tIns="0" rIns="0" bIns="0" rtlCol="0" anchor="t"/>
          <a:lstStyle/>
          <a:p>
            <a:pPr indent="0" marL="0">
              <a:buNone/>
            </a:pPr>
            <a:r>
              <a:rPr lang="en-US" sz="1400" dirty="0">
                <a:solidFill>
                  <a:schemeClr val="tx2"/>
                </a:solidFill>
              </a:rPr>
              <a:t>Si KeyFácil u Omie cambian de diseño, reconoce los campos por su etiqueta, sigue y avisa a soporte.</a:t>
            </a:r>
            <a:endParaRPr lang="en-US" sz="1400" dirty="0"/>
          </a:p>
        </p:txBody>
      </p:sp>
      <p:sp>
        <p:nvSpPr>
          <p:cNvPr id="29" name="Garantía Nunca factura dos veces"/>
          <p:cNvSpPr/>
          <p:nvPr/>
        </p:nvSpPr>
        <p:spPr>
          <a:xfrm>
            <a:off x="5852160" y="4754880"/>
            <a:ext cx="5790895"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30" name="Ícono check" descr="preencoded.png">    </p:cNvPr>
          <p:cNvPicPr>
            <a:picLocks noChangeAspect="1"/>
          </p:cNvPicPr>
          <p:nvPr/>
        </p:nvPicPr>
        <p:blipFill>
          <a:blip r:embed="rId4"/>
          <a:stretch>
            <a:fillRect/>
          </a:stretch>
        </p:blipFill>
        <p:spPr>
          <a:xfrm>
            <a:off x="6126480" y="5120640"/>
            <a:ext cx="594360" cy="594360"/>
          </a:xfrm>
          <a:prstGeom prst="rect">
            <a:avLst/>
          </a:prstGeom>
        </p:spPr>
      </p:pic>
      <p:sp>
        <p:nvSpPr>
          <p:cNvPr id="31" name="Text 25"/>
          <p:cNvSpPr txBox="1"/>
          <p:nvPr/>
        </p:nvSpPr>
        <p:spPr>
          <a:xfrm>
            <a:off x="6949440" y="4956048"/>
            <a:ext cx="4419295"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Nunca factura dos veces</a:t>
            </a:r>
            <a:endParaRPr lang="en-US" sz="1700" dirty="0"/>
          </a:p>
        </p:txBody>
      </p:sp>
      <p:sp>
        <p:nvSpPr>
          <p:cNvPr id="32" name="Text 26"/>
          <p:cNvSpPr txBox="1"/>
          <p:nvPr/>
        </p:nvSpPr>
        <p:spPr>
          <a:xfrm>
            <a:off x="6949440" y="5340096"/>
            <a:ext cx="4419295" cy="640080"/>
          </a:xfrm>
          <a:prstGeom prst="rect">
            <a:avLst/>
          </a:prstGeom>
          <a:noFill/>
          <a:ln/>
        </p:spPr>
        <p:txBody>
          <a:bodyPr wrap="square" lIns="0" tIns="0" rIns="0" bIns="0" rtlCol="0" anchor="t"/>
          <a:lstStyle/>
          <a:p>
            <a:pPr indent="0" marL="0">
              <a:buNone/>
            </a:pPr>
            <a:r>
              <a:rPr lang="en-US" sz="1400" dirty="0">
                <a:solidFill>
                  <a:schemeClr val="tx2"/>
                </a:solidFill>
              </a:rPr>
              <a:t>Antes de emitir confirma que la operación no tenga comprobante.</a:t>
            </a:r>
            <a:endParaRPr lang="en-US" sz="14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SOLUCIÓN 2 · ARM CON AGENTES IA</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Seis agentes y un Copiloto que los coordina</a:t>
            </a:r>
            <a:endParaRPr lang="en-US" sz="3200" dirty="0"/>
          </a:p>
        </p:txBody>
      </p:sp>
      <p:sp>
        <p:nvSpPr>
          <p:cNvPr id="4" name="Copiloto"/>
          <p:cNvSpPr/>
          <p:nvPr/>
        </p:nvSpPr>
        <p:spPr>
          <a:xfrm>
            <a:off x="548640" y="1691640"/>
            <a:ext cx="3063240" cy="4389120"/>
          </a:xfrm>
          <a:prstGeom prst="roundRect">
            <a:avLst>
              <a:gd name="adj" fmla="val 4179"/>
            </a:avLst>
          </a:prstGeom>
          <a:solidFill>
            <a:schemeClr val="tx1"/>
          </a:solidFill>
          <a:ln/>
        </p:spPr>
      </p:sp>
      <p:pic>
        <p:nvPicPr>
          <p:cNvPr id="5" name="Ícono spark" descr="preencoded.png">    </p:cNvPr>
          <p:cNvPicPr>
            <a:picLocks noChangeAspect="1"/>
          </p:cNvPicPr>
          <p:nvPr/>
        </p:nvPicPr>
        <p:blipFill>
          <a:blip r:embed="rId1"/>
          <a:stretch>
            <a:fillRect/>
          </a:stretch>
        </p:blipFill>
        <p:spPr>
          <a:xfrm>
            <a:off x="868680" y="2011680"/>
            <a:ext cx="685800" cy="685800"/>
          </a:xfrm>
          <a:prstGeom prst="rect">
            <a:avLst/>
          </a:prstGeom>
        </p:spPr>
      </p:pic>
      <p:sp>
        <p:nvSpPr>
          <p:cNvPr id="6" name="Text 3"/>
          <p:cNvSpPr txBox="1"/>
          <p:nvPr/>
        </p:nvSpPr>
        <p:spPr>
          <a:xfrm>
            <a:off x="868680" y="2834640"/>
            <a:ext cx="2468880"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Copiloto</a:t>
            </a:r>
            <a:endParaRPr lang="en-US" sz="2400" dirty="0"/>
          </a:p>
        </p:txBody>
      </p:sp>
      <p:sp>
        <p:nvSpPr>
          <p:cNvPr id="7" name="Text 4"/>
          <p:cNvSpPr txBox="1"/>
          <p:nvPr/>
        </p:nvSpPr>
        <p:spPr>
          <a:xfrm>
            <a:off x="868680" y="3383280"/>
            <a:ext cx="2468880" cy="1325880"/>
          </a:xfrm>
          <a:prstGeom prst="rect">
            <a:avLst/>
          </a:prstGeom>
          <a:noFill/>
          <a:ln/>
        </p:spPr>
        <p:txBody>
          <a:bodyPr wrap="square" lIns="0" tIns="0" rIns="0" bIns="0" rtlCol="0" anchor="t"/>
          <a:lstStyle/>
          <a:p>
            <a:pPr indent="0" marL="0">
              <a:lnSpc>
                <a:spcPct val="105000"/>
              </a:lnSpc>
              <a:buNone/>
            </a:pPr>
            <a:r>
              <a:rPr lang="en-US" sz="1500" dirty="0">
                <a:solidFill>
                  <a:schemeClr val="bg2"/>
                </a:solidFill>
              </a:rPr>
              <a:t>Recibe preguntas de gerencia en lenguaje natural, coordina a los agentes y responde con evidencia.</a:t>
            </a:r>
            <a:endParaRPr lang="en-US" sz="1500" dirty="0"/>
          </a:p>
        </p:txBody>
      </p:sp>
      <p:sp>
        <p:nvSpPr>
          <p:cNvPr id="8" name="Text 5"/>
          <p:cNvSpPr txBox="1"/>
          <p:nvPr/>
        </p:nvSpPr>
        <p:spPr>
          <a:xfrm>
            <a:off x="868680" y="4846320"/>
            <a:ext cx="2468880" cy="1005840"/>
          </a:xfrm>
          <a:prstGeom prst="rect">
            <a:avLst/>
          </a:prstGeom>
          <a:noFill/>
          <a:ln/>
        </p:spPr>
        <p:txBody>
          <a:bodyPr wrap="square" lIns="0" tIns="0" rIns="0" bIns="0" rtlCol="0" anchor="t"/>
          <a:lstStyle/>
          <a:p>
            <a:pPr indent="0" marL="0">
              <a:spcAft>
                <a:spcPts val="600"/>
              </a:spcAft>
              <a:buNone/>
            </a:pPr>
            <a:r>
              <a:rPr lang="en-US" sz="1400" i="1" dirty="0">
                <a:solidFill>
                  <a:schemeClr val="accent2"/>
                </a:solidFill>
              </a:rPr>
              <a:t>«¿Qué campaña apago y cuál escalo?»</a:t>
            </a:r>
            <a:endParaRPr lang="en-US" sz="1400" dirty="0"/>
          </a:p>
          <a:p>
            <a:pPr indent="0" marL="0">
              <a:spcAft>
                <a:spcPts val="600"/>
              </a:spcAft>
              <a:buNone/>
            </a:pPr>
            <a:r>
              <a:rPr lang="en-US" sz="1400" i="1" dirty="0">
                <a:solidFill>
                  <a:schemeClr val="accent2"/>
                </a:solidFill>
              </a:rPr>
              <a:t>«¿Necesito reales mañana?»</a:t>
            </a:r>
            <a:endParaRPr lang="en-US" sz="1400" dirty="0"/>
          </a:p>
        </p:txBody>
      </p:sp>
      <p:sp>
        <p:nvSpPr>
          <p:cNvPr id="9" name="Agente Rastro"/>
          <p:cNvSpPr/>
          <p:nvPr/>
        </p:nvSpPr>
        <p:spPr>
          <a:xfrm>
            <a:off x="3886200" y="1691640"/>
            <a:ext cx="2433218" cy="2080260"/>
          </a:xfrm>
          <a:prstGeom prst="roundRect">
            <a:avLst>
              <a:gd name="adj" fmla="val 6154"/>
            </a:avLst>
          </a:prstGeom>
          <a:solidFill>
            <a:schemeClr val="accent2">
              <a:alpha val="11000"/>
            </a:schemeClr>
          </a:solidFill>
          <a:ln/>
        </p:spPr>
      </p:sp>
      <p:pic>
        <p:nvPicPr>
          <p:cNvPr id="10" name="Mascota Rastro" descr="Mascota de Rastro">    </p:cNvPr>
          <p:cNvPicPr>
            <a:picLocks noChangeAspect="1"/>
          </p:cNvPicPr>
          <p:nvPr/>
        </p:nvPicPr>
        <p:blipFill>
          <a:blip r:embed="rId2"/>
          <a:stretch>
            <a:fillRect/>
          </a:stretch>
        </p:blipFill>
        <p:spPr>
          <a:xfrm>
            <a:off x="4069080" y="1874520"/>
            <a:ext cx="777240" cy="854964"/>
          </a:xfrm>
          <a:prstGeom prst="rect">
            <a:avLst/>
          </a:prstGeom>
        </p:spPr>
      </p:pic>
      <p:sp>
        <p:nvSpPr>
          <p:cNvPr id="11" name="Text 7"/>
          <p:cNvSpPr txBox="1"/>
          <p:nvPr/>
        </p:nvSpPr>
        <p:spPr>
          <a:xfrm>
            <a:off x="4983480" y="1965960"/>
            <a:ext cx="1198778" cy="38404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Rastro</a:t>
            </a:r>
            <a:endParaRPr lang="en-US" sz="1900" dirty="0"/>
          </a:p>
        </p:txBody>
      </p:sp>
      <p:sp>
        <p:nvSpPr>
          <p:cNvPr id="12" name="Text 8"/>
          <p:cNvSpPr txBox="1"/>
          <p:nvPr/>
        </p:nvSpPr>
        <p:spPr>
          <a:xfrm>
            <a:off x="4983480" y="2368296"/>
            <a:ext cx="1198778" cy="292608"/>
          </a:xfrm>
          <a:prstGeom prst="rect">
            <a:avLst/>
          </a:prstGeom>
          <a:noFill/>
          <a:ln/>
        </p:spPr>
        <p:txBody>
          <a:bodyPr wrap="square" lIns="0" tIns="0" rIns="0" bIns="0" rtlCol="0" anchor="t"/>
          <a:lstStyle/>
          <a:p>
            <a:pPr indent="0" marL="0">
              <a:buNone/>
            </a:pPr>
            <a:r>
              <a:rPr lang="en-US" sz="1300" dirty="0">
                <a:solidFill>
                  <a:schemeClr val="tx2"/>
                </a:solidFill>
              </a:rPr>
              <a:t>Trazabilidad</a:t>
            </a:r>
            <a:endParaRPr lang="en-US" sz="1300" dirty="0"/>
          </a:p>
        </p:txBody>
      </p:sp>
      <p:sp>
        <p:nvSpPr>
          <p:cNvPr id="13" name="Text 9"/>
          <p:cNvSpPr txBox="1"/>
          <p:nvPr/>
        </p:nvSpPr>
        <p:spPr>
          <a:xfrm>
            <a:off x="4087368" y="2880360"/>
            <a:ext cx="2030882" cy="731520"/>
          </a:xfrm>
          <a:prstGeom prst="rect">
            <a:avLst/>
          </a:prstGeom>
          <a:noFill/>
          <a:ln/>
        </p:spPr>
        <p:txBody>
          <a:bodyPr wrap="square" lIns="0" tIns="0" rIns="0" bIns="0" rtlCol="0" anchor="t"/>
          <a:lstStyle/>
          <a:p>
            <a:pPr indent="0" marL="0">
              <a:buNone/>
            </a:pPr>
            <a:r>
              <a:rPr lang="en-US" sz="1400" dirty="0">
                <a:solidFill>
                  <a:schemeClr val="tx1"/>
                </a:solidFill>
              </a:rPr>
              <a:t>Une cada anuncio con el cliente y sus operaciones.</a:t>
            </a:r>
            <a:endParaRPr lang="en-US" sz="1400" dirty="0"/>
          </a:p>
        </p:txBody>
      </p:sp>
      <p:sp>
        <p:nvSpPr>
          <p:cNvPr id="14" name="Agente Capital"/>
          <p:cNvSpPr/>
          <p:nvPr/>
        </p:nvSpPr>
        <p:spPr>
          <a:xfrm>
            <a:off x="6548018" y="1691640"/>
            <a:ext cx="2433218" cy="2080260"/>
          </a:xfrm>
          <a:prstGeom prst="roundRect">
            <a:avLst>
              <a:gd name="adj" fmla="val 6154"/>
            </a:avLst>
          </a:prstGeom>
          <a:solidFill>
            <a:schemeClr val="accent3">
              <a:alpha val="11000"/>
            </a:schemeClr>
          </a:solidFill>
          <a:ln/>
        </p:spPr>
      </p:sp>
      <p:pic>
        <p:nvPicPr>
          <p:cNvPr id="15" name="Mascota Capital" descr="Mascota de Capital">    </p:cNvPr>
          <p:cNvPicPr>
            <a:picLocks noChangeAspect="1"/>
          </p:cNvPicPr>
          <p:nvPr/>
        </p:nvPicPr>
        <p:blipFill>
          <a:blip r:embed="rId3"/>
          <a:stretch>
            <a:fillRect/>
          </a:stretch>
        </p:blipFill>
        <p:spPr>
          <a:xfrm>
            <a:off x="6730898" y="1874520"/>
            <a:ext cx="777240" cy="854964"/>
          </a:xfrm>
          <a:prstGeom prst="rect">
            <a:avLst/>
          </a:prstGeom>
        </p:spPr>
      </p:pic>
      <p:sp>
        <p:nvSpPr>
          <p:cNvPr id="16" name="Text 11"/>
          <p:cNvSpPr txBox="1"/>
          <p:nvPr/>
        </p:nvSpPr>
        <p:spPr>
          <a:xfrm>
            <a:off x="7645298" y="1965960"/>
            <a:ext cx="1198778" cy="38404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Capital</a:t>
            </a:r>
            <a:endParaRPr lang="en-US" sz="1900" dirty="0"/>
          </a:p>
        </p:txBody>
      </p:sp>
      <p:sp>
        <p:nvSpPr>
          <p:cNvPr id="17" name="Text 12"/>
          <p:cNvSpPr txBox="1"/>
          <p:nvPr/>
        </p:nvSpPr>
        <p:spPr>
          <a:xfrm>
            <a:off x="7645298" y="2368296"/>
            <a:ext cx="1198778" cy="292608"/>
          </a:xfrm>
          <a:prstGeom prst="rect">
            <a:avLst/>
          </a:prstGeom>
          <a:noFill/>
          <a:ln/>
        </p:spPr>
        <p:txBody>
          <a:bodyPr wrap="square" lIns="0" tIns="0" rIns="0" bIns="0" rtlCol="0" anchor="t"/>
          <a:lstStyle/>
          <a:p>
            <a:pPr indent="0" marL="0">
              <a:buNone/>
            </a:pPr>
            <a:r>
              <a:rPr lang="en-US" sz="1300" dirty="0">
                <a:solidFill>
                  <a:schemeClr val="tx2"/>
                </a:solidFill>
              </a:rPr>
              <a:t>Finanzas</a:t>
            </a:r>
            <a:endParaRPr lang="en-US" sz="1300" dirty="0"/>
          </a:p>
        </p:txBody>
      </p:sp>
      <p:sp>
        <p:nvSpPr>
          <p:cNvPr id="18" name="Text 13"/>
          <p:cNvSpPr txBox="1"/>
          <p:nvPr/>
        </p:nvSpPr>
        <p:spPr>
          <a:xfrm>
            <a:off x="6749186" y="2880360"/>
            <a:ext cx="2030882" cy="731520"/>
          </a:xfrm>
          <a:prstGeom prst="rect">
            <a:avLst/>
          </a:prstGeom>
          <a:noFill/>
          <a:ln/>
        </p:spPr>
        <p:txBody>
          <a:bodyPr wrap="square" lIns="0" tIns="0" rIns="0" bIns="0" rtlCol="0" anchor="t"/>
          <a:lstStyle/>
          <a:p>
            <a:pPr indent="0" marL="0">
              <a:buNone/>
            </a:pPr>
            <a:r>
              <a:rPr lang="en-US" sz="1400" dirty="0">
                <a:solidFill>
                  <a:schemeClr val="tx1"/>
                </a:solidFill>
              </a:rPr>
              <a:t>Mide ROI, ROAS y CAC sobre la comisión real.</a:t>
            </a:r>
            <a:endParaRPr lang="en-US" sz="1400" dirty="0"/>
          </a:p>
        </p:txBody>
      </p:sp>
      <p:sp>
        <p:nvSpPr>
          <p:cNvPr id="19" name="Agente Horizonte"/>
          <p:cNvSpPr/>
          <p:nvPr/>
        </p:nvSpPr>
        <p:spPr>
          <a:xfrm>
            <a:off x="9209837" y="1691640"/>
            <a:ext cx="2433218" cy="2080260"/>
          </a:xfrm>
          <a:prstGeom prst="roundRect">
            <a:avLst>
              <a:gd name="adj" fmla="val 6154"/>
            </a:avLst>
          </a:prstGeom>
          <a:solidFill>
            <a:schemeClr val="accent6">
              <a:alpha val="11000"/>
            </a:schemeClr>
          </a:solidFill>
          <a:ln/>
        </p:spPr>
      </p:sp>
      <p:pic>
        <p:nvPicPr>
          <p:cNvPr id="20" name="Mascota Horizonte" descr="Mascota de Horizonte">    </p:cNvPr>
          <p:cNvPicPr>
            <a:picLocks noChangeAspect="1"/>
          </p:cNvPicPr>
          <p:nvPr/>
        </p:nvPicPr>
        <p:blipFill>
          <a:blip r:embed="rId4"/>
          <a:stretch>
            <a:fillRect/>
          </a:stretch>
        </p:blipFill>
        <p:spPr>
          <a:xfrm>
            <a:off x="9392717" y="1874520"/>
            <a:ext cx="777240" cy="854964"/>
          </a:xfrm>
          <a:prstGeom prst="rect">
            <a:avLst/>
          </a:prstGeom>
        </p:spPr>
      </p:pic>
      <p:sp>
        <p:nvSpPr>
          <p:cNvPr id="21" name="Text 15"/>
          <p:cNvSpPr txBox="1"/>
          <p:nvPr/>
        </p:nvSpPr>
        <p:spPr>
          <a:xfrm>
            <a:off x="10307117" y="1965960"/>
            <a:ext cx="1198778" cy="38404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Horizonte</a:t>
            </a:r>
            <a:endParaRPr lang="en-US" sz="1900" dirty="0"/>
          </a:p>
        </p:txBody>
      </p:sp>
      <p:sp>
        <p:nvSpPr>
          <p:cNvPr id="22" name="Text 16"/>
          <p:cNvSpPr txBox="1"/>
          <p:nvPr/>
        </p:nvSpPr>
        <p:spPr>
          <a:xfrm>
            <a:off x="10307117" y="2368296"/>
            <a:ext cx="1198778" cy="292608"/>
          </a:xfrm>
          <a:prstGeom prst="rect">
            <a:avLst/>
          </a:prstGeom>
          <a:noFill/>
          <a:ln/>
        </p:spPr>
        <p:txBody>
          <a:bodyPr wrap="square" lIns="0" tIns="0" rIns="0" bIns="0" rtlCol="0" anchor="t"/>
          <a:lstStyle/>
          <a:p>
            <a:pPr indent="0" marL="0">
              <a:buNone/>
            </a:pPr>
            <a:r>
              <a:rPr lang="en-US" sz="1300" dirty="0">
                <a:solidFill>
                  <a:schemeClr val="tx2"/>
                </a:solidFill>
              </a:rPr>
              <a:t>Predicción</a:t>
            </a:r>
            <a:endParaRPr lang="en-US" sz="1300" dirty="0"/>
          </a:p>
        </p:txBody>
      </p:sp>
      <p:sp>
        <p:nvSpPr>
          <p:cNvPr id="23" name="Text 17"/>
          <p:cNvSpPr txBox="1"/>
          <p:nvPr/>
        </p:nvSpPr>
        <p:spPr>
          <a:xfrm>
            <a:off x="9411005" y="2880360"/>
            <a:ext cx="2030882" cy="731520"/>
          </a:xfrm>
          <a:prstGeom prst="rect">
            <a:avLst/>
          </a:prstGeom>
          <a:noFill/>
          <a:ln/>
        </p:spPr>
        <p:txBody>
          <a:bodyPr wrap="square" lIns="0" tIns="0" rIns="0" bIns="0" rtlCol="0" anchor="t"/>
          <a:lstStyle/>
          <a:p>
            <a:pPr indent="0" marL="0">
              <a:buNone/>
            </a:pPr>
            <a:r>
              <a:rPr lang="en-US" sz="1400" dirty="0">
                <a:solidFill>
                  <a:schemeClr val="tx1"/>
                </a:solidFill>
              </a:rPr>
              <a:t>Recomienda cuánto invertir, cuándo y dónde.</a:t>
            </a:r>
            <a:endParaRPr lang="en-US" sz="1400" dirty="0"/>
          </a:p>
        </p:txBody>
      </p:sp>
      <p:sp>
        <p:nvSpPr>
          <p:cNvPr id="24" name="Agente Bitácora"/>
          <p:cNvSpPr/>
          <p:nvPr/>
        </p:nvSpPr>
        <p:spPr>
          <a:xfrm>
            <a:off x="3886200" y="4000500"/>
            <a:ext cx="2433218" cy="2080260"/>
          </a:xfrm>
          <a:prstGeom prst="roundRect">
            <a:avLst>
              <a:gd name="adj" fmla="val 6154"/>
            </a:avLst>
          </a:prstGeom>
          <a:solidFill>
            <a:schemeClr val="accent1">
              <a:alpha val="11000"/>
            </a:schemeClr>
          </a:solidFill>
          <a:ln/>
        </p:spPr>
      </p:sp>
      <p:pic>
        <p:nvPicPr>
          <p:cNvPr id="25" name="Mascota Bitácora" descr="Mascota de Bitácora">    </p:cNvPr>
          <p:cNvPicPr>
            <a:picLocks noChangeAspect="1"/>
          </p:cNvPicPr>
          <p:nvPr/>
        </p:nvPicPr>
        <p:blipFill>
          <a:blip r:embed="rId5"/>
          <a:stretch>
            <a:fillRect/>
          </a:stretch>
        </p:blipFill>
        <p:spPr>
          <a:xfrm>
            <a:off x="4069080" y="4183380"/>
            <a:ext cx="777240" cy="854964"/>
          </a:xfrm>
          <a:prstGeom prst="rect">
            <a:avLst/>
          </a:prstGeom>
        </p:spPr>
      </p:pic>
      <p:sp>
        <p:nvSpPr>
          <p:cNvPr id="26" name="Text 19"/>
          <p:cNvSpPr txBox="1"/>
          <p:nvPr/>
        </p:nvSpPr>
        <p:spPr>
          <a:xfrm>
            <a:off x="4983480" y="4274820"/>
            <a:ext cx="1198778" cy="38404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Bitácora</a:t>
            </a:r>
            <a:endParaRPr lang="en-US" sz="1900" dirty="0"/>
          </a:p>
        </p:txBody>
      </p:sp>
      <p:sp>
        <p:nvSpPr>
          <p:cNvPr id="27" name="Text 20"/>
          <p:cNvSpPr txBox="1"/>
          <p:nvPr/>
        </p:nvSpPr>
        <p:spPr>
          <a:xfrm>
            <a:off x="4983480" y="4677156"/>
            <a:ext cx="1198778" cy="292608"/>
          </a:xfrm>
          <a:prstGeom prst="rect">
            <a:avLst/>
          </a:prstGeom>
          <a:noFill/>
          <a:ln/>
        </p:spPr>
        <p:txBody>
          <a:bodyPr wrap="square" lIns="0" tIns="0" rIns="0" bIns="0" rtlCol="0" anchor="t"/>
          <a:lstStyle/>
          <a:p>
            <a:pPr indent="0" marL="0">
              <a:buNone/>
            </a:pPr>
            <a:r>
              <a:rPr lang="en-US" sz="1300" dirty="0">
                <a:solidFill>
                  <a:schemeClr val="tx2"/>
                </a:solidFill>
              </a:rPr>
              <a:t>Registro</a:t>
            </a:r>
            <a:endParaRPr lang="en-US" sz="1300" dirty="0"/>
          </a:p>
        </p:txBody>
      </p:sp>
      <p:sp>
        <p:nvSpPr>
          <p:cNvPr id="28" name="Text 21"/>
          <p:cNvSpPr txBox="1"/>
          <p:nvPr/>
        </p:nvSpPr>
        <p:spPr>
          <a:xfrm>
            <a:off x="4087368" y="5189220"/>
            <a:ext cx="2030882" cy="731520"/>
          </a:xfrm>
          <a:prstGeom prst="rect">
            <a:avLst/>
          </a:prstGeom>
          <a:noFill/>
          <a:ln/>
        </p:spPr>
        <p:txBody>
          <a:bodyPr wrap="square" lIns="0" tIns="0" rIns="0" bIns="0" rtlCol="0" anchor="t"/>
          <a:lstStyle/>
          <a:p>
            <a:pPr indent="0" marL="0">
              <a:buNone/>
            </a:pPr>
            <a:r>
              <a:rPr lang="en-US" sz="1400" dirty="0">
                <a:solidFill>
                  <a:schemeClr val="tx1"/>
                </a:solidFill>
              </a:rPr>
              <a:t>Guarda cada cotización, cierre o no.</a:t>
            </a:r>
            <a:endParaRPr lang="en-US" sz="1400" dirty="0"/>
          </a:p>
        </p:txBody>
      </p:sp>
      <p:sp>
        <p:nvSpPr>
          <p:cNvPr id="29" name="Agente Caudal"/>
          <p:cNvSpPr/>
          <p:nvPr/>
        </p:nvSpPr>
        <p:spPr>
          <a:xfrm>
            <a:off x="6548018" y="4000500"/>
            <a:ext cx="2433218" cy="2080260"/>
          </a:xfrm>
          <a:prstGeom prst="roundRect">
            <a:avLst>
              <a:gd name="adj" fmla="val 6154"/>
            </a:avLst>
          </a:prstGeom>
          <a:solidFill>
            <a:schemeClr val="accent4">
              <a:alpha val="11000"/>
            </a:schemeClr>
          </a:solidFill>
          <a:ln/>
        </p:spPr>
      </p:sp>
      <p:pic>
        <p:nvPicPr>
          <p:cNvPr id="30" name="Mascota Caudal" descr="Mascota de Caudal">    </p:cNvPr>
          <p:cNvPicPr>
            <a:picLocks noChangeAspect="1"/>
          </p:cNvPicPr>
          <p:nvPr/>
        </p:nvPicPr>
        <p:blipFill>
          <a:blip r:embed="rId6"/>
          <a:stretch>
            <a:fillRect/>
          </a:stretch>
        </p:blipFill>
        <p:spPr>
          <a:xfrm>
            <a:off x="6730898" y="4183380"/>
            <a:ext cx="777240" cy="854964"/>
          </a:xfrm>
          <a:prstGeom prst="rect">
            <a:avLst/>
          </a:prstGeom>
        </p:spPr>
      </p:pic>
      <p:sp>
        <p:nvSpPr>
          <p:cNvPr id="31" name="Text 23"/>
          <p:cNvSpPr txBox="1"/>
          <p:nvPr/>
        </p:nvSpPr>
        <p:spPr>
          <a:xfrm>
            <a:off x="7645298" y="4274820"/>
            <a:ext cx="1198778" cy="38404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Caudal</a:t>
            </a:r>
            <a:endParaRPr lang="en-US" sz="1900" dirty="0"/>
          </a:p>
        </p:txBody>
      </p:sp>
      <p:sp>
        <p:nvSpPr>
          <p:cNvPr id="32" name="Text 24"/>
          <p:cNvSpPr txBox="1"/>
          <p:nvPr/>
        </p:nvSpPr>
        <p:spPr>
          <a:xfrm>
            <a:off x="7645298" y="4677156"/>
            <a:ext cx="1198778" cy="292608"/>
          </a:xfrm>
          <a:prstGeom prst="rect">
            <a:avLst/>
          </a:prstGeom>
          <a:noFill/>
          <a:ln/>
        </p:spPr>
        <p:txBody>
          <a:bodyPr wrap="square" lIns="0" tIns="0" rIns="0" bIns="0" rtlCol="0" anchor="t"/>
          <a:lstStyle/>
          <a:p>
            <a:pPr indent="0" marL="0">
              <a:buNone/>
            </a:pPr>
            <a:r>
              <a:rPr lang="en-US" sz="1300" dirty="0">
                <a:solidFill>
                  <a:schemeClr val="tx2"/>
                </a:solidFill>
              </a:rPr>
              <a:t>Liquidez</a:t>
            </a:r>
            <a:endParaRPr lang="en-US" sz="1300" dirty="0"/>
          </a:p>
        </p:txBody>
      </p:sp>
      <p:sp>
        <p:nvSpPr>
          <p:cNvPr id="33" name="Text 25"/>
          <p:cNvSpPr txBox="1"/>
          <p:nvPr/>
        </p:nvSpPr>
        <p:spPr>
          <a:xfrm>
            <a:off x="6749186" y="5189220"/>
            <a:ext cx="2030882" cy="731520"/>
          </a:xfrm>
          <a:prstGeom prst="rect">
            <a:avLst/>
          </a:prstGeom>
          <a:noFill/>
          <a:ln/>
        </p:spPr>
        <p:txBody>
          <a:bodyPr wrap="square" lIns="0" tIns="0" rIns="0" bIns="0" rtlCol="0" anchor="t"/>
          <a:lstStyle/>
          <a:p>
            <a:pPr indent="0" marL="0">
              <a:buNone/>
            </a:pPr>
            <a:r>
              <a:rPr lang="en-US" sz="1400" dirty="0">
                <a:solidFill>
                  <a:schemeClr val="tx1"/>
                </a:solidFill>
              </a:rPr>
              <a:t>Vigila los saldos cada hora y alerta a tiempo.</a:t>
            </a:r>
            <a:endParaRPr lang="en-US" sz="1400" dirty="0"/>
          </a:p>
        </p:txBody>
      </p:sp>
      <p:sp>
        <p:nvSpPr>
          <p:cNvPr id="34" name="Agente Lupa"/>
          <p:cNvSpPr/>
          <p:nvPr/>
        </p:nvSpPr>
        <p:spPr>
          <a:xfrm>
            <a:off x="9209837" y="4000500"/>
            <a:ext cx="2433218" cy="2080260"/>
          </a:xfrm>
          <a:prstGeom prst="roundRect">
            <a:avLst>
              <a:gd name="adj" fmla="val 6154"/>
            </a:avLst>
          </a:prstGeom>
          <a:solidFill>
            <a:schemeClr val="accent5">
              <a:alpha val="11000"/>
            </a:schemeClr>
          </a:solidFill>
          <a:ln/>
        </p:spPr>
      </p:sp>
      <p:pic>
        <p:nvPicPr>
          <p:cNvPr id="35" name="Mascota Lupa" descr="Mascota de Lupa">    </p:cNvPr>
          <p:cNvPicPr>
            <a:picLocks noChangeAspect="1"/>
          </p:cNvPicPr>
          <p:nvPr/>
        </p:nvPicPr>
        <p:blipFill>
          <a:blip r:embed="rId7"/>
          <a:stretch>
            <a:fillRect/>
          </a:stretch>
        </p:blipFill>
        <p:spPr>
          <a:xfrm>
            <a:off x="9392717" y="4183380"/>
            <a:ext cx="777240" cy="854964"/>
          </a:xfrm>
          <a:prstGeom prst="rect">
            <a:avLst/>
          </a:prstGeom>
        </p:spPr>
      </p:pic>
      <p:sp>
        <p:nvSpPr>
          <p:cNvPr id="36" name="Text 27"/>
          <p:cNvSpPr txBox="1"/>
          <p:nvPr/>
        </p:nvSpPr>
        <p:spPr>
          <a:xfrm>
            <a:off x="10307117" y="4274820"/>
            <a:ext cx="1198778" cy="384048"/>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Lupa</a:t>
            </a:r>
            <a:endParaRPr lang="en-US" sz="1900" dirty="0"/>
          </a:p>
        </p:txBody>
      </p:sp>
      <p:sp>
        <p:nvSpPr>
          <p:cNvPr id="37" name="Text 28"/>
          <p:cNvSpPr txBox="1"/>
          <p:nvPr/>
        </p:nvSpPr>
        <p:spPr>
          <a:xfrm>
            <a:off x="10307117" y="4677156"/>
            <a:ext cx="1198778" cy="292608"/>
          </a:xfrm>
          <a:prstGeom prst="rect">
            <a:avLst/>
          </a:prstGeom>
          <a:noFill/>
          <a:ln/>
        </p:spPr>
        <p:txBody>
          <a:bodyPr wrap="square" lIns="0" tIns="0" rIns="0" bIns="0" rtlCol="0" anchor="t"/>
          <a:lstStyle/>
          <a:p>
            <a:pPr indent="0" marL="0">
              <a:buNone/>
            </a:pPr>
            <a:r>
              <a:rPr lang="en-US" sz="1300" dirty="0">
                <a:solidFill>
                  <a:schemeClr val="tx2"/>
                </a:solidFill>
              </a:rPr>
              <a:t>Calidad de leads</a:t>
            </a:r>
            <a:endParaRPr lang="en-US" sz="1300" dirty="0"/>
          </a:p>
        </p:txBody>
      </p:sp>
      <p:sp>
        <p:nvSpPr>
          <p:cNvPr id="38" name="Text 29"/>
          <p:cNvSpPr txBox="1"/>
          <p:nvPr/>
        </p:nvSpPr>
        <p:spPr>
          <a:xfrm>
            <a:off x="9411005" y="5189220"/>
            <a:ext cx="2030882" cy="731520"/>
          </a:xfrm>
          <a:prstGeom prst="rect">
            <a:avLst/>
          </a:prstGeom>
          <a:noFill/>
          <a:ln/>
        </p:spPr>
        <p:txBody>
          <a:bodyPr wrap="square" lIns="0" tIns="0" rIns="0" bIns="0" rtlCol="0" anchor="t"/>
          <a:lstStyle/>
          <a:p>
            <a:pPr indent="0" marL="0">
              <a:buNone/>
            </a:pPr>
            <a:r>
              <a:rPr lang="en-US" sz="1400" dirty="0">
                <a:solidFill>
                  <a:schemeClr val="tx1"/>
                </a:solidFill>
              </a:rPr>
              <a:t>Descubre por qué no cierran los leads.</a:t>
            </a:r>
            <a:endParaRPr lang="en-US" sz="14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SOLUCIÓN 2 · ARM CON AGENTES IA</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Cada cliente queda unido a la campaña que lo trajo</a:t>
            </a:r>
            <a:endParaRPr lang="en-US" sz="3200" dirty="0"/>
          </a:p>
        </p:txBody>
      </p:sp>
      <p:sp>
        <p:nvSpPr>
          <p:cNvPr id="4" name="Eslabón Anuncio"/>
          <p:cNvSpPr/>
          <p:nvPr/>
        </p:nvSpPr>
        <p:spPr>
          <a:xfrm>
            <a:off x="548640" y="1691640"/>
            <a:ext cx="1984797"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Ícono megaphone" descr="preencoded.png">    </p:cNvPr>
          <p:cNvPicPr>
            <a:picLocks noChangeAspect="1"/>
          </p:cNvPicPr>
          <p:nvPr/>
        </p:nvPicPr>
        <p:blipFill>
          <a:blip r:embed="rId1"/>
          <a:stretch>
            <a:fillRect/>
          </a:stretch>
        </p:blipFill>
        <p:spPr>
          <a:xfrm>
            <a:off x="731520" y="1847088"/>
            <a:ext cx="411480" cy="411480"/>
          </a:xfrm>
          <a:prstGeom prst="rect">
            <a:avLst/>
          </a:prstGeom>
        </p:spPr>
      </p:pic>
      <p:sp>
        <p:nvSpPr>
          <p:cNvPr id="6" name="Text 3"/>
          <p:cNvSpPr txBox="1"/>
          <p:nvPr/>
        </p:nvSpPr>
        <p:spPr>
          <a:xfrm>
            <a:off x="731520" y="2331720"/>
            <a:ext cx="1664757" cy="292608"/>
          </a:xfrm>
          <a:prstGeom prst="rect">
            <a:avLst/>
          </a:prstGeom>
          <a:noFill/>
          <a:ln/>
        </p:spPr>
        <p:txBody>
          <a:bodyPr wrap="square" lIns="0" tIns="0" rIns="0" bIns="0" rtlCol="0" anchor="t"/>
          <a:lstStyle/>
          <a:p>
            <a:pPr indent="0" marL="0">
              <a:buNone/>
            </a:pPr>
            <a:r>
              <a:rPr lang="en-US" sz="1500" b="1" dirty="0">
                <a:solidFill>
                  <a:schemeClr val="tx1"/>
                </a:solidFill>
              </a:rPr>
              <a:t>Anuncio</a:t>
            </a:r>
            <a:endParaRPr lang="en-US" sz="1500" dirty="0"/>
          </a:p>
        </p:txBody>
      </p:sp>
      <p:sp>
        <p:nvSpPr>
          <p:cNvPr id="7" name="Text 4"/>
          <p:cNvSpPr txBox="1"/>
          <p:nvPr/>
        </p:nvSpPr>
        <p:spPr>
          <a:xfrm>
            <a:off x="731520" y="2633472"/>
            <a:ext cx="1664757" cy="329184"/>
          </a:xfrm>
          <a:prstGeom prst="rect">
            <a:avLst/>
          </a:prstGeom>
          <a:noFill/>
          <a:ln/>
        </p:spPr>
        <p:txBody>
          <a:bodyPr wrap="square" lIns="0" tIns="0" rIns="0" bIns="0" rtlCol="0" anchor="t"/>
          <a:lstStyle/>
          <a:p>
            <a:pPr indent="0" marL="0">
              <a:buNone/>
            </a:pPr>
            <a:r>
              <a:rPr lang="en-US" sz="1300" dirty="0">
                <a:solidFill>
                  <a:schemeClr val="tx2"/>
                </a:solidFill>
              </a:rPr>
              <a:t>Redes y WhatsApp</a:t>
            </a:r>
            <a:endParaRPr lang="en-US" sz="1300" dirty="0"/>
          </a:p>
        </p:txBody>
      </p:sp>
      <p:sp>
        <p:nvSpPr>
          <p:cNvPr id="8" name="Flecha eslabón 1"/>
          <p:cNvSpPr/>
          <p:nvPr/>
        </p:nvSpPr>
        <p:spPr>
          <a:xfrm>
            <a:off x="2570013" y="2354580"/>
            <a:ext cx="219456" cy="0"/>
          </a:xfrm>
          <a:prstGeom prst="line">
            <a:avLst/>
          </a:prstGeom>
          <a:noFill/>
          <a:ln w="19050">
            <a:solidFill>
              <a:schemeClr val="tx2"/>
            </a:solidFill>
            <a:prstDash val="solid"/>
            <a:tailEnd type="triangle"/>
          </a:ln>
        </p:spPr>
      </p:sp>
      <p:sp>
        <p:nvSpPr>
          <p:cNvPr id="9" name="Eslabón Visita a la web"/>
          <p:cNvSpPr/>
          <p:nvPr/>
        </p:nvSpPr>
        <p:spPr>
          <a:xfrm>
            <a:off x="2826045" y="1691640"/>
            <a:ext cx="1984797"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0" name="Ícono globe" descr="preencoded.png">    </p:cNvPr>
          <p:cNvPicPr>
            <a:picLocks noChangeAspect="1"/>
          </p:cNvPicPr>
          <p:nvPr/>
        </p:nvPicPr>
        <p:blipFill>
          <a:blip r:embed="rId2"/>
          <a:stretch>
            <a:fillRect/>
          </a:stretch>
        </p:blipFill>
        <p:spPr>
          <a:xfrm>
            <a:off x="3008925" y="1847088"/>
            <a:ext cx="411480" cy="411480"/>
          </a:xfrm>
          <a:prstGeom prst="rect">
            <a:avLst/>
          </a:prstGeom>
        </p:spPr>
      </p:pic>
      <p:sp>
        <p:nvSpPr>
          <p:cNvPr id="11" name="Text 7"/>
          <p:cNvSpPr txBox="1"/>
          <p:nvPr/>
        </p:nvSpPr>
        <p:spPr>
          <a:xfrm>
            <a:off x="3008925" y="2331720"/>
            <a:ext cx="1664757" cy="292608"/>
          </a:xfrm>
          <a:prstGeom prst="rect">
            <a:avLst/>
          </a:prstGeom>
          <a:noFill/>
          <a:ln/>
        </p:spPr>
        <p:txBody>
          <a:bodyPr wrap="square" lIns="0" tIns="0" rIns="0" bIns="0" rtlCol="0" anchor="t"/>
          <a:lstStyle/>
          <a:p>
            <a:pPr indent="0" marL="0">
              <a:buNone/>
            </a:pPr>
            <a:r>
              <a:rPr lang="en-US" sz="1500" b="1" dirty="0">
                <a:solidFill>
                  <a:schemeClr val="tx1"/>
                </a:solidFill>
              </a:rPr>
              <a:t>Visita a la web</a:t>
            </a:r>
            <a:endParaRPr lang="en-US" sz="1500" dirty="0"/>
          </a:p>
        </p:txBody>
      </p:sp>
      <p:sp>
        <p:nvSpPr>
          <p:cNvPr id="12" name="Text 8"/>
          <p:cNvSpPr txBox="1"/>
          <p:nvPr/>
        </p:nvSpPr>
        <p:spPr>
          <a:xfrm>
            <a:off x="3008925" y="2633472"/>
            <a:ext cx="1664757" cy="329184"/>
          </a:xfrm>
          <a:prstGeom prst="rect">
            <a:avLst/>
          </a:prstGeom>
          <a:noFill/>
          <a:ln/>
        </p:spPr>
        <p:txBody>
          <a:bodyPr wrap="square" lIns="0" tIns="0" rIns="0" bIns="0" rtlCol="0" anchor="t"/>
          <a:lstStyle/>
          <a:p>
            <a:pPr indent="0" marL="0">
              <a:buNone/>
            </a:pPr>
            <a:r>
              <a:rPr lang="en-US" sz="1300" dirty="0">
                <a:solidFill>
                  <a:schemeClr val="tx2"/>
                </a:solidFill>
              </a:rPr>
              <a:t>UTM e ID de clic</a:t>
            </a:r>
            <a:endParaRPr lang="en-US" sz="1300" dirty="0"/>
          </a:p>
        </p:txBody>
      </p:sp>
      <p:sp>
        <p:nvSpPr>
          <p:cNvPr id="13" name="Flecha eslabón 2"/>
          <p:cNvSpPr/>
          <p:nvPr/>
        </p:nvSpPr>
        <p:spPr>
          <a:xfrm>
            <a:off x="4847417" y="2354580"/>
            <a:ext cx="219456" cy="0"/>
          </a:xfrm>
          <a:prstGeom prst="line">
            <a:avLst/>
          </a:prstGeom>
          <a:noFill/>
          <a:ln w="19050">
            <a:solidFill>
              <a:schemeClr val="tx2"/>
            </a:solidFill>
            <a:prstDash val="solid"/>
            <a:tailEnd type="triangle"/>
          </a:ln>
        </p:spPr>
      </p:sp>
      <p:sp>
        <p:nvSpPr>
          <p:cNvPr id="14" name="Eslabón Registro"/>
          <p:cNvSpPr/>
          <p:nvPr/>
        </p:nvSpPr>
        <p:spPr>
          <a:xfrm>
            <a:off x="5103449" y="1691640"/>
            <a:ext cx="1984797"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5" name="Ícono user" descr="preencoded.png">    </p:cNvPr>
          <p:cNvPicPr>
            <a:picLocks noChangeAspect="1"/>
          </p:cNvPicPr>
          <p:nvPr/>
        </p:nvPicPr>
        <p:blipFill>
          <a:blip r:embed="rId3"/>
          <a:stretch>
            <a:fillRect/>
          </a:stretch>
        </p:blipFill>
        <p:spPr>
          <a:xfrm>
            <a:off x="5286329" y="1847088"/>
            <a:ext cx="411480" cy="411480"/>
          </a:xfrm>
          <a:prstGeom prst="rect">
            <a:avLst/>
          </a:prstGeom>
        </p:spPr>
      </p:pic>
      <p:sp>
        <p:nvSpPr>
          <p:cNvPr id="16" name="Text 11"/>
          <p:cNvSpPr txBox="1"/>
          <p:nvPr/>
        </p:nvSpPr>
        <p:spPr>
          <a:xfrm>
            <a:off x="5286329" y="2331720"/>
            <a:ext cx="1664757" cy="292608"/>
          </a:xfrm>
          <a:prstGeom prst="rect">
            <a:avLst/>
          </a:prstGeom>
          <a:noFill/>
          <a:ln/>
        </p:spPr>
        <p:txBody>
          <a:bodyPr wrap="square" lIns="0" tIns="0" rIns="0" bIns="0" rtlCol="0" anchor="t"/>
          <a:lstStyle/>
          <a:p>
            <a:pPr indent="0" marL="0">
              <a:buNone/>
            </a:pPr>
            <a:r>
              <a:rPr lang="en-US" sz="1500" b="1" dirty="0">
                <a:solidFill>
                  <a:schemeClr val="tx1"/>
                </a:solidFill>
              </a:rPr>
              <a:t>Registro</a:t>
            </a:r>
            <a:endParaRPr lang="en-US" sz="1500" dirty="0"/>
          </a:p>
        </p:txBody>
      </p:sp>
      <p:sp>
        <p:nvSpPr>
          <p:cNvPr id="17" name="Text 12"/>
          <p:cNvSpPr txBox="1"/>
          <p:nvPr/>
        </p:nvSpPr>
        <p:spPr>
          <a:xfrm>
            <a:off x="5286329" y="2633472"/>
            <a:ext cx="1664757" cy="329184"/>
          </a:xfrm>
          <a:prstGeom prst="rect">
            <a:avLst/>
          </a:prstGeom>
          <a:noFill/>
          <a:ln/>
        </p:spPr>
        <p:txBody>
          <a:bodyPr wrap="square" lIns="0" tIns="0" rIns="0" bIns="0" rtlCol="0" anchor="t"/>
          <a:lstStyle/>
          <a:p>
            <a:pPr indent="0" marL="0">
              <a:buNone/>
            </a:pPr>
            <a:r>
              <a:rPr lang="en-US" sz="1300" dirty="0">
                <a:solidFill>
                  <a:schemeClr val="tx2"/>
                </a:solidFill>
              </a:rPr>
              <a:t>DNI o CPF del cliente</a:t>
            </a:r>
            <a:endParaRPr lang="en-US" sz="1300" dirty="0"/>
          </a:p>
        </p:txBody>
      </p:sp>
      <p:sp>
        <p:nvSpPr>
          <p:cNvPr id="18" name="Flecha eslabón 3"/>
          <p:cNvSpPr/>
          <p:nvPr/>
        </p:nvSpPr>
        <p:spPr>
          <a:xfrm>
            <a:off x="7124822" y="2354580"/>
            <a:ext cx="219456" cy="0"/>
          </a:xfrm>
          <a:prstGeom prst="line">
            <a:avLst/>
          </a:prstGeom>
          <a:noFill/>
          <a:ln w="19050">
            <a:solidFill>
              <a:schemeClr val="tx2"/>
            </a:solidFill>
            <a:prstDash val="solid"/>
            <a:tailEnd type="triangle"/>
          </a:ln>
        </p:spPr>
      </p:sp>
      <p:sp>
        <p:nvSpPr>
          <p:cNvPr id="19" name="Eslabón Operaciones"/>
          <p:cNvSpPr/>
          <p:nvPr/>
        </p:nvSpPr>
        <p:spPr>
          <a:xfrm>
            <a:off x="7380854" y="1691640"/>
            <a:ext cx="1984797"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20" name="Ícono swap" descr="preencoded.png">    </p:cNvPr>
          <p:cNvPicPr>
            <a:picLocks noChangeAspect="1"/>
          </p:cNvPicPr>
          <p:nvPr/>
        </p:nvPicPr>
        <p:blipFill>
          <a:blip r:embed="rId4"/>
          <a:stretch>
            <a:fillRect/>
          </a:stretch>
        </p:blipFill>
        <p:spPr>
          <a:xfrm>
            <a:off x="7563734" y="1847088"/>
            <a:ext cx="411480" cy="411480"/>
          </a:xfrm>
          <a:prstGeom prst="rect">
            <a:avLst/>
          </a:prstGeom>
        </p:spPr>
      </p:pic>
      <p:sp>
        <p:nvSpPr>
          <p:cNvPr id="21" name="Text 15"/>
          <p:cNvSpPr txBox="1"/>
          <p:nvPr/>
        </p:nvSpPr>
        <p:spPr>
          <a:xfrm>
            <a:off x="7563734" y="2331720"/>
            <a:ext cx="1664757" cy="292608"/>
          </a:xfrm>
          <a:prstGeom prst="rect">
            <a:avLst/>
          </a:prstGeom>
          <a:noFill/>
          <a:ln/>
        </p:spPr>
        <p:txBody>
          <a:bodyPr wrap="square" lIns="0" tIns="0" rIns="0" bIns="0" rtlCol="0" anchor="t"/>
          <a:lstStyle/>
          <a:p>
            <a:pPr indent="0" marL="0">
              <a:buNone/>
            </a:pPr>
            <a:r>
              <a:rPr lang="en-US" sz="1500" b="1" dirty="0">
                <a:solidFill>
                  <a:schemeClr val="tx1"/>
                </a:solidFill>
              </a:rPr>
              <a:t>Operaciones</a:t>
            </a:r>
            <a:endParaRPr lang="en-US" sz="1500" dirty="0"/>
          </a:p>
        </p:txBody>
      </p:sp>
      <p:sp>
        <p:nvSpPr>
          <p:cNvPr id="22" name="Text 16"/>
          <p:cNvSpPr txBox="1"/>
          <p:nvPr/>
        </p:nvSpPr>
        <p:spPr>
          <a:xfrm>
            <a:off x="7563734" y="2633472"/>
            <a:ext cx="1664757" cy="329184"/>
          </a:xfrm>
          <a:prstGeom prst="rect">
            <a:avLst/>
          </a:prstGeom>
          <a:noFill/>
          <a:ln/>
        </p:spPr>
        <p:txBody>
          <a:bodyPr wrap="square" lIns="0" tIns="0" rIns="0" bIns="0" rtlCol="0" anchor="t"/>
          <a:lstStyle/>
          <a:p>
            <a:pPr indent="0" marL="0">
              <a:buNone/>
            </a:pPr>
            <a:r>
              <a:rPr lang="en-US" sz="1300" dirty="0">
                <a:solidFill>
                  <a:schemeClr val="tx2"/>
                </a:solidFill>
              </a:rPr>
              <a:t>Comisión de cada envío</a:t>
            </a:r>
            <a:endParaRPr lang="en-US" sz="1300" dirty="0"/>
          </a:p>
        </p:txBody>
      </p:sp>
      <p:sp>
        <p:nvSpPr>
          <p:cNvPr id="23" name="Flecha eslabón 4"/>
          <p:cNvSpPr/>
          <p:nvPr/>
        </p:nvSpPr>
        <p:spPr>
          <a:xfrm>
            <a:off x="9402227" y="2354580"/>
            <a:ext cx="219456" cy="0"/>
          </a:xfrm>
          <a:prstGeom prst="line">
            <a:avLst/>
          </a:prstGeom>
          <a:noFill/>
          <a:ln w="19050">
            <a:solidFill>
              <a:schemeClr val="tx2"/>
            </a:solidFill>
            <a:prstDash val="solid"/>
            <a:tailEnd type="triangle"/>
          </a:ln>
        </p:spPr>
      </p:sp>
      <p:sp>
        <p:nvSpPr>
          <p:cNvPr id="24" name="Eslabón ROAS y CAC"/>
          <p:cNvSpPr/>
          <p:nvPr/>
        </p:nvSpPr>
        <p:spPr>
          <a:xfrm>
            <a:off x="9658259" y="1691640"/>
            <a:ext cx="1984797" cy="1325880"/>
          </a:xfrm>
          <a:prstGeom prst="roundRect">
            <a:avLst>
              <a:gd name="adj" fmla="val 9655"/>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25" name="Ícono trend" descr="preencoded.png">    </p:cNvPr>
          <p:cNvPicPr>
            <a:picLocks noChangeAspect="1"/>
          </p:cNvPicPr>
          <p:nvPr/>
        </p:nvPicPr>
        <p:blipFill>
          <a:blip r:embed="rId5"/>
          <a:stretch>
            <a:fillRect/>
          </a:stretch>
        </p:blipFill>
        <p:spPr>
          <a:xfrm>
            <a:off x="9841139" y="1847088"/>
            <a:ext cx="411480" cy="411480"/>
          </a:xfrm>
          <a:prstGeom prst="rect">
            <a:avLst/>
          </a:prstGeom>
        </p:spPr>
      </p:pic>
      <p:sp>
        <p:nvSpPr>
          <p:cNvPr id="26" name="Text 19"/>
          <p:cNvSpPr txBox="1"/>
          <p:nvPr/>
        </p:nvSpPr>
        <p:spPr>
          <a:xfrm>
            <a:off x="9841139" y="2331720"/>
            <a:ext cx="1664757" cy="292608"/>
          </a:xfrm>
          <a:prstGeom prst="rect">
            <a:avLst/>
          </a:prstGeom>
          <a:noFill/>
          <a:ln/>
        </p:spPr>
        <p:txBody>
          <a:bodyPr wrap="square" lIns="0" tIns="0" rIns="0" bIns="0" rtlCol="0" anchor="t"/>
          <a:lstStyle/>
          <a:p>
            <a:pPr indent="0" marL="0">
              <a:buNone/>
            </a:pPr>
            <a:r>
              <a:rPr lang="en-US" sz="1500" b="1" dirty="0">
                <a:solidFill>
                  <a:schemeClr val="tx1"/>
                </a:solidFill>
              </a:rPr>
              <a:t>ROAS y CAC</a:t>
            </a:r>
            <a:endParaRPr lang="en-US" sz="1500" dirty="0"/>
          </a:p>
        </p:txBody>
      </p:sp>
      <p:sp>
        <p:nvSpPr>
          <p:cNvPr id="27" name="Text 20"/>
          <p:cNvSpPr txBox="1"/>
          <p:nvPr/>
        </p:nvSpPr>
        <p:spPr>
          <a:xfrm>
            <a:off x="9841139" y="2633472"/>
            <a:ext cx="1664757" cy="329184"/>
          </a:xfrm>
          <a:prstGeom prst="rect">
            <a:avLst/>
          </a:prstGeom>
          <a:noFill/>
          <a:ln/>
        </p:spPr>
        <p:txBody>
          <a:bodyPr wrap="square" lIns="0" tIns="0" rIns="0" bIns="0" rtlCol="0" anchor="t"/>
          <a:lstStyle/>
          <a:p>
            <a:pPr indent="0" marL="0">
              <a:buNone/>
            </a:pPr>
            <a:r>
              <a:rPr lang="en-US" sz="1300" dirty="0">
                <a:solidFill>
                  <a:schemeClr val="tx2"/>
                </a:solidFill>
              </a:rPr>
              <a:t>Por campaña y canal</a:t>
            </a:r>
            <a:endParaRPr lang="en-US" sz="1300" dirty="0"/>
          </a:p>
        </p:txBody>
      </p:sp>
      <p:graphicFrame>
        <p:nvGraphicFramePr>
          <p:cNvPr id="13" name="Tabla de canales"/>
          <p:cNvGraphicFramePr>
            <a:graphicFrameLocks noGrp="1"/>
          </p:cNvGraphicFramePr>
          <p:nvPr>
            <p:extLst>
              <p:ext uri="{D42A27DB-BD31-4B8C-83A1-F6EECF244321}">
                <p14:modId xmlns:p14="http://schemas.microsoft.com/office/powerpoint/2010/main" val="1579011935"/>
              </p:ext>
            </p:extLst>
          </p:nvPr>
        </p:nvGraphicFramePr>
        <p:xfrm>
          <a:off x="548640" y="3246120"/>
          <a:ext cx="7086600" cy="914400"/>
        </p:xfrm>
        <a:graphic>
          <a:graphicData uri="http://schemas.openxmlformats.org/drawingml/2006/table">
            <a:tbl>
              <a:tblPr/>
              <a:tblGrid>
                <a:gridCol w="1737360"/>
                <a:gridCol w="2606040"/>
                <a:gridCol w="2743200"/>
              </a:tblGrid>
              <a:tr h="411480">
                <a:tc>
                  <a:txBody>
                    <a:bodyPr/>
                    <a:lstStyle/>
                    <a:p>
                      <a:pPr indent="0" marL="0">
                        <a:buNone/>
                      </a:pPr>
                      <a:r>
                        <a:rPr lang="en-US" sz="1300" b="1" dirty="0">
                          <a:solidFill>
                            <a:schemeClr val="bg1"/>
                          </a:solidFill>
                        </a:rPr>
                        <a:t>Canal</a:t>
                      </a:r>
                      <a:endParaRPr lang="en-US" sz="13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Qué entrega</a:t>
                      </a:r>
                      <a:endParaRPr lang="en-US" sz="13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Cómo se une al cliente</a:t>
                      </a:r>
                      <a:endParaRPr lang="en-US" sz="13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tx1"/>
                    </a:solidFill>
                  </a:tcPr>
                </a:tc>
              </a:tr>
              <a:tr h="411480">
                <a:tc>
                  <a:txBody>
                    <a:bodyPr/>
                    <a:lstStyle/>
                    <a:p>
                      <a:pPr indent="0" marL="0">
                        <a:buNone/>
                      </a:pPr>
                      <a:r>
                        <a:rPr lang="en-US" sz="1400" b="1" dirty="0">
                          <a:solidFill>
                            <a:schemeClr val="tx1"/>
                          </a:solidFill>
                        </a:rPr>
                        <a:t>Meta</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Totales por anuncio + fbclid</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Web → registro (DNI o CPF)</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WhatsApp</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ctwa_clid + teléfono</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Hash del teléfono</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Formularios Meta</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Nombre, teléfono y email</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Hash del email o teléfono</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TikTok</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Totales + ttclid</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Web → registro</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Eventos</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QR con UTM o cupón</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Cupón usado en la operación</a:t>
                      </a:r>
                      <a:endParaRPr lang="en-US" sz="1400" dirty="0"/>
                    </a:p>
                  </a:txBody>
                  <a:tcPr marL="109728" marR="109728"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chemeClr val="bg1"/>
                    </a:solidFill>
                  </a:tcPr>
                </a:tc>
              </a:tr>
            </a:tbl>
          </a:graphicData>
        </a:graphic>
      </p:graphicFrame>
      <p:sp>
        <p:nvSpPr>
          <p:cNvPr id="29" name="Privacidad"/>
          <p:cNvSpPr/>
          <p:nvPr/>
        </p:nvSpPr>
        <p:spPr>
          <a:xfrm>
            <a:off x="7909560" y="3246120"/>
            <a:ext cx="3733495" cy="2468880"/>
          </a:xfrm>
          <a:prstGeom prst="roundRect">
            <a:avLst>
              <a:gd name="adj" fmla="val 5185"/>
            </a:avLst>
          </a:prstGeom>
          <a:solidFill>
            <a:schemeClr val="accent1">
              <a:alpha val="9000"/>
            </a:schemeClr>
          </a:solidFill>
          <a:ln/>
        </p:spPr>
      </p:sp>
      <p:pic>
        <p:nvPicPr>
          <p:cNvPr id="30" name="Ícono shield" descr="preencoded.png">    </p:cNvPr>
          <p:cNvPicPr>
            <a:picLocks noChangeAspect="1"/>
          </p:cNvPicPr>
          <p:nvPr/>
        </p:nvPicPr>
        <p:blipFill>
          <a:blip r:embed="rId6"/>
          <a:stretch>
            <a:fillRect/>
          </a:stretch>
        </p:blipFill>
        <p:spPr>
          <a:xfrm>
            <a:off x="8183880" y="3520440"/>
            <a:ext cx="502920" cy="502920"/>
          </a:xfrm>
          <a:prstGeom prst="rect">
            <a:avLst/>
          </a:prstGeom>
        </p:spPr>
      </p:pic>
      <p:sp>
        <p:nvSpPr>
          <p:cNvPr id="31" name="Text 22"/>
          <p:cNvSpPr txBox="1"/>
          <p:nvPr/>
        </p:nvSpPr>
        <p:spPr>
          <a:xfrm>
            <a:off x="8823960" y="3520440"/>
            <a:ext cx="2636215" cy="50292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Privacidad primero</a:t>
            </a:r>
            <a:endParaRPr lang="en-US" sz="1600" dirty="0"/>
          </a:p>
        </p:txBody>
      </p:sp>
      <p:sp>
        <p:nvSpPr>
          <p:cNvPr id="32" name="Text 23"/>
          <p:cNvSpPr txBox="1"/>
          <p:nvPr/>
        </p:nvSpPr>
        <p:spPr>
          <a:xfrm>
            <a:off x="8183880" y="4160520"/>
            <a:ext cx="3184855" cy="1417320"/>
          </a:xfrm>
          <a:prstGeom prst="rect">
            <a:avLst/>
          </a:prstGeom>
          <a:noFill/>
          <a:ln/>
        </p:spPr>
        <p:txBody>
          <a:bodyPr wrap="square" lIns="0" tIns="0" rIns="0" bIns="0" rtlCol="0" anchor="t"/>
          <a:lstStyle/>
          <a:p>
            <a:pPr indent="0" marL="0">
              <a:buNone/>
            </a:pPr>
            <a:r>
              <a:rPr lang="en-US" sz="1400" dirty="0">
                <a:solidFill>
                  <a:schemeClr val="tx1"/>
                </a:solidFill>
              </a:rPr>
              <a:t>Meta y TikTok no dicen quién hizo clic. El cruce se hace en la web de Brasper, después de que la persona acepta las cookies (Ley 29733 y LGPD).</a:t>
            </a:r>
            <a:endParaRPr lang="en-US" sz="1400" dirty="0"/>
          </a:p>
        </p:txBody>
      </p:sp>
      <p:sp>
        <p:nvSpPr>
          <p:cNvPr id="33" name="Text 24"/>
          <p:cNvSpPr txBox="1"/>
          <p:nvPr/>
        </p:nvSpPr>
        <p:spPr>
          <a:xfrm>
            <a:off x="548640" y="5833872"/>
            <a:ext cx="11094415" cy="320040"/>
          </a:xfrm>
          <a:prstGeom prst="rect">
            <a:avLst/>
          </a:prstGeom>
          <a:noFill/>
          <a:ln/>
        </p:spPr>
        <p:txBody>
          <a:bodyPr wrap="square" lIns="0" tIns="0" rIns="0" bIns="0" rtlCol="0" anchor="t"/>
          <a:lstStyle/>
          <a:p>
            <a:pPr indent="0" marL="0">
              <a:buNone/>
            </a:pPr>
            <a:r>
              <a:rPr lang="en-US" sz="1400" dirty="0">
                <a:solidFill>
                  <a:schemeClr val="tx2"/>
                </a:solidFill>
              </a:rPr>
              <a:t>Con ese cruce, cada sol invertido en anuncios se compara con la comisión real que dejó el cliente.</a:t>
            </a:r>
            <a:endParaRPr lang="en-US" sz="14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1828800"/>
            <a:ext cx="5303520" cy="365760"/>
          </a:xfrm>
          <a:prstGeom prst="rect">
            <a:avLst/>
          </a:prstGeom>
          <a:noFill/>
          <a:ln/>
        </p:spPr>
        <p:txBody>
          <a:bodyPr wrap="square" lIns="0" tIns="0" rIns="0" bIns="0" rtlCol="0" anchor="t"/>
          <a:lstStyle/>
          <a:p>
            <a:pPr algn="l" indent="0" marL="0">
              <a:buNone/>
            </a:pPr>
            <a:r>
              <a:rPr lang="en-US" sz="1400" b="1" spc="300" kern="0" dirty="0">
                <a:solidFill>
                  <a:schemeClr val="accent2"/>
                </a:solidFill>
              </a:rPr>
              <a:t>DEMO</a:t>
            </a:r>
            <a:endParaRPr lang="en-US" sz="1400" dirty="0"/>
          </a:p>
        </p:txBody>
      </p:sp>
      <p:sp>
        <p:nvSpPr>
          <p:cNvPr id="3" name="Text 1"/>
          <p:cNvSpPr/>
          <p:nvPr>
            <p:ph idx="103" type="title" hasCustomPrompt="1"/>
          </p:nvPr>
        </p:nvSpPr>
        <p:spPr>
          <a:xfrm>
            <a:off x="548640" y="2240280"/>
            <a:ext cx="5303520" cy="1600200"/>
          </a:xfrm>
          <a:prstGeom prst="rect">
            <a:avLst/>
          </a:prstGeom>
          <a:noFill/>
          <a:ln/>
        </p:spPr>
        <p:txBody>
          <a:bodyPr wrap="square" lIns="0" tIns="0" rIns="0" bIns="0" rtlCol="0" anchor="t"/>
          <a:lstStyle/>
          <a:p>
            <a:pPr algn="l" indent="0" marL="0">
              <a:buNone/>
            </a:pPr>
            <a:r>
              <a:rPr lang="en-US" sz="4800" b="1" dirty="0">
                <a:solidFill>
                  <a:schemeClr val="bg1"/>
                </a:solidFill>
              </a:rPr>
              <a:t>Veámoslo funcionando</a:t>
            </a:r>
            <a:endParaRPr lang="en-US" sz="4800" dirty="0"/>
          </a:p>
        </p:txBody>
      </p:sp>
      <p:sp>
        <p:nvSpPr>
          <p:cNvPr id="4" name="Text 1"/>
          <p:cNvSpPr/>
          <p:nvPr>
            <p:ph idx="104" type="body" hasCustomPrompt="1"/>
          </p:nvPr>
        </p:nvSpPr>
        <p:spPr>
          <a:xfrm>
            <a:off x="548640" y="4069080"/>
            <a:ext cx="4937760" cy="914400"/>
          </a:xfrm>
          <a:prstGeom prst="rect">
            <a:avLst/>
          </a:prstGeom>
          <a:noFill/>
          <a:ln/>
        </p:spPr>
        <p:txBody>
          <a:bodyPr wrap="square" lIns="0" tIns="0" rIns="0" bIns="0" rtlCol="0" anchor="t"/>
          <a:lstStyle/>
          <a:p>
            <a:pPr algn="l" indent="0" marL="0">
              <a:buNone/>
            </a:pPr>
            <a:r>
              <a:rPr lang="en-US" sz="1800" dirty="0">
                <a:solidFill>
                  <a:schemeClr val="bg2"/>
                </a:solidFill>
              </a:rPr>
              <a:t>Datos simulados con la estructura real del dashboard de Brasper.</a:t>
            </a:r>
            <a:endParaRPr lang="en-US" sz="1800" dirty="0"/>
          </a:p>
        </p:txBody>
      </p:sp>
      <p:sp>
        <p:nvSpPr>
          <p:cNvPr id="5" name="Paso de la demo 1"/>
          <p:cNvSpPr/>
          <p:nvPr/>
        </p:nvSpPr>
        <p:spPr>
          <a:xfrm>
            <a:off x="6309360" y="1783080"/>
            <a:ext cx="5333695" cy="1143000"/>
          </a:xfrm>
          <a:prstGeom prst="roundRect">
            <a:avLst>
              <a:gd name="adj" fmla="val 11200"/>
            </a:avLst>
          </a:prstGeom>
          <a:solidFill>
            <a:schemeClr val="bg1">
              <a:alpha val="10000"/>
            </a:schemeClr>
          </a:solidFill>
          <a:ln w="9525">
            <a:solidFill>
              <a:schemeClr val="bg1">
                <a:alpha val="25000"/>
              </a:schemeClr>
            </a:solidFill>
            <a:prstDash val="solid"/>
          </a:ln>
        </p:spPr>
      </p:sp>
      <p:sp>
        <p:nvSpPr>
          <p:cNvPr id="6" name="Número 1"/>
          <p:cNvSpPr/>
          <p:nvPr/>
        </p:nvSpPr>
        <p:spPr>
          <a:xfrm>
            <a:off x="6583680" y="2075688"/>
            <a:ext cx="548640" cy="548640"/>
          </a:xfrm>
          <a:prstGeom prst="ellipse">
            <a:avLst/>
          </a:prstGeom>
          <a:solidFill>
            <a:schemeClr val="accent2"/>
          </a:solidFill>
          <a:ln/>
        </p:spPr>
      </p:sp>
      <p:sp>
        <p:nvSpPr>
          <p:cNvPr id="7" name="Text 5"/>
          <p:cNvSpPr txBox="1"/>
          <p:nvPr/>
        </p:nvSpPr>
        <p:spPr>
          <a:xfrm>
            <a:off x="6583680" y="207568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8" name="Text 6"/>
          <p:cNvSpPr txBox="1"/>
          <p:nvPr/>
        </p:nvSpPr>
        <p:spPr>
          <a:xfrm>
            <a:off x="7360920" y="1965960"/>
            <a:ext cx="4053535"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RPA de facturación</a:t>
            </a:r>
            <a:endParaRPr lang="en-US" sz="1800" dirty="0"/>
          </a:p>
        </p:txBody>
      </p:sp>
      <p:sp>
        <p:nvSpPr>
          <p:cNvPr id="9" name="Text 7"/>
          <p:cNvSpPr txBox="1"/>
          <p:nvPr/>
        </p:nvSpPr>
        <p:spPr>
          <a:xfrm>
            <a:off x="7360920" y="2350008"/>
            <a:ext cx="4053535" cy="457200"/>
          </a:xfrm>
          <a:prstGeom prst="rect">
            <a:avLst/>
          </a:prstGeom>
          <a:noFill/>
          <a:ln/>
        </p:spPr>
        <p:txBody>
          <a:bodyPr wrap="square" lIns="0" tIns="0" rIns="0" bIns="0" rtlCol="0" anchor="t"/>
          <a:lstStyle/>
          <a:p>
            <a:pPr indent="0" marL="0">
              <a:buNone/>
            </a:pPr>
            <a:r>
              <a:rPr lang="en-US" sz="1400" dirty="0">
                <a:solidFill>
                  <a:schemeClr val="bg2"/>
                </a:solidFill>
              </a:rPr>
              <a:t>El robot factura las 11 operaciones del día en KeyFácil y Omie.</a:t>
            </a:r>
            <a:endParaRPr lang="en-US" sz="1400" dirty="0"/>
          </a:p>
        </p:txBody>
      </p:sp>
      <p:sp>
        <p:nvSpPr>
          <p:cNvPr id="10" name="Paso de la demo 2"/>
          <p:cNvSpPr/>
          <p:nvPr/>
        </p:nvSpPr>
        <p:spPr>
          <a:xfrm>
            <a:off x="6309360" y="3154680"/>
            <a:ext cx="5333695" cy="1143000"/>
          </a:xfrm>
          <a:prstGeom prst="roundRect">
            <a:avLst>
              <a:gd name="adj" fmla="val 11200"/>
            </a:avLst>
          </a:prstGeom>
          <a:solidFill>
            <a:schemeClr val="bg1">
              <a:alpha val="10000"/>
            </a:schemeClr>
          </a:solidFill>
          <a:ln w="9525">
            <a:solidFill>
              <a:schemeClr val="bg1">
                <a:alpha val="25000"/>
              </a:schemeClr>
            </a:solidFill>
            <a:prstDash val="solid"/>
          </a:ln>
        </p:spPr>
      </p:sp>
      <p:sp>
        <p:nvSpPr>
          <p:cNvPr id="11" name="Número 2"/>
          <p:cNvSpPr/>
          <p:nvPr/>
        </p:nvSpPr>
        <p:spPr>
          <a:xfrm>
            <a:off x="6583680" y="3447288"/>
            <a:ext cx="548640" cy="548640"/>
          </a:xfrm>
          <a:prstGeom prst="ellipse">
            <a:avLst/>
          </a:prstGeom>
          <a:solidFill>
            <a:schemeClr val="accent2"/>
          </a:solidFill>
          <a:ln/>
        </p:spPr>
      </p:sp>
      <p:sp>
        <p:nvSpPr>
          <p:cNvPr id="12" name="Text 10"/>
          <p:cNvSpPr txBox="1"/>
          <p:nvPr/>
        </p:nvSpPr>
        <p:spPr>
          <a:xfrm>
            <a:off x="6583680" y="344728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13" name="Text 11"/>
          <p:cNvSpPr txBox="1"/>
          <p:nvPr/>
        </p:nvSpPr>
        <p:spPr>
          <a:xfrm>
            <a:off x="7360920" y="3337560"/>
            <a:ext cx="4053535"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La pantalla cambia</a:t>
            </a:r>
            <a:endParaRPr lang="en-US" sz="1800" dirty="0"/>
          </a:p>
        </p:txBody>
      </p:sp>
      <p:sp>
        <p:nvSpPr>
          <p:cNvPr id="14" name="Text 12"/>
          <p:cNvSpPr txBox="1"/>
          <p:nvPr/>
        </p:nvSpPr>
        <p:spPr>
          <a:xfrm>
            <a:off x="7360920" y="3721608"/>
            <a:ext cx="4053535" cy="457200"/>
          </a:xfrm>
          <a:prstGeom prst="rect">
            <a:avLst/>
          </a:prstGeom>
          <a:noFill/>
          <a:ln/>
        </p:spPr>
        <p:txBody>
          <a:bodyPr wrap="square" lIns="0" tIns="0" rIns="0" bIns="0" rtlCol="0" anchor="t"/>
          <a:lstStyle/>
          <a:p>
            <a:pPr indent="0" marL="0">
              <a:buNone/>
            </a:pPr>
            <a:r>
              <a:rPr lang="en-US" sz="1400" dirty="0">
                <a:solidFill>
                  <a:schemeClr val="bg2"/>
                </a:solidFill>
              </a:rPr>
              <a:t>Rediseñamos la plataforma a mitad del lote y el robot sigue.</a:t>
            </a:r>
            <a:endParaRPr lang="en-US" sz="1400" dirty="0"/>
          </a:p>
        </p:txBody>
      </p:sp>
      <p:sp>
        <p:nvSpPr>
          <p:cNvPr id="15" name="Paso de la demo 3"/>
          <p:cNvSpPr/>
          <p:nvPr/>
        </p:nvSpPr>
        <p:spPr>
          <a:xfrm>
            <a:off x="6309360" y="4526280"/>
            <a:ext cx="5333695" cy="1143000"/>
          </a:xfrm>
          <a:prstGeom prst="roundRect">
            <a:avLst>
              <a:gd name="adj" fmla="val 11200"/>
            </a:avLst>
          </a:prstGeom>
          <a:solidFill>
            <a:schemeClr val="bg1">
              <a:alpha val="10000"/>
            </a:schemeClr>
          </a:solidFill>
          <a:ln w="9525">
            <a:solidFill>
              <a:schemeClr val="bg1">
                <a:alpha val="25000"/>
              </a:schemeClr>
            </a:solidFill>
            <a:prstDash val="solid"/>
          </a:ln>
        </p:spPr>
      </p:sp>
      <p:sp>
        <p:nvSpPr>
          <p:cNvPr id="16" name="Número 3"/>
          <p:cNvSpPr/>
          <p:nvPr/>
        </p:nvSpPr>
        <p:spPr>
          <a:xfrm>
            <a:off x="6583680" y="4818888"/>
            <a:ext cx="548640" cy="548640"/>
          </a:xfrm>
          <a:prstGeom prst="ellipse">
            <a:avLst/>
          </a:prstGeom>
          <a:solidFill>
            <a:schemeClr val="accent2"/>
          </a:solidFill>
          <a:ln/>
        </p:spPr>
      </p:sp>
      <p:sp>
        <p:nvSpPr>
          <p:cNvPr id="17" name="Text 15"/>
          <p:cNvSpPr txBox="1"/>
          <p:nvPr/>
        </p:nvSpPr>
        <p:spPr>
          <a:xfrm>
            <a:off x="6583680" y="481888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18" name="Text 16"/>
          <p:cNvSpPr txBox="1"/>
          <p:nvPr/>
        </p:nvSpPr>
        <p:spPr>
          <a:xfrm>
            <a:off x="7360920" y="4709160"/>
            <a:ext cx="4053535"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ARM con agentes IA</a:t>
            </a:r>
            <a:endParaRPr lang="en-US" sz="1800" dirty="0"/>
          </a:p>
        </p:txBody>
      </p:sp>
      <p:sp>
        <p:nvSpPr>
          <p:cNvPr id="19" name="Text 17"/>
          <p:cNvSpPr txBox="1"/>
          <p:nvPr/>
        </p:nvSpPr>
        <p:spPr>
          <a:xfrm>
            <a:off x="7360920" y="5093208"/>
            <a:ext cx="4053535" cy="457200"/>
          </a:xfrm>
          <a:prstGeom prst="rect">
            <a:avLst/>
          </a:prstGeom>
          <a:noFill/>
          <a:ln/>
        </p:spPr>
        <p:txBody>
          <a:bodyPr wrap="square" lIns="0" tIns="0" rIns="0" bIns="0" rtlCol="0" anchor="t"/>
          <a:lstStyle/>
          <a:p>
            <a:pPr indent="0" marL="0">
              <a:buNone/>
            </a:pPr>
            <a:r>
              <a:rPr lang="en-US" sz="1400" dirty="0">
                <a:solidFill>
                  <a:schemeClr val="bg2"/>
                </a:solidFill>
              </a:rPr>
              <a:t>Del dashboard al ARM: los agentes y el Copiloto responden.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DEMO · SOLUCIÓN 1</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El robot lee el dashboard y llena KeyFácil</a:t>
            </a:r>
            <a:endParaRPr lang="en-US" sz="3200" dirty="0"/>
          </a:p>
        </p:txBody>
      </p:sp>
      <p:sp>
        <p:nvSpPr>
          <p:cNvPr id="4" name="Marco Captura del RPA llenando KeyFácil"/>
          <p:cNvSpPr/>
          <p:nvPr/>
        </p:nvSpPr>
        <p:spPr>
          <a:xfrm>
            <a:off x="548640" y="1691640"/>
            <a:ext cx="8001000" cy="4500563"/>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Captura del RPA llenando KeyFácil" descr="Captura del RPA llenando KeyFácil">    </p:cNvPr>
          <p:cNvPicPr>
            <a:picLocks noChangeAspect="1"/>
          </p:cNvPicPr>
          <p:nvPr/>
        </p:nvPicPr>
        <p:blipFill>
          <a:blip r:embed="rId1"/>
          <a:stretch>
            <a:fillRect/>
          </a:stretch>
        </p:blipFill>
        <p:spPr>
          <a:xfrm>
            <a:off x="548640" y="1691640"/>
            <a:ext cx="8001000" cy="4500563"/>
          </a:xfrm>
          <a:prstGeom prst="rect">
            <a:avLst/>
          </a:prstGeom>
        </p:spPr>
      </p:pic>
      <p:sp>
        <p:nvSpPr>
          <p:cNvPr id="6" name="Marcador 1"/>
          <p:cNvSpPr/>
          <p:nvPr/>
        </p:nvSpPr>
        <p:spPr>
          <a:xfrm>
            <a:off x="2000250" y="4253389"/>
            <a:ext cx="457200" cy="457200"/>
          </a:xfrm>
          <a:prstGeom prst="ellipse">
            <a:avLst/>
          </a:prstGeom>
          <a:solidFill>
            <a:schemeClr val="accent1"/>
          </a:solidFill>
          <a:ln w="25400">
            <a:solidFill>
              <a:schemeClr val="bg1"/>
            </a:solidFill>
            <a:prstDash val="solid"/>
          </a:ln>
        </p:spPr>
      </p:sp>
      <p:sp>
        <p:nvSpPr>
          <p:cNvPr id="7" name="Text 4"/>
          <p:cNvSpPr txBox="1"/>
          <p:nvPr/>
        </p:nvSpPr>
        <p:spPr>
          <a:xfrm>
            <a:off x="2000250" y="4253389"/>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Marcador 2"/>
          <p:cNvSpPr/>
          <p:nvPr/>
        </p:nvSpPr>
        <p:spPr>
          <a:xfrm>
            <a:off x="4440555" y="2948226"/>
            <a:ext cx="457200" cy="457200"/>
          </a:xfrm>
          <a:prstGeom prst="ellipse">
            <a:avLst/>
          </a:prstGeom>
          <a:solidFill>
            <a:schemeClr val="accent1"/>
          </a:solidFill>
          <a:ln w="25400">
            <a:solidFill>
              <a:schemeClr val="bg1"/>
            </a:solidFill>
            <a:prstDash val="solid"/>
          </a:ln>
        </p:spPr>
      </p:sp>
      <p:sp>
        <p:nvSpPr>
          <p:cNvPr id="9" name="Text 6"/>
          <p:cNvSpPr txBox="1"/>
          <p:nvPr/>
        </p:nvSpPr>
        <p:spPr>
          <a:xfrm>
            <a:off x="4440555" y="294822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0" name="Marcador 3"/>
          <p:cNvSpPr/>
          <p:nvPr/>
        </p:nvSpPr>
        <p:spPr>
          <a:xfrm>
            <a:off x="6720840" y="2948226"/>
            <a:ext cx="457200" cy="457200"/>
          </a:xfrm>
          <a:prstGeom prst="ellipse">
            <a:avLst/>
          </a:prstGeom>
          <a:solidFill>
            <a:schemeClr val="accent1"/>
          </a:solidFill>
          <a:ln w="25400">
            <a:solidFill>
              <a:schemeClr val="bg1"/>
            </a:solidFill>
            <a:prstDash val="solid"/>
          </a:ln>
        </p:spPr>
      </p:sp>
      <p:sp>
        <p:nvSpPr>
          <p:cNvPr id="11" name="Text 8"/>
          <p:cNvSpPr txBox="1"/>
          <p:nvPr/>
        </p:nvSpPr>
        <p:spPr>
          <a:xfrm>
            <a:off x="6720840" y="294822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2" name="Número 1"/>
          <p:cNvSpPr/>
          <p:nvPr/>
        </p:nvSpPr>
        <p:spPr>
          <a:xfrm>
            <a:off x="8869680" y="1783080"/>
            <a:ext cx="411480" cy="411480"/>
          </a:xfrm>
          <a:prstGeom prst="ellipse">
            <a:avLst/>
          </a:prstGeom>
          <a:solidFill>
            <a:schemeClr val="accent1"/>
          </a:solidFill>
          <a:ln/>
        </p:spPr>
      </p:sp>
      <p:sp>
        <p:nvSpPr>
          <p:cNvPr id="13" name="Text 10"/>
          <p:cNvSpPr txBox="1"/>
          <p:nvPr/>
        </p:nvSpPr>
        <p:spPr>
          <a:xfrm>
            <a:off x="8869680" y="178308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14" name="Text 11"/>
          <p:cNvSpPr txBox="1"/>
          <p:nvPr/>
        </p:nvSpPr>
        <p:spPr>
          <a:xfrm>
            <a:off x="9418320" y="1783080"/>
            <a:ext cx="2224735" cy="41148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Dashboard de Brasper</a:t>
            </a:r>
            <a:endParaRPr lang="en-US" sz="1600" dirty="0"/>
          </a:p>
        </p:txBody>
      </p:sp>
      <p:sp>
        <p:nvSpPr>
          <p:cNvPr id="15" name="Text 12"/>
          <p:cNvSpPr txBox="1"/>
          <p:nvPr/>
        </p:nvSpPr>
        <p:spPr>
          <a:xfrm>
            <a:off x="9418320" y="2258568"/>
            <a:ext cx="2224735" cy="868680"/>
          </a:xfrm>
          <a:prstGeom prst="rect">
            <a:avLst/>
          </a:prstGeom>
          <a:noFill/>
          <a:ln/>
        </p:spPr>
        <p:txBody>
          <a:bodyPr wrap="square" lIns="0" tIns="0" rIns="0" bIns="0" rtlCol="0" anchor="t"/>
          <a:lstStyle/>
          <a:p>
            <a:pPr indent="0" marL="0">
              <a:buNone/>
            </a:pPr>
            <a:r>
              <a:rPr lang="en-US" sz="1400" dirty="0">
                <a:solidFill>
                  <a:schemeClr val="tx2"/>
                </a:solidFill>
              </a:rPr>
              <a:t>La vista Contabilidad, tal como la usa el equipo.</a:t>
            </a:r>
            <a:endParaRPr lang="en-US" sz="1400" dirty="0"/>
          </a:p>
        </p:txBody>
      </p:sp>
      <p:sp>
        <p:nvSpPr>
          <p:cNvPr id="16" name="Número 2"/>
          <p:cNvSpPr/>
          <p:nvPr/>
        </p:nvSpPr>
        <p:spPr>
          <a:xfrm>
            <a:off x="8869680" y="3246120"/>
            <a:ext cx="411480" cy="411480"/>
          </a:xfrm>
          <a:prstGeom prst="ellipse">
            <a:avLst/>
          </a:prstGeom>
          <a:solidFill>
            <a:schemeClr val="accent1"/>
          </a:solidFill>
          <a:ln/>
        </p:spPr>
      </p:sp>
      <p:sp>
        <p:nvSpPr>
          <p:cNvPr id="17" name="Text 14"/>
          <p:cNvSpPr txBox="1"/>
          <p:nvPr/>
        </p:nvSpPr>
        <p:spPr>
          <a:xfrm>
            <a:off x="8869680" y="32461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8" name="Text 15"/>
          <p:cNvSpPr txBox="1"/>
          <p:nvPr/>
        </p:nvSpPr>
        <p:spPr>
          <a:xfrm>
            <a:off x="9418320" y="3246120"/>
            <a:ext cx="2224735" cy="41148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Agente RPA</a:t>
            </a:r>
            <a:endParaRPr lang="en-US" sz="1600" dirty="0"/>
          </a:p>
        </p:txBody>
      </p:sp>
      <p:sp>
        <p:nvSpPr>
          <p:cNvPr id="19" name="Text 16"/>
          <p:cNvSpPr txBox="1"/>
          <p:nvPr/>
        </p:nvSpPr>
        <p:spPr>
          <a:xfrm>
            <a:off x="9418320" y="3721608"/>
            <a:ext cx="2224735" cy="868680"/>
          </a:xfrm>
          <a:prstGeom prst="rect">
            <a:avLst/>
          </a:prstGeom>
          <a:noFill/>
          <a:ln/>
        </p:spPr>
        <p:txBody>
          <a:bodyPr wrap="square" lIns="0" tIns="0" rIns="0" bIns="0" rtlCol="0" anchor="t"/>
          <a:lstStyle/>
          <a:p>
            <a:pPr indent="0" marL="0">
              <a:buNone/>
            </a:pPr>
            <a:r>
              <a:rPr lang="en-US" sz="1400" dirty="0">
                <a:solidFill>
                  <a:schemeClr val="tx2"/>
                </a:solidFill>
              </a:rPr>
              <a:t>Lee 13 datos por operación, valida las reglas y deja una bitácora.</a:t>
            </a:r>
            <a:endParaRPr lang="en-US" sz="1400" dirty="0"/>
          </a:p>
        </p:txBody>
      </p:sp>
      <p:sp>
        <p:nvSpPr>
          <p:cNvPr id="20" name="Número 3"/>
          <p:cNvSpPr/>
          <p:nvPr/>
        </p:nvSpPr>
        <p:spPr>
          <a:xfrm>
            <a:off x="8869680" y="4709160"/>
            <a:ext cx="411480" cy="411480"/>
          </a:xfrm>
          <a:prstGeom prst="ellipse">
            <a:avLst/>
          </a:prstGeom>
          <a:solidFill>
            <a:schemeClr val="accent1"/>
          </a:solidFill>
          <a:ln/>
        </p:spPr>
      </p:sp>
      <p:sp>
        <p:nvSpPr>
          <p:cNvPr id="21" name="Text 18"/>
          <p:cNvSpPr txBox="1"/>
          <p:nvPr/>
        </p:nvSpPr>
        <p:spPr>
          <a:xfrm>
            <a:off x="8869680" y="47091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22" name="Text 19"/>
          <p:cNvSpPr txBox="1"/>
          <p:nvPr/>
        </p:nvSpPr>
        <p:spPr>
          <a:xfrm>
            <a:off x="9418320" y="4709160"/>
            <a:ext cx="2224735" cy="41148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KeyFácil u Omie</a:t>
            </a:r>
            <a:endParaRPr lang="en-US" sz="1600" dirty="0"/>
          </a:p>
        </p:txBody>
      </p:sp>
      <p:sp>
        <p:nvSpPr>
          <p:cNvPr id="23" name="Text 20"/>
          <p:cNvSpPr txBox="1"/>
          <p:nvPr/>
        </p:nvSpPr>
        <p:spPr>
          <a:xfrm>
            <a:off x="9418320" y="5184648"/>
            <a:ext cx="2224735" cy="868680"/>
          </a:xfrm>
          <a:prstGeom prst="rect">
            <a:avLst/>
          </a:prstGeom>
          <a:noFill/>
          <a:ln/>
        </p:spPr>
        <p:txBody>
          <a:bodyPr wrap="square" lIns="0" tIns="0" rIns="0" bIns="0" rtlCol="0" anchor="t"/>
          <a:lstStyle/>
          <a:p>
            <a:pPr indent="0" marL="0">
              <a:buNone/>
            </a:pPr>
            <a:r>
              <a:rPr lang="en-US" sz="1400" dirty="0">
                <a:solidFill>
                  <a:schemeClr val="tx2"/>
                </a:solidFill>
              </a:rPr>
              <a:t>Llena el formulario campo por campo, emite y valida el PDF.</a:t>
            </a:r>
            <a:endParaRPr lang="en-US" sz="14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DEMO · SOLUCIÓN 1</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El robot se adapta y separa lo que no cuadra</a:t>
            </a:r>
            <a:endParaRPr lang="en-US" sz="3200" dirty="0"/>
          </a:p>
        </p:txBody>
      </p:sp>
      <p:sp>
        <p:nvSpPr>
          <p:cNvPr id="4" name="Marco Captura VISIÓN IA"/>
          <p:cNvSpPr/>
          <p:nvPr/>
        </p:nvSpPr>
        <p:spPr>
          <a:xfrm>
            <a:off x="548640" y="1691640"/>
            <a:ext cx="5410048" cy="3606698"/>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Captura VISIÓN IA" descr="Captura VISIÓN IA">    </p:cNvPr>
          <p:cNvPicPr>
            <a:picLocks noChangeAspect="1"/>
          </p:cNvPicPr>
          <p:nvPr/>
        </p:nvPicPr>
        <p:blipFill>
          <a:blip r:embed="rId1"/>
          <a:stretch>
            <a:fillRect/>
          </a:stretch>
        </p:blipFill>
        <p:spPr>
          <a:xfrm>
            <a:off x="548640" y="1691640"/>
            <a:ext cx="5410048" cy="3606698"/>
          </a:xfrm>
          <a:prstGeom prst="rect">
            <a:avLst/>
          </a:prstGeom>
        </p:spPr>
      </p:pic>
      <p:sp>
        <p:nvSpPr>
          <p:cNvPr id="6" name="Text 3"/>
          <p:cNvSpPr txBox="1"/>
          <p:nvPr/>
        </p:nvSpPr>
        <p:spPr>
          <a:xfrm>
            <a:off x="548640" y="5481218"/>
            <a:ext cx="5410048" cy="685800"/>
          </a:xfrm>
          <a:prstGeom prst="rect">
            <a:avLst/>
          </a:prstGeom>
          <a:noFill/>
          <a:ln/>
        </p:spPr>
        <p:txBody>
          <a:bodyPr wrap="square" lIns="0" tIns="0" rIns="0" bIns="0" rtlCol="0" anchor="t"/>
          <a:lstStyle/>
          <a:p>
            <a:pPr indent="0" marL="0">
              <a:buNone/>
            </a:pPr>
            <a:r>
              <a:rPr lang="en-US" sz="1500" b="1" dirty="0">
                <a:solidFill>
                  <a:schemeClr val="tx1"/>
                </a:solidFill>
              </a:rPr>
              <a:t>Omie cambió de diseño a mitad del lote. </a:t>
            </a:r>
            <a:pPr indent="0" marL="0">
              <a:buNone/>
            </a:pPr>
            <a:r>
              <a:rPr lang="en-US" sz="1500" dirty="0">
                <a:solidFill>
                  <a:schemeClr val="tx1"/>
                </a:solidFill>
              </a:rPr>
              <a:t>La visión IA reubica cada campo, con su nivel de confianza, y el robot sigue.</a:t>
            </a:r>
            <a:endParaRPr lang="en-US" sz="1500" dirty="0"/>
          </a:p>
        </p:txBody>
      </p:sp>
      <p:sp>
        <p:nvSpPr>
          <p:cNvPr id="7" name="Marco Captura RESULTADO"/>
          <p:cNvSpPr/>
          <p:nvPr/>
        </p:nvSpPr>
        <p:spPr>
          <a:xfrm>
            <a:off x="6233008" y="1691640"/>
            <a:ext cx="5410048" cy="3606698"/>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8" name="Captura RESULTADO" descr="Captura RESULTADO">    </p:cNvPr>
          <p:cNvPicPr>
            <a:picLocks noChangeAspect="1"/>
          </p:cNvPicPr>
          <p:nvPr/>
        </p:nvPicPr>
        <p:blipFill>
          <a:blip r:embed="rId2"/>
          <a:stretch>
            <a:fillRect/>
          </a:stretch>
        </p:blipFill>
        <p:spPr>
          <a:xfrm>
            <a:off x="6233008" y="1691640"/>
            <a:ext cx="5410048" cy="3606698"/>
          </a:xfrm>
          <a:prstGeom prst="rect">
            <a:avLst/>
          </a:prstGeom>
        </p:spPr>
      </p:pic>
      <p:sp>
        <p:nvSpPr>
          <p:cNvPr id="9" name="Text 5"/>
          <p:cNvSpPr txBox="1"/>
          <p:nvPr/>
        </p:nvSpPr>
        <p:spPr>
          <a:xfrm>
            <a:off x="6233008" y="5481218"/>
            <a:ext cx="5410048" cy="685800"/>
          </a:xfrm>
          <a:prstGeom prst="rect">
            <a:avLst/>
          </a:prstGeom>
          <a:noFill/>
          <a:ln/>
        </p:spPr>
        <p:txBody>
          <a:bodyPr wrap="square" lIns="0" tIns="0" rIns="0" bIns="0" rtlCol="0" anchor="t"/>
          <a:lstStyle/>
          <a:p>
            <a:pPr indent="0" marL="0">
              <a:buNone/>
            </a:pPr>
            <a:r>
              <a:rPr lang="en-US" sz="1500" b="1" dirty="0">
                <a:solidFill>
                  <a:schemeClr val="tx1"/>
                </a:solidFill>
              </a:rPr>
              <a:t>10 de 11 emitidos y validados. </a:t>
            </a:r>
            <a:pPr indent="0" marL="0">
              <a:buNone/>
            </a:pPr>
            <a:r>
              <a:rPr lang="en-US" sz="1500" dirty="0">
                <a:solidFill>
                  <a:schemeClr val="tx1"/>
                </a:solidFill>
              </a:rPr>
              <a:t>PxB-001529 queda en «Revisión humana» porque sus montos no cuadran.</a:t>
            </a:r>
            <a:endParaRPr lang="en-US" sz="15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DEMO · SOLUCIÓN 2</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Del dashboard actual al ARM, con un clic</a:t>
            </a:r>
            <a:endParaRPr lang="en-US" sz="3200" dirty="0"/>
          </a:p>
        </p:txBody>
      </p:sp>
      <p:sp>
        <p:nvSpPr>
          <p:cNvPr id="4" name="Marco Captura El dashboard de siempre"/>
          <p:cNvSpPr/>
          <p:nvPr/>
        </p:nvSpPr>
        <p:spPr>
          <a:xfrm>
            <a:off x="548640" y="1691640"/>
            <a:ext cx="3515258" cy="1977333"/>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Captura El dashboard de siempre" descr="Captura El dashboard de siempre">    </p:cNvPr>
          <p:cNvPicPr>
            <a:picLocks noChangeAspect="1"/>
          </p:cNvPicPr>
          <p:nvPr/>
        </p:nvPicPr>
        <p:blipFill>
          <a:blip r:embed="rId1"/>
          <a:stretch>
            <a:fillRect/>
          </a:stretch>
        </p:blipFill>
        <p:spPr>
          <a:xfrm>
            <a:off x="548640" y="1691640"/>
            <a:ext cx="3515258" cy="1977333"/>
          </a:xfrm>
          <a:prstGeom prst="rect">
            <a:avLst/>
          </a:prstGeom>
        </p:spPr>
      </p:pic>
      <p:sp>
        <p:nvSpPr>
          <p:cNvPr id="6" name="Número 1"/>
          <p:cNvSpPr/>
          <p:nvPr/>
        </p:nvSpPr>
        <p:spPr>
          <a:xfrm>
            <a:off x="548640" y="3943293"/>
            <a:ext cx="384048" cy="384048"/>
          </a:xfrm>
          <a:prstGeom prst="ellipse">
            <a:avLst/>
          </a:prstGeom>
          <a:solidFill>
            <a:schemeClr val="accent1"/>
          </a:solidFill>
          <a:ln/>
        </p:spPr>
      </p:sp>
      <p:sp>
        <p:nvSpPr>
          <p:cNvPr id="7" name="Text 4"/>
          <p:cNvSpPr txBox="1"/>
          <p:nvPr/>
        </p:nvSpPr>
        <p:spPr>
          <a:xfrm>
            <a:off x="548640" y="3943293"/>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Text 5"/>
          <p:cNvSpPr txBox="1"/>
          <p:nvPr/>
        </p:nvSpPr>
        <p:spPr>
          <a:xfrm>
            <a:off x="1051560" y="3943293"/>
            <a:ext cx="3012338"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El dashboard de siempre</a:t>
            </a:r>
            <a:endParaRPr lang="en-US" sz="1700" dirty="0"/>
          </a:p>
        </p:txBody>
      </p:sp>
      <p:sp>
        <p:nvSpPr>
          <p:cNvPr id="9" name="Text 6"/>
          <p:cNvSpPr txBox="1"/>
          <p:nvPr/>
        </p:nvSpPr>
        <p:spPr>
          <a:xfrm>
            <a:off x="548640" y="4446213"/>
            <a:ext cx="3515258" cy="822960"/>
          </a:xfrm>
          <a:prstGeom prst="rect">
            <a:avLst/>
          </a:prstGeom>
          <a:noFill/>
          <a:ln/>
        </p:spPr>
        <p:txBody>
          <a:bodyPr wrap="square" lIns="0" tIns="0" rIns="0" bIns="0" rtlCol="0" anchor="t"/>
          <a:lstStyle/>
          <a:p>
            <a:pPr indent="0" marL="0">
              <a:buNone/>
            </a:pPr>
            <a:r>
              <a:rPr lang="en-US" sz="1400" dirty="0">
                <a:solidFill>
                  <a:schemeClr val="tx2"/>
                </a:solidFill>
              </a:rPr>
              <a:t>Se suma un acceso al ARM sin cambiar cómo trabaja el equipo.</a:t>
            </a:r>
            <a:endParaRPr lang="en-US" sz="1400" dirty="0"/>
          </a:p>
        </p:txBody>
      </p:sp>
      <p:sp>
        <p:nvSpPr>
          <p:cNvPr id="10" name="Marco Captura El portal"/>
          <p:cNvSpPr/>
          <p:nvPr/>
        </p:nvSpPr>
        <p:spPr>
          <a:xfrm>
            <a:off x="4338218" y="1691640"/>
            <a:ext cx="3515258" cy="1977333"/>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1" name="Captura El portal" descr="Captura El portal">    </p:cNvPr>
          <p:cNvPicPr>
            <a:picLocks noChangeAspect="1"/>
          </p:cNvPicPr>
          <p:nvPr/>
        </p:nvPicPr>
        <p:blipFill>
          <a:blip r:embed="rId2"/>
          <a:stretch>
            <a:fillRect/>
          </a:stretch>
        </p:blipFill>
        <p:spPr>
          <a:xfrm>
            <a:off x="4338218" y="1691640"/>
            <a:ext cx="3515258" cy="1977333"/>
          </a:xfrm>
          <a:prstGeom prst="rect">
            <a:avLst/>
          </a:prstGeom>
        </p:spPr>
      </p:pic>
      <p:sp>
        <p:nvSpPr>
          <p:cNvPr id="12" name="Número 2"/>
          <p:cNvSpPr/>
          <p:nvPr/>
        </p:nvSpPr>
        <p:spPr>
          <a:xfrm>
            <a:off x="4338218" y="3943293"/>
            <a:ext cx="384048" cy="384048"/>
          </a:xfrm>
          <a:prstGeom prst="ellipse">
            <a:avLst/>
          </a:prstGeom>
          <a:solidFill>
            <a:schemeClr val="accent1"/>
          </a:solidFill>
          <a:ln/>
        </p:spPr>
      </p:sp>
      <p:sp>
        <p:nvSpPr>
          <p:cNvPr id="13" name="Text 9"/>
          <p:cNvSpPr txBox="1"/>
          <p:nvPr/>
        </p:nvSpPr>
        <p:spPr>
          <a:xfrm>
            <a:off x="4338218" y="3943293"/>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4" name="Text 10"/>
          <p:cNvSpPr txBox="1"/>
          <p:nvPr/>
        </p:nvSpPr>
        <p:spPr>
          <a:xfrm>
            <a:off x="4841138" y="3943293"/>
            <a:ext cx="3012338"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El portal</a:t>
            </a:r>
            <a:endParaRPr lang="en-US" sz="1700" dirty="0"/>
          </a:p>
        </p:txBody>
      </p:sp>
      <p:sp>
        <p:nvSpPr>
          <p:cNvPr id="15" name="Text 11"/>
          <p:cNvSpPr txBox="1"/>
          <p:nvPr/>
        </p:nvSpPr>
        <p:spPr>
          <a:xfrm>
            <a:off x="4338218" y="4446213"/>
            <a:ext cx="3515258" cy="822960"/>
          </a:xfrm>
          <a:prstGeom prst="rect">
            <a:avLst/>
          </a:prstGeom>
          <a:noFill/>
          <a:ln/>
        </p:spPr>
        <p:txBody>
          <a:bodyPr wrap="square" lIns="0" tIns="0" rIns="0" bIns="0" rtlCol="0" anchor="t"/>
          <a:lstStyle/>
          <a:p>
            <a:pPr indent="0" marL="0">
              <a:buNone/>
            </a:pPr>
            <a:r>
              <a:rPr lang="en-US" sz="1400" dirty="0">
                <a:solidFill>
                  <a:schemeClr val="tx2"/>
                </a:solidFill>
              </a:rPr>
              <a:t>Un clic y los seis agentes se presentan.</a:t>
            </a:r>
            <a:endParaRPr lang="en-US" sz="1400" dirty="0"/>
          </a:p>
        </p:txBody>
      </p:sp>
      <p:sp>
        <p:nvSpPr>
          <p:cNvPr id="16" name="Marco Captura El centro de mando"/>
          <p:cNvSpPr/>
          <p:nvPr/>
        </p:nvSpPr>
        <p:spPr>
          <a:xfrm>
            <a:off x="8127797" y="1691640"/>
            <a:ext cx="3515258" cy="1977333"/>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17" name="Captura El centro de mando" descr="Captura El centro de mando">    </p:cNvPr>
          <p:cNvPicPr>
            <a:picLocks noChangeAspect="1"/>
          </p:cNvPicPr>
          <p:nvPr/>
        </p:nvPicPr>
        <p:blipFill>
          <a:blip r:embed="rId3"/>
          <a:stretch>
            <a:fillRect/>
          </a:stretch>
        </p:blipFill>
        <p:spPr>
          <a:xfrm>
            <a:off x="8127797" y="1691640"/>
            <a:ext cx="3515258" cy="1977333"/>
          </a:xfrm>
          <a:prstGeom prst="rect">
            <a:avLst/>
          </a:prstGeom>
        </p:spPr>
      </p:pic>
      <p:sp>
        <p:nvSpPr>
          <p:cNvPr id="18" name="Número 3"/>
          <p:cNvSpPr/>
          <p:nvPr/>
        </p:nvSpPr>
        <p:spPr>
          <a:xfrm>
            <a:off x="8127797" y="3943293"/>
            <a:ext cx="384048" cy="384048"/>
          </a:xfrm>
          <a:prstGeom prst="ellipse">
            <a:avLst/>
          </a:prstGeom>
          <a:solidFill>
            <a:schemeClr val="accent1"/>
          </a:solidFill>
          <a:ln/>
        </p:spPr>
      </p:sp>
      <p:sp>
        <p:nvSpPr>
          <p:cNvPr id="19" name="Text 14"/>
          <p:cNvSpPr txBox="1"/>
          <p:nvPr/>
        </p:nvSpPr>
        <p:spPr>
          <a:xfrm>
            <a:off x="8127797" y="3943293"/>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Text 15"/>
          <p:cNvSpPr txBox="1"/>
          <p:nvPr/>
        </p:nvSpPr>
        <p:spPr>
          <a:xfrm>
            <a:off x="8630717" y="3943293"/>
            <a:ext cx="3012338" cy="38404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El centro de mando</a:t>
            </a:r>
            <a:endParaRPr lang="en-US" sz="1700" dirty="0"/>
          </a:p>
        </p:txBody>
      </p:sp>
      <p:sp>
        <p:nvSpPr>
          <p:cNvPr id="21" name="Text 16"/>
          <p:cNvSpPr txBox="1"/>
          <p:nvPr/>
        </p:nvSpPr>
        <p:spPr>
          <a:xfrm>
            <a:off x="8127797" y="4446213"/>
            <a:ext cx="3515258" cy="822960"/>
          </a:xfrm>
          <a:prstGeom prst="rect">
            <a:avLst/>
          </a:prstGeom>
          <a:noFill/>
          <a:ln/>
        </p:spPr>
        <p:txBody>
          <a:bodyPr wrap="square" lIns="0" tIns="0" rIns="0" bIns="0" rtlCol="0" anchor="t"/>
          <a:lstStyle/>
          <a:p>
            <a:pPr indent="0" marL="0">
              <a:buNone/>
            </a:pPr>
            <a:r>
              <a:rPr lang="en-US" sz="1400" dirty="0">
                <a:solidFill>
                  <a:schemeClr val="tx2"/>
                </a:solidFill>
              </a:rPr>
              <a:t>El Copiloto al centro y cada agente con lo que está haciendo ahora.</a:t>
            </a:r>
            <a:endParaRPr lang="en-US" sz="1400" dirty="0"/>
          </a:p>
        </p:txBody>
      </p:sp>
      <p:sp>
        <p:nvSpPr>
          <p:cNvPr id="22" name="Idea clave ARM"/>
          <p:cNvSpPr/>
          <p:nvPr/>
        </p:nvSpPr>
        <p:spPr>
          <a:xfrm>
            <a:off x="548640" y="5349240"/>
            <a:ext cx="11094415" cy="731520"/>
          </a:xfrm>
          <a:prstGeom prst="roundRect">
            <a:avLst>
              <a:gd name="adj" fmla="val 15000"/>
            </a:avLst>
          </a:prstGeom>
          <a:solidFill>
            <a:schemeClr val="accent1">
              <a:alpha val="9000"/>
            </a:schemeClr>
          </a:solidFill>
          <a:ln/>
        </p:spPr>
      </p:sp>
      <p:pic>
        <p:nvPicPr>
          <p:cNvPr id="23" name="Ícono spark" descr="preencoded.png">    </p:cNvPr>
          <p:cNvPicPr>
            <a:picLocks noChangeAspect="1"/>
          </p:cNvPicPr>
          <p:nvPr/>
        </p:nvPicPr>
        <p:blipFill>
          <a:blip r:embed="rId4"/>
          <a:stretch>
            <a:fillRect/>
          </a:stretch>
        </p:blipFill>
        <p:spPr>
          <a:xfrm>
            <a:off x="777240" y="5486400"/>
            <a:ext cx="457200" cy="457200"/>
          </a:xfrm>
          <a:prstGeom prst="rect">
            <a:avLst/>
          </a:prstGeom>
        </p:spPr>
      </p:pic>
      <p:sp>
        <p:nvSpPr>
          <p:cNvPr id="24" name="Text 18"/>
          <p:cNvSpPr txBox="1"/>
          <p:nvPr/>
        </p:nvSpPr>
        <p:spPr>
          <a:xfrm>
            <a:off x="1417320" y="5349240"/>
            <a:ext cx="9997135" cy="731520"/>
          </a:xfrm>
          <a:prstGeom prst="rect">
            <a:avLst/>
          </a:prstGeom>
          <a:noFill/>
          <a:ln/>
        </p:spPr>
        <p:txBody>
          <a:bodyPr wrap="square" lIns="0" tIns="0" rIns="0" bIns="0" rtlCol="0" anchor="ctr"/>
          <a:lstStyle/>
          <a:p>
            <a:pPr indent="0" marL="0">
              <a:buNone/>
            </a:pPr>
            <a:r>
              <a:rPr lang="en-US" sz="1700" b="1" dirty="0">
                <a:solidFill>
                  <a:schemeClr val="tx1"/>
                </a:solidFill>
              </a:rPr>
              <a:t>El ARM no reemplaza el dashboard: se suma a él como un botón más.</a:t>
            </a:r>
            <a:endParaRPr lang="en-US" sz="17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DEMO · SOLUCIÓN 2</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Cada respuesta llega con su evidencia</a:t>
            </a:r>
            <a:endParaRPr lang="en-US" sz="3200" dirty="0"/>
          </a:p>
        </p:txBody>
      </p:sp>
      <p:sp>
        <p:nvSpPr>
          <p:cNvPr id="4" name="Marco Captura Copiloto: «¿Qué campaña apago y cuál escalo?»"/>
          <p:cNvSpPr/>
          <p:nvPr/>
        </p:nvSpPr>
        <p:spPr>
          <a:xfrm>
            <a:off x="548640" y="1691640"/>
            <a:ext cx="5410048" cy="3182911"/>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5" name="Captura Copiloto: «¿Qué campaña apago y cuál escalo?»" descr="Captura Copiloto: «¿Qué campaña apago y cuál escalo?»">    </p:cNvPr>
          <p:cNvPicPr>
            <a:picLocks noChangeAspect="1"/>
          </p:cNvPicPr>
          <p:nvPr/>
        </p:nvPicPr>
        <p:blipFill>
          <a:blip r:embed="rId1"/>
          <a:stretch>
            <a:fillRect/>
          </a:stretch>
        </p:blipFill>
        <p:spPr>
          <a:xfrm>
            <a:off x="548640" y="1691640"/>
            <a:ext cx="5410048" cy="3182911"/>
          </a:xfrm>
          <a:prstGeom prst="rect">
            <a:avLst/>
          </a:prstGeom>
        </p:spPr>
      </p:pic>
      <p:sp>
        <p:nvSpPr>
          <p:cNvPr id="6" name="Text 3"/>
          <p:cNvSpPr txBox="1"/>
          <p:nvPr/>
        </p:nvSpPr>
        <p:spPr>
          <a:xfrm>
            <a:off x="548640" y="5057431"/>
            <a:ext cx="5410048" cy="685800"/>
          </a:xfrm>
          <a:prstGeom prst="rect">
            <a:avLst/>
          </a:prstGeom>
          <a:noFill/>
          <a:ln/>
        </p:spPr>
        <p:txBody>
          <a:bodyPr wrap="square" lIns="0" tIns="0" rIns="0" bIns="0" rtlCol="0" anchor="t"/>
          <a:lstStyle/>
          <a:p>
            <a:pPr indent="0" marL="0">
              <a:buNone/>
            </a:pPr>
            <a:r>
              <a:rPr lang="en-US" sz="1500" b="1" dirty="0">
                <a:solidFill>
                  <a:schemeClr val="tx1"/>
                </a:solidFill>
              </a:rPr>
              <a:t>Copiloto: «¿Qué campaña apago y cuál escalo?» </a:t>
            </a:r>
            <a:pPr indent="0" marL="0">
              <a:buNone/>
            </a:pPr>
            <a:r>
              <a:rPr lang="en-US" sz="1500" dirty="0">
                <a:solidFill>
                  <a:schemeClr val="tx1"/>
                </a:solidFill>
              </a:rPr>
              <a:t>Coordina a Capital, Lupa y Horizonte y responde con el ROAS de cada campaña.</a:t>
            </a:r>
            <a:endParaRPr lang="en-US" sz="1500" dirty="0"/>
          </a:p>
        </p:txBody>
      </p:sp>
      <p:sp>
        <p:nvSpPr>
          <p:cNvPr id="7" name="Marco Captura Lupa: «¿Cómo cambio el mensaje?»"/>
          <p:cNvSpPr/>
          <p:nvPr/>
        </p:nvSpPr>
        <p:spPr>
          <a:xfrm>
            <a:off x="6233008" y="1691640"/>
            <a:ext cx="5410048" cy="3179670"/>
          </a:xfrm>
          <a:prstGeom prst="rect">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pic>
        <p:nvPicPr>
          <p:cNvPr id="8" name="Captura Lupa: «¿Cómo cambio el mensaje?»" descr="Captura Lupa: «¿Cómo cambio el mensaje?»">    </p:cNvPr>
          <p:cNvPicPr>
            <a:picLocks noChangeAspect="1"/>
          </p:cNvPicPr>
          <p:nvPr/>
        </p:nvPicPr>
        <p:blipFill>
          <a:blip r:embed="rId2"/>
          <a:stretch>
            <a:fillRect/>
          </a:stretch>
        </p:blipFill>
        <p:spPr>
          <a:xfrm>
            <a:off x="6233008" y="1691640"/>
            <a:ext cx="5410048" cy="3179670"/>
          </a:xfrm>
          <a:prstGeom prst="rect">
            <a:avLst/>
          </a:prstGeom>
        </p:spPr>
      </p:pic>
      <p:sp>
        <p:nvSpPr>
          <p:cNvPr id="9" name="Text 5"/>
          <p:cNvSpPr txBox="1"/>
          <p:nvPr/>
        </p:nvSpPr>
        <p:spPr>
          <a:xfrm>
            <a:off x="6233008" y="5054190"/>
            <a:ext cx="5410048" cy="685800"/>
          </a:xfrm>
          <a:prstGeom prst="rect">
            <a:avLst/>
          </a:prstGeom>
          <a:noFill/>
          <a:ln/>
        </p:spPr>
        <p:txBody>
          <a:bodyPr wrap="square" lIns="0" tIns="0" rIns="0" bIns="0" rtlCol="0" anchor="t"/>
          <a:lstStyle/>
          <a:p>
            <a:pPr indent="0" marL="0">
              <a:buNone/>
            </a:pPr>
            <a:r>
              <a:rPr lang="en-US" sz="1500" b="1" dirty="0">
                <a:solidFill>
                  <a:schemeClr val="tx1"/>
                </a:solidFill>
              </a:rPr>
              <a:t>Lupa: «¿Cómo cambio el mensaje?» </a:t>
            </a:r>
            <a:pPr indent="0" marL="0">
              <a:buNone/>
            </a:pPr>
            <a:r>
              <a:rPr lang="en-US" sz="1500" dirty="0">
                <a:solidFill>
                  <a:schemeClr val="tx1"/>
                </a:solidFill>
              </a:rPr>
              <a:t>Propone un anuncio que aclara que Brasper no presta dinero.</a:t>
            </a:r>
            <a:endParaRPr lang="en-US" sz="1500" dirty="0"/>
          </a:p>
        </p:txBody>
      </p:sp>
      <p:sp>
        <p:nvSpPr>
          <p:cNvPr id="10" name="Text 6"/>
          <p:cNvSpPr txBox="1"/>
          <p:nvPr/>
        </p:nvSpPr>
        <p:spPr>
          <a:xfrm>
            <a:off x="548640" y="5943600"/>
            <a:ext cx="4572000" cy="274320"/>
          </a:xfrm>
          <a:prstGeom prst="rect">
            <a:avLst/>
          </a:prstGeom>
          <a:noFill/>
          <a:ln/>
        </p:spPr>
        <p:txBody>
          <a:bodyPr wrap="square" lIns="0" tIns="0" rIns="0" bIns="0" rtlCol="0" anchor="t"/>
          <a:lstStyle/>
          <a:p>
            <a:pPr indent="0" marL="0">
              <a:buNone/>
            </a:pPr>
            <a:r>
              <a:rPr lang="en-US" sz="1100" dirty="0">
                <a:solidFill>
                  <a:schemeClr val="tx2"/>
                </a:solidFill>
              </a:rPr>
              <a:t>Cifras simuladas para la demo.</a:t>
            </a:r>
            <a:endParaRPr lang="en-US" sz="11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IMPACTO</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Lo que cambia para Brasper</a:t>
            </a:r>
            <a:endParaRPr lang="en-US" sz="3200" dirty="0"/>
          </a:p>
        </p:txBody>
      </p:sp>
      <p:sp>
        <p:nvSpPr>
          <p:cNvPr id="4" name="Text 2"/>
          <p:cNvSpPr txBox="1"/>
          <p:nvPr/>
        </p:nvSpPr>
        <p:spPr>
          <a:xfrm>
            <a:off x="3474720" y="1691640"/>
            <a:ext cx="361188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HOY</a:t>
            </a:r>
            <a:endParaRPr lang="en-US" sz="1200" dirty="0"/>
          </a:p>
        </p:txBody>
      </p:sp>
      <p:sp>
        <p:nvSpPr>
          <p:cNvPr id="5" name="Text 3"/>
          <p:cNvSpPr txBox="1"/>
          <p:nvPr/>
        </p:nvSpPr>
        <p:spPr>
          <a:xfrm>
            <a:off x="7726680" y="1691640"/>
            <a:ext cx="3916375"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CON BRASPER IA</a:t>
            </a:r>
            <a:endParaRPr lang="en-US" sz="1200" dirty="0"/>
          </a:p>
        </p:txBody>
      </p:sp>
      <p:sp>
        <p:nvSpPr>
          <p:cNvPr id="6" name="Text 4"/>
          <p:cNvSpPr txBox="1"/>
          <p:nvPr/>
        </p:nvSpPr>
        <p:spPr>
          <a:xfrm>
            <a:off x="548640" y="2103120"/>
            <a:ext cx="274320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Comprobante</a:t>
            </a:r>
            <a:endParaRPr lang="en-US" sz="1600" dirty="0"/>
          </a:p>
        </p:txBody>
      </p:sp>
      <p:sp>
        <p:nvSpPr>
          <p:cNvPr id="7" name="Hoy Comprobante"/>
          <p:cNvSpPr/>
          <p:nvPr/>
        </p:nvSpPr>
        <p:spPr>
          <a:xfrm>
            <a:off x="3474720" y="2103120"/>
            <a:ext cx="3611880" cy="548640"/>
          </a:xfrm>
          <a:prstGeom prst="roundRect">
            <a:avLst>
              <a:gd name="adj" fmla="val 16667"/>
            </a:avLst>
          </a:prstGeom>
          <a:solidFill>
            <a:schemeClr val="accent5">
              <a:alpha val="8000"/>
            </a:schemeClr>
          </a:solidFill>
          <a:ln/>
        </p:spPr>
      </p:sp>
      <p:sp>
        <p:nvSpPr>
          <p:cNvPr id="8" name="Text 6"/>
          <p:cNvSpPr txBox="1"/>
          <p:nvPr/>
        </p:nvSpPr>
        <p:spPr>
          <a:xfrm>
            <a:off x="3657600" y="2103120"/>
            <a:ext cx="3246120" cy="548640"/>
          </a:xfrm>
          <a:prstGeom prst="rect">
            <a:avLst/>
          </a:prstGeom>
          <a:noFill/>
          <a:ln/>
        </p:spPr>
        <p:txBody>
          <a:bodyPr wrap="square" lIns="0" tIns="0" rIns="0" bIns="0" rtlCol="0" anchor="ctr"/>
          <a:lstStyle/>
          <a:p>
            <a:pPr indent="0" marL="0">
              <a:buNone/>
            </a:pPr>
            <a:r>
              <a:rPr lang="en-US" sz="1500" dirty="0">
                <a:solidFill>
                  <a:schemeClr val="tx1"/>
                </a:solidFill>
              </a:rPr>
              <a:t>2–3 días después</a:t>
            </a:r>
            <a:endParaRPr lang="en-US" sz="1500" dirty="0"/>
          </a:p>
        </p:txBody>
      </p:sp>
      <p:sp>
        <p:nvSpPr>
          <p:cNvPr id="9" name="Flecha Comprobante"/>
          <p:cNvSpPr/>
          <p:nvPr/>
        </p:nvSpPr>
        <p:spPr>
          <a:xfrm>
            <a:off x="7223760" y="2377440"/>
            <a:ext cx="365760" cy="0"/>
          </a:xfrm>
          <a:prstGeom prst="line">
            <a:avLst/>
          </a:prstGeom>
          <a:noFill/>
          <a:ln w="19050">
            <a:solidFill>
              <a:schemeClr val="tx2"/>
            </a:solidFill>
            <a:prstDash val="solid"/>
            <a:tailEnd type="triangle"/>
          </a:ln>
        </p:spPr>
      </p:sp>
      <p:sp>
        <p:nvSpPr>
          <p:cNvPr id="10" name="Con Brasper IA Comprobante"/>
          <p:cNvSpPr/>
          <p:nvPr/>
        </p:nvSpPr>
        <p:spPr>
          <a:xfrm>
            <a:off x="7726680" y="2103120"/>
            <a:ext cx="3916375" cy="548640"/>
          </a:xfrm>
          <a:prstGeom prst="roundRect">
            <a:avLst>
              <a:gd name="adj" fmla="val 16667"/>
            </a:avLst>
          </a:prstGeom>
          <a:solidFill>
            <a:schemeClr val="accent4">
              <a:alpha val="12000"/>
            </a:schemeClr>
          </a:solidFill>
          <a:ln/>
        </p:spPr>
      </p:sp>
      <p:sp>
        <p:nvSpPr>
          <p:cNvPr id="11" name="Text 9"/>
          <p:cNvSpPr txBox="1"/>
          <p:nvPr/>
        </p:nvSpPr>
        <p:spPr>
          <a:xfrm>
            <a:off x="7909560" y="2103120"/>
            <a:ext cx="3550615" cy="548640"/>
          </a:xfrm>
          <a:prstGeom prst="rect">
            <a:avLst/>
          </a:prstGeom>
          <a:noFill/>
          <a:ln/>
        </p:spPr>
        <p:txBody>
          <a:bodyPr wrap="square" lIns="0" tIns="0" rIns="0" bIns="0" rtlCol="0" anchor="ctr"/>
          <a:lstStyle/>
          <a:p>
            <a:pPr indent="0" marL="0">
              <a:buNone/>
            </a:pPr>
            <a:r>
              <a:rPr lang="en-US" sz="1500" b="1" dirty="0">
                <a:solidFill>
                  <a:schemeClr val="tx1"/>
                </a:solidFill>
              </a:rPr>
              <a:t>Minutos después de cerrar la operación</a:t>
            </a:r>
            <a:endParaRPr lang="en-US" sz="1500" dirty="0"/>
          </a:p>
        </p:txBody>
      </p:sp>
      <p:sp>
        <p:nvSpPr>
          <p:cNvPr id="12" name="Text 10"/>
          <p:cNvSpPr txBox="1"/>
          <p:nvPr/>
        </p:nvSpPr>
        <p:spPr>
          <a:xfrm>
            <a:off x="548640" y="2743200"/>
            <a:ext cx="274320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Tipeo</a:t>
            </a:r>
            <a:endParaRPr lang="en-US" sz="1600" dirty="0"/>
          </a:p>
        </p:txBody>
      </p:sp>
      <p:sp>
        <p:nvSpPr>
          <p:cNvPr id="13" name="Hoy Tipeo"/>
          <p:cNvSpPr/>
          <p:nvPr/>
        </p:nvSpPr>
        <p:spPr>
          <a:xfrm>
            <a:off x="3474720" y="2743200"/>
            <a:ext cx="3611880" cy="548640"/>
          </a:xfrm>
          <a:prstGeom prst="roundRect">
            <a:avLst>
              <a:gd name="adj" fmla="val 16667"/>
            </a:avLst>
          </a:prstGeom>
          <a:solidFill>
            <a:schemeClr val="accent5">
              <a:alpha val="8000"/>
            </a:schemeClr>
          </a:solidFill>
          <a:ln/>
        </p:spPr>
      </p:sp>
      <p:sp>
        <p:nvSpPr>
          <p:cNvPr id="14" name="Text 12"/>
          <p:cNvSpPr txBox="1"/>
          <p:nvPr/>
        </p:nvSpPr>
        <p:spPr>
          <a:xfrm>
            <a:off x="3657600" y="2743200"/>
            <a:ext cx="3246120" cy="548640"/>
          </a:xfrm>
          <a:prstGeom prst="rect">
            <a:avLst/>
          </a:prstGeom>
          <a:noFill/>
          <a:ln/>
        </p:spPr>
        <p:txBody>
          <a:bodyPr wrap="square" lIns="0" tIns="0" rIns="0" bIns="0" rtlCol="0" anchor="ctr"/>
          <a:lstStyle/>
          <a:p>
            <a:pPr indent="0" marL="0">
              <a:buNone/>
            </a:pPr>
            <a:r>
              <a:rPr lang="en-US" sz="1500" dirty="0">
                <a:solidFill>
                  <a:schemeClr val="tx1"/>
                </a:solidFill>
              </a:rPr>
              <a:t>Dos veces por operación</a:t>
            </a:r>
            <a:endParaRPr lang="en-US" sz="1500" dirty="0"/>
          </a:p>
        </p:txBody>
      </p:sp>
      <p:sp>
        <p:nvSpPr>
          <p:cNvPr id="15" name="Flecha Tipeo"/>
          <p:cNvSpPr/>
          <p:nvPr/>
        </p:nvSpPr>
        <p:spPr>
          <a:xfrm>
            <a:off x="7223760" y="3017520"/>
            <a:ext cx="365760" cy="0"/>
          </a:xfrm>
          <a:prstGeom prst="line">
            <a:avLst/>
          </a:prstGeom>
          <a:noFill/>
          <a:ln w="19050">
            <a:solidFill>
              <a:schemeClr val="tx2"/>
            </a:solidFill>
            <a:prstDash val="solid"/>
            <a:tailEnd type="triangle"/>
          </a:ln>
        </p:spPr>
      </p:sp>
      <p:sp>
        <p:nvSpPr>
          <p:cNvPr id="16" name="Con Brasper IA Tipeo"/>
          <p:cNvSpPr/>
          <p:nvPr/>
        </p:nvSpPr>
        <p:spPr>
          <a:xfrm>
            <a:off x="7726680" y="2743200"/>
            <a:ext cx="3916375" cy="548640"/>
          </a:xfrm>
          <a:prstGeom prst="roundRect">
            <a:avLst>
              <a:gd name="adj" fmla="val 16667"/>
            </a:avLst>
          </a:prstGeom>
          <a:solidFill>
            <a:schemeClr val="accent4">
              <a:alpha val="12000"/>
            </a:schemeClr>
          </a:solidFill>
          <a:ln/>
        </p:spPr>
      </p:sp>
      <p:sp>
        <p:nvSpPr>
          <p:cNvPr id="17" name="Text 15"/>
          <p:cNvSpPr txBox="1"/>
          <p:nvPr/>
        </p:nvSpPr>
        <p:spPr>
          <a:xfrm>
            <a:off x="7909560" y="2743200"/>
            <a:ext cx="3550615" cy="548640"/>
          </a:xfrm>
          <a:prstGeom prst="rect">
            <a:avLst/>
          </a:prstGeom>
          <a:noFill/>
          <a:ln/>
        </p:spPr>
        <p:txBody>
          <a:bodyPr wrap="square" lIns="0" tIns="0" rIns="0" bIns="0" rtlCol="0" anchor="ctr"/>
          <a:lstStyle/>
          <a:p>
            <a:pPr indent="0" marL="0">
              <a:buNone/>
            </a:pPr>
            <a:r>
              <a:rPr lang="en-US" sz="1500" b="1" dirty="0">
                <a:solidFill>
                  <a:schemeClr val="tx1"/>
                </a:solidFill>
              </a:rPr>
              <a:t>Ninguno</a:t>
            </a:r>
            <a:endParaRPr lang="en-US" sz="1500" dirty="0"/>
          </a:p>
        </p:txBody>
      </p:sp>
      <p:sp>
        <p:nvSpPr>
          <p:cNvPr id="18" name="Text 16"/>
          <p:cNvSpPr txBox="1"/>
          <p:nvPr/>
        </p:nvSpPr>
        <p:spPr>
          <a:xfrm>
            <a:off x="548640" y="3383280"/>
            <a:ext cx="274320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Revisión</a:t>
            </a:r>
            <a:endParaRPr lang="en-US" sz="1600" dirty="0"/>
          </a:p>
        </p:txBody>
      </p:sp>
      <p:sp>
        <p:nvSpPr>
          <p:cNvPr id="19" name="Hoy Revisión"/>
          <p:cNvSpPr/>
          <p:nvPr/>
        </p:nvSpPr>
        <p:spPr>
          <a:xfrm>
            <a:off x="3474720" y="3383280"/>
            <a:ext cx="3611880" cy="548640"/>
          </a:xfrm>
          <a:prstGeom prst="roundRect">
            <a:avLst>
              <a:gd name="adj" fmla="val 16667"/>
            </a:avLst>
          </a:prstGeom>
          <a:solidFill>
            <a:schemeClr val="accent5">
              <a:alpha val="8000"/>
            </a:schemeClr>
          </a:solidFill>
          <a:ln/>
        </p:spPr>
      </p:sp>
      <p:sp>
        <p:nvSpPr>
          <p:cNvPr id="20" name="Text 18"/>
          <p:cNvSpPr txBox="1"/>
          <p:nvPr/>
        </p:nvSpPr>
        <p:spPr>
          <a:xfrm>
            <a:off x="3657600" y="3383280"/>
            <a:ext cx="3246120" cy="548640"/>
          </a:xfrm>
          <a:prstGeom prst="rect">
            <a:avLst/>
          </a:prstGeom>
          <a:noFill/>
          <a:ln/>
        </p:spPr>
        <p:txBody>
          <a:bodyPr wrap="square" lIns="0" tIns="0" rIns="0" bIns="0" rtlCol="0" anchor="ctr"/>
          <a:lstStyle/>
          <a:p>
            <a:pPr indent="0" marL="0">
              <a:buNone/>
            </a:pPr>
            <a:r>
              <a:rPr lang="en-US" sz="1500" dirty="0">
                <a:solidFill>
                  <a:schemeClr val="tx1"/>
                </a:solidFill>
              </a:rPr>
              <a:t>Cada operación</a:t>
            </a:r>
            <a:endParaRPr lang="en-US" sz="1500" dirty="0"/>
          </a:p>
        </p:txBody>
      </p:sp>
      <p:sp>
        <p:nvSpPr>
          <p:cNvPr id="21" name="Flecha Revisión"/>
          <p:cNvSpPr/>
          <p:nvPr/>
        </p:nvSpPr>
        <p:spPr>
          <a:xfrm>
            <a:off x="7223760" y="3657600"/>
            <a:ext cx="365760" cy="0"/>
          </a:xfrm>
          <a:prstGeom prst="line">
            <a:avLst/>
          </a:prstGeom>
          <a:noFill/>
          <a:ln w="19050">
            <a:solidFill>
              <a:schemeClr val="tx2"/>
            </a:solidFill>
            <a:prstDash val="solid"/>
            <a:tailEnd type="triangle"/>
          </a:ln>
        </p:spPr>
      </p:sp>
      <p:sp>
        <p:nvSpPr>
          <p:cNvPr id="22" name="Con Brasper IA Revisión"/>
          <p:cNvSpPr/>
          <p:nvPr/>
        </p:nvSpPr>
        <p:spPr>
          <a:xfrm>
            <a:off x="7726680" y="3383280"/>
            <a:ext cx="3916375" cy="548640"/>
          </a:xfrm>
          <a:prstGeom prst="roundRect">
            <a:avLst>
              <a:gd name="adj" fmla="val 16667"/>
            </a:avLst>
          </a:prstGeom>
          <a:solidFill>
            <a:schemeClr val="accent4">
              <a:alpha val="12000"/>
            </a:schemeClr>
          </a:solidFill>
          <a:ln/>
        </p:spPr>
      </p:sp>
      <p:sp>
        <p:nvSpPr>
          <p:cNvPr id="23" name="Text 21"/>
          <p:cNvSpPr txBox="1"/>
          <p:nvPr/>
        </p:nvSpPr>
        <p:spPr>
          <a:xfrm>
            <a:off x="7909560" y="3383280"/>
            <a:ext cx="3550615" cy="548640"/>
          </a:xfrm>
          <a:prstGeom prst="rect">
            <a:avLst/>
          </a:prstGeom>
          <a:noFill/>
          <a:ln/>
        </p:spPr>
        <p:txBody>
          <a:bodyPr wrap="square" lIns="0" tIns="0" rIns="0" bIns="0" rtlCol="0" anchor="ctr"/>
          <a:lstStyle/>
          <a:p>
            <a:pPr indent="0" marL="0">
              <a:buNone/>
            </a:pPr>
            <a:r>
              <a:rPr lang="en-US" sz="1500" b="1" dirty="0">
                <a:solidFill>
                  <a:schemeClr val="tx1"/>
                </a:solidFill>
              </a:rPr>
              <a:t>Solo las excepciones, con su motivo</a:t>
            </a:r>
            <a:endParaRPr lang="en-US" sz="1500" dirty="0"/>
          </a:p>
        </p:txBody>
      </p:sp>
      <p:sp>
        <p:nvSpPr>
          <p:cNvPr id="24" name="Text 22"/>
          <p:cNvSpPr txBox="1"/>
          <p:nvPr/>
        </p:nvSpPr>
        <p:spPr>
          <a:xfrm>
            <a:off x="548640" y="4023360"/>
            <a:ext cx="274320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Crecer a 1000 al día</a:t>
            </a:r>
            <a:endParaRPr lang="en-US" sz="1600" dirty="0"/>
          </a:p>
        </p:txBody>
      </p:sp>
      <p:sp>
        <p:nvSpPr>
          <p:cNvPr id="25" name="Hoy Crecer a 1000 al día"/>
          <p:cNvSpPr/>
          <p:nvPr/>
        </p:nvSpPr>
        <p:spPr>
          <a:xfrm>
            <a:off x="3474720" y="4023360"/>
            <a:ext cx="3611880" cy="548640"/>
          </a:xfrm>
          <a:prstGeom prst="roundRect">
            <a:avLst>
              <a:gd name="adj" fmla="val 16667"/>
            </a:avLst>
          </a:prstGeom>
          <a:solidFill>
            <a:schemeClr val="accent5">
              <a:alpha val="8000"/>
            </a:schemeClr>
          </a:solidFill>
          <a:ln/>
        </p:spPr>
      </p:sp>
      <p:sp>
        <p:nvSpPr>
          <p:cNvPr id="26" name="Text 24"/>
          <p:cNvSpPr txBox="1"/>
          <p:nvPr/>
        </p:nvSpPr>
        <p:spPr>
          <a:xfrm>
            <a:off x="3657600" y="4023360"/>
            <a:ext cx="3246120" cy="548640"/>
          </a:xfrm>
          <a:prstGeom prst="rect">
            <a:avLst/>
          </a:prstGeom>
          <a:noFill/>
          <a:ln/>
        </p:spPr>
        <p:txBody>
          <a:bodyPr wrap="square" lIns="0" tIns="0" rIns="0" bIns="0" rtlCol="0" anchor="ctr"/>
          <a:lstStyle/>
          <a:p>
            <a:pPr indent="0" marL="0">
              <a:buNone/>
            </a:pPr>
            <a:r>
              <a:rPr lang="en-US" sz="1500" dirty="0">
                <a:solidFill>
                  <a:schemeClr val="tx1"/>
                </a:solidFill>
              </a:rPr>
              <a:t>Contratar más personas</a:t>
            </a:r>
            <a:endParaRPr lang="en-US" sz="1500" dirty="0"/>
          </a:p>
        </p:txBody>
      </p:sp>
      <p:sp>
        <p:nvSpPr>
          <p:cNvPr id="27" name="Flecha Crecer a 1000 al día"/>
          <p:cNvSpPr/>
          <p:nvPr/>
        </p:nvSpPr>
        <p:spPr>
          <a:xfrm>
            <a:off x="7223760" y="4297680"/>
            <a:ext cx="365760" cy="0"/>
          </a:xfrm>
          <a:prstGeom prst="line">
            <a:avLst/>
          </a:prstGeom>
          <a:noFill/>
          <a:ln w="19050">
            <a:solidFill>
              <a:schemeClr val="tx2"/>
            </a:solidFill>
            <a:prstDash val="solid"/>
            <a:tailEnd type="triangle"/>
          </a:ln>
        </p:spPr>
      </p:sp>
      <p:sp>
        <p:nvSpPr>
          <p:cNvPr id="28" name="Con Brasper IA Crecer a 1000 al día"/>
          <p:cNvSpPr/>
          <p:nvPr/>
        </p:nvSpPr>
        <p:spPr>
          <a:xfrm>
            <a:off x="7726680" y="4023360"/>
            <a:ext cx="3916375" cy="548640"/>
          </a:xfrm>
          <a:prstGeom prst="roundRect">
            <a:avLst>
              <a:gd name="adj" fmla="val 16667"/>
            </a:avLst>
          </a:prstGeom>
          <a:solidFill>
            <a:schemeClr val="accent4">
              <a:alpha val="12000"/>
            </a:schemeClr>
          </a:solidFill>
          <a:ln/>
        </p:spPr>
      </p:sp>
      <p:sp>
        <p:nvSpPr>
          <p:cNvPr id="29" name="Text 27"/>
          <p:cNvSpPr txBox="1"/>
          <p:nvPr/>
        </p:nvSpPr>
        <p:spPr>
          <a:xfrm>
            <a:off x="7909560" y="4023360"/>
            <a:ext cx="3550615" cy="548640"/>
          </a:xfrm>
          <a:prstGeom prst="rect">
            <a:avLst/>
          </a:prstGeom>
          <a:noFill/>
          <a:ln/>
        </p:spPr>
        <p:txBody>
          <a:bodyPr wrap="square" lIns="0" tIns="0" rIns="0" bIns="0" rtlCol="0" anchor="ctr"/>
          <a:lstStyle/>
          <a:p>
            <a:pPr indent="0" marL="0">
              <a:buNone/>
            </a:pPr>
            <a:r>
              <a:rPr lang="en-US" sz="1500" b="1" dirty="0">
                <a:solidFill>
                  <a:schemeClr val="tx1"/>
                </a:solidFill>
              </a:rPr>
              <a:t>El mismo equipo</a:t>
            </a:r>
            <a:endParaRPr lang="en-US" sz="1500" dirty="0"/>
          </a:p>
        </p:txBody>
      </p:sp>
      <p:sp>
        <p:nvSpPr>
          <p:cNvPr id="30" name="Text 28"/>
          <p:cNvSpPr txBox="1"/>
          <p:nvPr/>
        </p:nvSpPr>
        <p:spPr>
          <a:xfrm>
            <a:off x="548640" y="4663440"/>
            <a:ext cx="274320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Campañas</a:t>
            </a:r>
            <a:endParaRPr lang="en-US" sz="1600" dirty="0"/>
          </a:p>
        </p:txBody>
      </p:sp>
      <p:sp>
        <p:nvSpPr>
          <p:cNvPr id="31" name="Hoy Campañas"/>
          <p:cNvSpPr/>
          <p:nvPr/>
        </p:nvSpPr>
        <p:spPr>
          <a:xfrm>
            <a:off x="3474720" y="4663440"/>
            <a:ext cx="3611880" cy="548640"/>
          </a:xfrm>
          <a:prstGeom prst="roundRect">
            <a:avLst>
              <a:gd name="adj" fmla="val 16667"/>
            </a:avLst>
          </a:prstGeom>
          <a:solidFill>
            <a:schemeClr val="accent5">
              <a:alpha val="8000"/>
            </a:schemeClr>
          </a:solidFill>
          <a:ln/>
        </p:spPr>
      </p:sp>
      <p:sp>
        <p:nvSpPr>
          <p:cNvPr id="32" name="Text 30"/>
          <p:cNvSpPr txBox="1"/>
          <p:nvPr/>
        </p:nvSpPr>
        <p:spPr>
          <a:xfrm>
            <a:off x="3657600" y="4663440"/>
            <a:ext cx="3246120" cy="548640"/>
          </a:xfrm>
          <a:prstGeom prst="rect">
            <a:avLst/>
          </a:prstGeom>
          <a:noFill/>
          <a:ln/>
        </p:spPr>
        <p:txBody>
          <a:bodyPr wrap="square" lIns="0" tIns="0" rIns="0" bIns="0" rtlCol="0" anchor="ctr"/>
          <a:lstStyle/>
          <a:p>
            <a:pPr indent="0" marL="0">
              <a:buNone/>
            </a:pPr>
            <a:r>
              <a:rPr lang="en-US" sz="1500" dirty="0">
                <a:solidFill>
                  <a:schemeClr val="tx1"/>
                </a:solidFill>
              </a:rPr>
              <a:t>Etiquetas a mano</a:t>
            </a:r>
            <a:endParaRPr lang="en-US" sz="1500" dirty="0"/>
          </a:p>
        </p:txBody>
      </p:sp>
      <p:sp>
        <p:nvSpPr>
          <p:cNvPr id="33" name="Flecha Campañas"/>
          <p:cNvSpPr/>
          <p:nvPr/>
        </p:nvSpPr>
        <p:spPr>
          <a:xfrm>
            <a:off x="7223760" y="4937760"/>
            <a:ext cx="365760" cy="0"/>
          </a:xfrm>
          <a:prstGeom prst="line">
            <a:avLst/>
          </a:prstGeom>
          <a:noFill/>
          <a:ln w="19050">
            <a:solidFill>
              <a:schemeClr val="tx2"/>
            </a:solidFill>
            <a:prstDash val="solid"/>
            <a:tailEnd type="triangle"/>
          </a:ln>
        </p:spPr>
      </p:sp>
      <p:sp>
        <p:nvSpPr>
          <p:cNvPr id="34" name="Con Brasper IA Campañas"/>
          <p:cNvSpPr/>
          <p:nvPr/>
        </p:nvSpPr>
        <p:spPr>
          <a:xfrm>
            <a:off x="7726680" y="4663440"/>
            <a:ext cx="3916375" cy="548640"/>
          </a:xfrm>
          <a:prstGeom prst="roundRect">
            <a:avLst>
              <a:gd name="adj" fmla="val 16667"/>
            </a:avLst>
          </a:prstGeom>
          <a:solidFill>
            <a:schemeClr val="accent4">
              <a:alpha val="12000"/>
            </a:schemeClr>
          </a:solidFill>
          <a:ln/>
        </p:spPr>
      </p:sp>
      <p:sp>
        <p:nvSpPr>
          <p:cNvPr id="35" name="Text 33"/>
          <p:cNvSpPr txBox="1"/>
          <p:nvPr/>
        </p:nvSpPr>
        <p:spPr>
          <a:xfrm>
            <a:off x="7909560" y="4663440"/>
            <a:ext cx="3550615" cy="548640"/>
          </a:xfrm>
          <a:prstGeom prst="rect">
            <a:avLst/>
          </a:prstGeom>
          <a:noFill/>
          <a:ln/>
        </p:spPr>
        <p:txBody>
          <a:bodyPr wrap="square" lIns="0" tIns="0" rIns="0" bIns="0" rtlCol="0" anchor="ctr"/>
          <a:lstStyle/>
          <a:p>
            <a:pPr indent="0" marL="0">
              <a:buNone/>
            </a:pPr>
            <a:r>
              <a:rPr lang="en-US" sz="1500" b="1" dirty="0">
                <a:solidFill>
                  <a:schemeClr val="tx1"/>
                </a:solidFill>
              </a:rPr>
              <a:t>Cada cliente unido a su anuncio</a:t>
            </a:r>
            <a:endParaRPr lang="en-US" sz="1500" dirty="0"/>
          </a:p>
        </p:txBody>
      </p:sp>
      <p:sp>
        <p:nvSpPr>
          <p:cNvPr id="36" name="Text 34"/>
          <p:cNvSpPr txBox="1"/>
          <p:nvPr/>
        </p:nvSpPr>
        <p:spPr>
          <a:xfrm>
            <a:off x="548640" y="5303520"/>
            <a:ext cx="2743200" cy="54864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Liquidez</a:t>
            </a:r>
            <a:endParaRPr lang="en-US" sz="1600" dirty="0"/>
          </a:p>
        </p:txBody>
      </p:sp>
      <p:sp>
        <p:nvSpPr>
          <p:cNvPr id="37" name="Hoy Liquidez"/>
          <p:cNvSpPr/>
          <p:nvPr/>
        </p:nvSpPr>
        <p:spPr>
          <a:xfrm>
            <a:off x="3474720" y="5303520"/>
            <a:ext cx="3611880" cy="548640"/>
          </a:xfrm>
          <a:prstGeom prst="roundRect">
            <a:avLst>
              <a:gd name="adj" fmla="val 16667"/>
            </a:avLst>
          </a:prstGeom>
          <a:solidFill>
            <a:schemeClr val="accent5">
              <a:alpha val="8000"/>
            </a:schemeClr>
          </a:solidFill>
          <a:ln/>
        </p:spPr>
      </p:sp>
      <p:sp>
        <p:nvSpPr>
          <p:cNvPr id="38" name="Text 36"/>
          <p:cNvSpPr txBox="1"/>
          <p:nvPr/>
        </p:nvSpPr>
        <p:spPr>
          <a:xfrm>
            <a:off x="3657600" y="5303520"/>
            <a:ext cx="3246120" cy="548640"/>
          </a:xfrm>
          <a:prstGeom prst="rect">
            <a:avLst/>
          </a:prstGeom>
          <a:noFill/>
          <a:ln/>
        </p:spPr>
        <p:txBody>
          <a:bodyPr wrap="square" lIns="0" tIns="0" rIns="0" bIns="0" rtlCol="0" anchor="ctr"/>
          <a:lstStyle/>
          <a:p>
            <a:pPr indent="0" marL="0">
              <a:buNone/>
            </a:pPr>
            <a:r>
              <a:rPr lang="en-US" sz="1500" dirty="0">
                <a:solidFill>
                  <a:schemeClr val="tx1"/>
                </a:solidFill>
              </a:rPr>
              <a:t>Excel cada hora</a:t>
            </a:r>
            <a:endParaRPr lang="en-US" sz="1500" dirty="0"/>
          </a:p>
        </p:txBody>
      </p:sp>
      <p:sp>
        <p:nvSpPr>
          <p:cNvPr id="39" name="Flecha Liquidez"/>
          <p:cNvSpPr/>
          <p:nvPr/>
        </p:nvSpPr>
        <p:spPr>
          <a:xfrm>
            <a:off x="7223760" y="5577840"/>
            <a:ext cx="365760" cy="0"/>
          </a:xfrm>
          <a:prstGeom prst="line">
            <a:avLst/>
          </a:prstGeom>
          <a:noFill/>
          <a:ln w="19050">
            <a:solidFill>
              <a:schemeClr val="tx2"/>
            </a:solidFill>
            <a:prstDash val="solid"/>
            <a:tailEnd type="triangle"/>
          </a:ln>
        </p:spPr>
      </p:sp>
      <p:sp>
        <p:nvSpPr>
          <p:cNvPr id="40" name="Con Brasper IA Liquidez"/>
          <p:cNvSpPr/>
          <p:nvPr/>
        </p:nvSpPr>
        <p:spPr>
          <a:xfrm>
            <a:off x="7726680" y="5303520"/>
            <a:ext cx="3916375" cy="548640"/>
          </a:xfrm>
          <a:prstGeom prst="roundRect">
            <a:avLst>
              <a:gd name="adj" fmla="val 16667"/>
            </a:avLst>
          </a:prstGeom>
          <a:solidFill>
            <a:schemeClr val="accent4">
              <a:alpha val="12000"/>
            </a:schemeClr>
          </a:solidFill>
          <a:ln/>
        </p:spPr>
      </p:sp>
      <p:sp>
        <p:nvSpPr>
          <p:cNvPr id="41" name="Text 39"/>
          <p:cNvSpPr txBox="1"/>
          <p:nvPr/>
        </p:nvSpPr>
        <p:spPr>
          <a:xfrm>
            <a:off x="7909560" y="5303520"/>
            <a:ext cx="3550615" cy="548640"/>
          </a:xfrm>
          <a:prstGeom prst="rect">
            <a:avLst/>
          </a:prstGeom>
          <a:noFill/>
          <a:ln/>
        </p:spPr>
        <p:txBody>
          <a:bodyPr wrap="square" lIns="0" tIns="0" rIns="0" bIns="0" rtlCol="0" anchor="ctr"/>
          <a:lstStyle/>
          <a:p>
            <a:pPr indent="0" marL="0">
              <a:buNone/>
            </a:pPr>
            <a:r>
              <a:rPr lang="en-US" sz="1500" b="1" dirty="0">
                <a:solidFill>
                  <a:schemeClr val="tx1"/>
                </a:solidFill>
              </a:rPr>
              <a:t>Alertas automáticas y un plan de acción</a:t>
            </a:r>
            <a:endParaRPr lang="en-US" sz="15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411480"/>
            <a:ext cx="91440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PRÓXIMOS PASOS</a:t>
            </a:r>
            <a:endParaRPr lang="en-US" sz="1200" dirty="0"/>
          </a:p>
        </p:txBody>
      </p:sp>
      <p:sp>
        <p:nvSpPr>
          <p:cNvPr id="3" name="Text 1"/>
          <p:cNvSpPr/>
          <p:nvPr>
            <p:ph idx="103" type="title" hasCustomPrompt="1"/>
          </p:nvPr>
        </p:nvSpPr>
        <p:spPr>
          <a:xfrm>
            <a:off x="548640" y="694944"/>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Cómo lo llevamos a producción</a:t>
            </a:r>
            <a:endParaRPr lang="en-US" sz="3200" dirty="0"/>
          </a:p>
        </p:txBody>
      </p:sp>
      <p:sp>
        <p:nvSpPr>
          <p:cNvPr id="4" name="Línea de tiempo"/>
          <p:cNvSpPr/>
          <p:nvPr/>
        </p:nvSpPr>
        <p:spPr>
          <a:xfrm>
            <a:off x="960120" y="1938528"/>
            <a:ext cx="10271455" cy="0"/>
          </a:xfrm>
          <a:prstGeom prst="line">
            <a:avLst/>
          </a:prstGeom>
          <a:noFill/>
          <a:ln w="25400">
            <a:solidFill>
              <a:schemeClr val="accent1">
                <a:alpha val="40000"/>
              </a:schemeClr>
            </a:solidFill>
            <a:prstDash val="solid"/>
          </a:ln>
        </p:spPr>
      </p:sp>
      <p:sp>
        <p:nvSpPr>
          <p:cNvPr id="5" name="Hito FASE 1"/>
          <p:cNvSpPr/>
          <p:nvPr/>
        </p:nvSpPr>
        <p:spPr>
          <a:xfrm>
            <a:off x="795528" y="1773936"/>
            <a:ext cx="329184" cy="329184"/>
          </a:xfrm>
          <a:prstGeom prst="ellipse">
            <a:avLst/>
          </a:prstGeom>
          <a:solidFill>
            <a:schemeClr val="accent1"/>
          </a:solidFill>
          <a:ln w="31750">
            <a:solidFill>
              <a:schemeClr val="bg1"/>
            </a:solidFill>
            <a:prstDash val="solid"/>
          </a:ln>
        </p:spPr>
      </p:sp>
      <p:sp>
        <p:nvSpPr>
          <p:cNvPr id="6" name="FASE 1 Piloto Perú → Brasil"/>
          <p:cNvSpPr/>
          <p:nvPr/>
        </p:nvSpPr>
        <p:spPr>
          <a:xfrm>
            <a:off x="548640" y="2286000"/>
            <a:ext cx="3515258" cy="3017520"/>
          </a:xfrm>
          <a:prstGeom prst="roundRect">
            <a:avLst>
              <a:gd name="adj" fmla="val 4242"/>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7" name="Text 5"/>
          <p:cNvSpPr txBox="1"/>
          <p:nvPr/>
        </p:nvSpPr>
        <p:spPr>
          <a:xfrm>
            <a:off x="822960" y="2542032"/>
            <a:ext cx="296661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FASE 1</a:t>
            </a:r>
            <a:endParaRPr lang="en-US" sz="1200" dirty="0"/>
          </a:p>
        </p:txBody>
      </p:sp>
      <p:sp>
        <p:nvSpPr>
          <p:cNvPr id="8" name="Text 6"/>
          <p:cNvSpPr txBox="1"/>
          <p:nvPr/>
        </p:nvSpPr>
        <p:spPr>
          <a:xfrm>
            <a:off x="822960" y="2834640"/>
            <a:ext cx="2966618"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Piloto Perú → Brasil</a:t>
            </a:r>
            <a:endParaRPr lang="en-US" sz="2000" dirty="0"/>
          </a:p>
        </p:txBody>
      </p:sp>
      <p:sp>
        <p:nvSpPr>
          <p:cNvPr id="9" name="Text 7"/>
          <p:cNvSpPr txBox="1"/>
          <p:nvPr/>
        </p:nvSpPr>
        <p:spPr>
          <a:xfrm>
            <a:off x="822960" y="3429000"/>
            <a:ext cx="2966618" cy="16916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El robot factura desde el dashboard actual</a:t>
            </a:r>
            <a:endParaRPr lang="en-US" sz="1400" dirty="0"/>
          </a:p>
          <a:p>
            <a:pPr marL="177800" indent="-177800">
              <a:spcAft>
                <a:spcPts val="800"/>
              </a:spcAft>
              <a:buSzPct val="100000"/>
              <a:buChar char="•"/>
            </a:pPr>
            <a:r>
              <a:rPr lang="en-US" sz="1400" dirty="0">
                <a:solidFill>
                  <a:schemeClr val="tx1"/>
                </a:solidFill>
              </a:rPr>
              <a:t>La IA valida cada PDF</a:t>
            </a:r>
            <a:endParaRPr lang="en-US" sz="1400" dirty="0"/>
          </a:p>
          <a:p>
            <a:pPr marL="177800" indent="-177800">
              <a:spcAft>
                <a:spcPts val="800"/>
              </a:spcAft>
              <a:buSzPct val="100000"/>
              <a:buChar char="•"/>
            </a:pPr>
            <a:r>
              <a:rPr lang="en-US" sz="1400" dirty="0">
                <a:solidFill>
                  <a:schemeClr val="tx1"/>
                </a:solidFill>
              </a:rPr>
              <a:t>Panel de excepciones y auditoría</a:t>
            </a:r>
            <a:endParaRPr lang="en-US" sz="1400" dirty="0"/>
          </a:p>
        </p:txBody>
      </p:sp>
      <p:sp>
        <p:nvSpPr>
          <p:cNvPr id="10" name="Hito FASE 2"/>
          <p:cNvSpPr/>
          <p:nvPr/>
        </p:nvSpPr>
        <p:spPr>
          <a:xfrm>
            <a:off x="4585106" y="1773936"/>
            <a:ext cx="329184" cy="329184"/>
          </a:xfrm>
          <a:prstGeom prst="ellipse">
            <a:avLst/>
          </a:prstGeom>
          <a:solidFill>
            <a:schemeClr val="accent1"/>
          </a:solidFill>
          <a:ln w="31750">
            <a:solidFill>
              <a:schemeClr val="bg1"/>
            </a:solidFill>
            <a:prstDash val="solid"/>
          </a:ln>
        </p:spPr>
      </p:sp>
      <p:sp>
        <p:nvSpPr>
          <p:cNvPr id="11" name="FASE 2 Adiós a KeyFácil"/>
          <p:cNvSpPr/>
          <p:nvPr/>
        </p:nvSpPr>
        <p:spPr>
          <a:xfrm>
            <a:off x="4338218" y="2286000"/>
            <a:ext cx="3515258" cy="3017520"/>
          </a:xfrm>
          <a:prstGeom prst="roundRect">
            <a:avLst>
              <a:gd name="adj" fmla="val 4242"/>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12" name="Text 10"/>
          <p:cNvSpPr txBox="1"/>
          <p:nvPr/>
        </p:nvSpPr>
        <p:spPr>
          <a:xfrm>
            <a:off x="4612538" y="2542032"/>
            <a:ext cx="296661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FASE 2</a:t>
            </a:r>
            <a:endParaRPr lang="en-US" sz="1200" dirty="0"/>
          </a:p>
        </p:txBody>
      </p:sp>
      <p:sp>
        <p:nvSpPr>
          <p:cNvPr id="13" name="Text 11"/>
          <p:cNvSpPr txBox="1"/>
          <p:nvPr/>
        </p:nvSpPr>
        <p:spPr>
          <a:xfrm>
            <a:off x="4612538" y="2834640"/>
            <a:ext cx="2966618"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Adiós a KeyFácil</a:t>
            </a:r>
            <a:endParaRPr lang="en-US" sz="2000" dirty="0"/>
          </a:p>
        </p:txBody>
      </p:sp>
      <p:sp>
        <p:nvSpPr>
          <p:cNvPr id="14" name="Text 12"/>
          <p:cNvSpPr txBox="1"/>
          <p:nvPr/>
        </p:nvSpPr>
        <p:spPr>
          <a:xfrm>
            <a:off x="4612538" y="3429000"/>
            <a:ext cx="2966618" cy="16916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Emisión directa por API ante SUNAT</a:t>
            </a:r>
            <a:endParaRPr lang="en-US" sz="1400" dirty="0"/>
          </a:p>
          <a:p>
            <a:pPr marL="177800" indent="-177800">
              <a:spcAft>
                <a:spcPts val="800"/>
              </a:spcAft>
              <a:buSzPct val="100000"/>
              <a:buChar char="•"/>
            </a:pPr>
            <a:r>
              <a:rPr lang="en-US" sz="1400" dirty="0">
                <a:solidFill>
                  <a:schemeClr val="tx1"/>
                </a:solidFill>
              </a:rPr>
              <a:t>Omie se queda: el robot lo llena por su API</a:t>
            </a:r>
            <a:endParaRPr lang="en-US" sz="1400" dirty="0"/>
          </a:p>
          <a:p>
            <a:pPr marL="177800" indent="-177800">
              <a:spcAft>
                <a:spcPts val="800"/>
              </a:spcAft>
              <a:buSzPct val="100000"/>
              <a:buChar char="•"/>
            </a:pPr>
            <a:r>
              <a:rPr lang="en-US" sz="1400" dirty="0">
                <a:solidFill>
                  <a:schemeClr val="tx1"/>
                </a:solidFill>
              </a:rPr>
              <a:t>El PDF llega solo al cliente</a:t>
            </a:r>
            <a:endParaRPr lang="en-US" sz="1400" dirty="0"/>
          </a:p>
        </p:txBody>
      </p:sp>
      <p:sp>
        <p:nvSpPr>
          <p:cNvPr id="15" name="Hito FASE 3"/>
          <p:cNvSpPr/>
          <p:nvPr/>
        </p:nvSpPr>
        <p:spPr>
          <a:xfrm>
            <a:off x="8374685" y="1773936"/>
            <a:ext cx="329184" cy="329184"/>
          </a:xfrm>
          <a:prstGeom prst="ellipse">
            <a:avLst/>
          </a:prstGeom>
          <a:solidFill>
            <a:schemeClr val="accent1"/>
          </a:solidFill>
          <a:ln w="31750">
            <a:solidFill>
              <a:schemeClr val="bg1"/>
            </a:solidFill>
            <a:prstDash val="solid"/>
          </a:ln>
        </p:spPr>
      </p:sp>
      <p:sp>
        <p:nvSpPr>
          <p:cNvPr id="16" name="FASE 3 ARM con datos reales"/>
          <p:cNvSpPr/>
          <p:nvPr/>
        </p:nvSpPr>
        <p:spPr>
          <a:xfrm>
            <a:off x="8127797" y="2286000"/>
            <a:ext cx="3515258" cy="3017520"/>
          </a:xfrm>
          <a:prstGeom prst="roundRect">
            <a:avLst>
              <a:gd name="adj" fmla="val 4242"/>
            </a:avLst>
          </a:prstGeom>
          <a:solidFill>
            <a:schemeClr val="bg1"/>
          </a:solidFill>
          <a:ln w="9525">
            <a:solidFill>
              <a:schemeClr val="tx2">
                <a:alpha val="18000"/>
              </a:schemeClr>
            </a:solidFill>
            <a:prstDash val="solid"/>
          </a:ln>
          <a:effectLst>
            <a:outerShdw sx="100000" sy="100000" kx="0" ky="0" algn="bl" rotWithShape="0" blurRad="127000" dist="25400" dir="5400000">
              <a:srgbClr val="0B1233">
                <a:alpha val="12000"/>
              </a:srgbClr>
            </a:outerShdw>
          </a:effectLst>
        </p:spPr>
      </p:sp>
      <p:sp>
        <p:nvSpPr>
          <p:cNvPr id="17" name="Text 15"/>
          <p:cNvSpPr txBox="1"/>
          <p:nvPr/>
        </p:nvSpPr>
        <p:spPr>
          <a:xfrm>
            <a:off x="8402117" y="2542032"/>
            <a:ext cx="296661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FASE 3</a:t>
            </a:r>
            <a:endParaRPr lang="en-US" sz="1200" dirty="0"/>
          </a:p>
        </p:txBody>
      </p:sp>
      <p:sp>
        <p:nvSpPr>
          <p:cNvPr id="18" name="Text 16"/>
          <p:cNvSpPr txBox="1"/>
          <p:nvPr/>
        </p:nvSpPr>
        <p:spPr>
          <a:xfrm>
            <a:off x="8402117" y="2834640"/>
            <a:ext cx="2966618"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ARM con datos reales</a:t>
            </a:r>
            <a:endParaRPr lang="en-US" sz="2000" dirty="0"/>
          </a:p>
        </p:txBody>
      </p:sp>
      <p:sp>
        <p:nvSpPr>
          <p:cNvPr id="19" name="Text 17"/>
          <p:cNvSpPr txBox="1"/>
          <p:nvPr/>
        </p:nvSpPr>
        <p:spPr>
          <a:xfrm>
            <a:off x="8402117" y="3429000"/>
            <a:ext cx="2966618" cy="16916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Captura de UTM e IDs de clic en la web</a:t>
            </a:r>
            <a:endParaRPr lang="en-US" sz="1400" dirty="0"/>
          </a:p>
          <a:p>
            <a:pPr marL="177800" indent="-177800">
              <a:spcAft>
                <a:spcPts val="800"/>
              </a:spcAft>
              <a:buSzPct val="100000"/>
              <a:buChar char="•"/>
            </a:pPr>
            <a:r>
              <a:rPr lang="en-US" sz="1400" dirty="0">
                <a:solidFill>
                  <a:schemeClr val="tx1"/>
                </a:solidFill>
              </a:rPr>
              <a:t>Rastro, Caudal y Bitácora en vivo</a:t>
            </a:r>
            <a:endParaRPr lang="en-US" sz="1400" dirty="0"/>
          </a:p>
          <a:p>
            <a:pPr marL="177800" indent="-177800">
              <a:spcAft>
                <a:spcPts val="800"/>
              </a:spcAft>
              <a:buSzPct val="100000"/>
              <a:buChar char="•"/>
            </a:pPr>
            <a:r>
              <a:rPr lang="en-US" sz="1400" dirty="0">
                <a:solidFill>
                  <a:schemeClr val="tx1"/>
                </a:solidFill>
              </a:rPr>
              <a:t>Copiloto para gerencia</a:t>
            </a:r>
            <a:endParaRPr lang="en-US" sz="1400" dirty="0"/>
          </a:p>
        </p:txBody>
      </p:sp>
      <p:sp>
        <p:nvSpPr>
          <p:cNvPr id="20" name="Siempre"/>
          <p:cNvSpPr/>
          <p:nvPr/>
        </p:nvSpPr>
        <p:spPr>
          <a:xfrm>
            <a:off x="548640" y="5532120"/>
            <a:ext cx="11094415" cy="594360"/>
          </a:xfrm>
          <a:prstGeom prst="roundRect">
            <a:avLst>
              <a:gd name="adj" fmla="val 18462"/>
            </a:avLst>
          </a:prstGeom>
          <a:solidFill>
            <a:schemeClr val="accent1">
              <a:alpha val="9000"/>
            </a:schemeClr>
          </a:solidFill>
          <a:ln/>
        </p:spPr>
      </p:sp>
      <p:pic>
        <p:nvPicPr>
          <p:cNvPr id="21" name="Ícono shield" descr="preencoded.png">    </p:cNvPr>
          <p:cNvPicPr>
            <a:picLocks noChangeAspect="1"/>
          </p:cNvPicPr>
          <p:nvPr/>
        </p:nvPicPr>
        <p:blipFill>
          <a:blip r:embed="rId1"/>
          <a:stretch>
            <a:fillRect/>
          </a:stretch>
        </p:blipFill>
        <p:spPr>
          <a:xfrm>
            <a:off x="777240" y="5637276"/>
            <a:ext cx="384048" cy="384048"/>
          </a:xfrm>
          <a:prstGeom prst="rect">
            <a:avLst/>
          </a:prstGeom>
        </p:spPr>
      </p:pic>
      <p:sp>
        <p:nvSpPr>
          <p:cNvPr id="22" name="Text 19"/>
          <p:cNvSpPr txBox="1"/>
          <p:nvPr/>
        </p:nvSpPr>
        <p:spPr>
          <a:xfrm>
            <a:off x="1325880" y="5532120"/>
            <a:ext cx="10088575" cy="594360"/>
          </a:xfrm>
          <a:prstGeom prst="rect">
            <a:avLst/>
          </a:prstGeom>
          <a:noFill/>
          <a:ln/>
        </p:spPr>
        <p:txBody>
          <a:bodyPr wrap="square" lIns="0" tIns="0" rIns="0" bIns="0" rtlCol="0" anchor="ctr"/>
          <a:lstStyle/>
          <a:p>
            <a:pPr indent="0" marL="0">
              <a:buNone/>
            </a:pPr>
            <a:r>
              <a:rPr lang="en-US" sz="1400" b="1" dirty="0">
                <a:solidFill>
                  <a:schemeClr val="tx1"/>
                </a:solidFill>
              </a:rPr>
              <a:t>En todas las fases: </a:t>
            </a:r>
            <a:pPr indent="0" marL="0">
              <a:buNone/>
            </a:pPr>
            <a:r>
              <a:rPr lang="en-US" sz="1400" dirty="0">
                <a:solidFill>
                  <a:schemeClr val="tx1"/>
                </a:solidFill>
              </a:rPr>
              <a:t>supervisión humana (D.S. 115-2025-PCM), IA local y consentimiento de datos (Ley 29733).</a:t>
            </a:r>
            <a:endParaRPr lang="en-US" sz="1400" dirty="0"/>
          </a:p>
        </p:txBody>
      </p:sp>
      <p:sp>
        <p:nvSpPr>
          <p:cNvPr id="25" name="Slide Number Placeholder 0"/>
          <p:cNvSpPr>
            <a:spLocks noGrp="1"/>
          </p:cNvSpPr>
          <p:nvPr>
            <p:ph type="sldNum" sz="quarter" idx="4294967295"/>
          </p:nvPr>
        </p:nvSpPr>
        <p:spPr>
          <a:xfrm>
            <a:off x="11094415" y="6364224"/>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4A52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48640" y="1828800"/>
            <a:ext cx="6675120" cy="365760"/>
          </a:xfrm>
          <a:prstGeom prst="rect">
            <a:avLst/>
          </a:prstGeom>
          <a:noFill/>
          <a:ln/>
        </p:spPr>
        <p:txBody>
          <a:bodyPr wrap="square" lIns="0" tIns="0" rIns="0" bIns="0" rtlCol="0" anchor="t"/>
          <a:lstStyle/>
          <a:p>
            <a:pPr algn="l" indent="0" marL="0">
              <a:buNone/>
            </a:pPr>
            <a:r>
              <a:rPr lang="en-US" sz="1400" b="1" spc="300" kern="0" dirty="0">
                <a:solidFill>
                  <a:schemeClr val="accent2"/>
                </a:solidFill>
              </a:rPr>
              <a:t>GRACIAS</a:t>
            </a:r>
            <a:endParaRPr lang="en-US" sz="1400" dirty="0"/>
          </a:p>
        </p:txBody>
      </p:sp>
      <p:sp>
        <p:nvSpPr>
          <p:cNvPr id="3" name="Text 1"/>
          <p:cNvSpPr/>
          <p:nvPr>
            <p:ph idx="103" type="title" hasCustomPrompt="1"/>
          </p:nvPr>
        </p:nvSpPr>
        <p:spPr>
          <a:xfrm>
            <a:off x="548640" y="2240280"/>
            <a:ext cx="6675120" cy="2194560"/>
          </a:xfrm>
          <a:prstGeom prst="rect">
            <a:avLst/>
          </a:prstGeom>
          <a:noFill/>
          <a:ln/>
        </p:spPr>
        <p:txBody>
          <a:bodyPr wrap="square" lIns="0" tIns="0" rIns="0" bIns="0" rtlCol="0" anchor="t"/>
          <a:lstStyle/>
          <a:p>
            <a:pPr algn="l" indent="0" marL="0">
              <a:buNone/>
            </a:pPr>
            <a:r>
              <a:rPr lang="en-US" sz="4000" b="1" dirty="0">
                <a:solidFill>
                  <a:schemeClr val="bg1"/>
                </a:solidFill>
              </a:rPr>
              <a:t>Que nadie tenga que tocar una operación entre el dashboard y el cliente</a:t>
            </a:r>
            <a:endParaRPr lang="en-US" sz="4000" dirty="0"/>
          </a:p>
        </p:txBody>
      </p:sp>
      <p:sp>
        <p:nvSpPr>
          <p:cNvPr id="4" name="Text 1"/>
          <p:cNvSpPr/>
          <p:nvPr>
            <p:ph idx="104" type="body" hasCustomPrompt="1"/>
          </p:nvPr>
        </p:nvSpPr>
        <p:spPr>
          <a:xfrm>
            <a:off x="548640" y="4663440"/>
            <a:ext cx="6675120" cy="731520"/>
          </a:xfrm>
          <a:prstGeom prst="rect">
            <a:avLst/>
          </a:prstGeom>
          <a:noFill/>
          <a:ln/>
        </p:spPr>
        <p:txBody>
          <a:bodyPr wrap="square" lIns="0" tIns="0" rIns="0" bIns="0" rtlCol="0" anchor="t"/>
          <a:lstStyle/>
          <a:p>
            <a:pPr algn="l" indent="0" marL="0">
              <a:buNone/>
            </a:pPr>
            <a:r>
              <a:rPr lang="en-US" sz="1800" dirty="0">
                <a:solidFill>
                  <a:schemeClr val="bg2"/>
                </a:solidFill>
              </a:rPr>
              <a:t>Brasper IA · Equipo Ellenistas · IAthon 2026</a:t>
            </a:r>
            <a:endParaRPr lang="en-US" sz="1800" dirty="0"/>
          </a:p>
        </p:txBody>
      </p:sp>
      <p:pic>
        <p:nvPicPr>
          <p:cNvPr id="5" name="Mascota Rastro" descr="Mascota de Rastro">    </p:cNvPr>
          <p:cNvPicPr>
            <a:picLocks noChangeAspect="1"/>
          </p:cNvPicPr>
          <p:nvPr/>
        </p:nvPicPr>
        <p:blipFill>
          <a:blip r:embed="rId1"/>
          <a:stretch>
            <a:fillRect/>
          </a:stretch>
        </p:blipFill>
        <p:spPr>
          <a:xfrm>
            <a:off x="7726680" y="1371600"/>
            <a:ext cx="1188720" cy="1307592"/>
          </a:xfrm>
          <a:prstGeom prst="rect">
            <a:avLst/>
          </a:prstGeom>
        </p:spPr>
      </p:pic>
      <p:pic>
        <p:nvPicPr>
          <p:cNvPr id="6" name="Mascota Capital" descr="Mascota de Capital">    </p:cNvPr>
          <p:cNvPicPr>
            <a:picLocks noChangeAspect="1"/>
          </p:cNvPicPr>
          <p:nvPr/>
        </p:nvPicPr>
        <p:blipFill>
          <a:blip r:embed="rId2"/>
          <a:stretch>
            <a:fillRect/>
          </a:stretch>
        </p:blipFill>
        <p:spPr>
          <a:xfrm>
            <a:off x="9098280" y="1737360"/>
            <a:ext cx="1188720" cy="1307592"/>
          </a:xfrm>
          <a:prstGeom prst="rect">
            <a:avLst/>
          </a:prstGeom>
        </p:spPr>
      </p:pic>
      <p:pic>
        <p:nvPicPr>
          <p:cNvPr id="7" name="Mascota Horizonte" descr="Mascota de Horizonte">    </p:cNvPr>
          <p:cNvPicPr>
            <a:picLocks noChangeAspect="1"/>
          </p:cNvPicPr>
          <p:nvPr/>
        </p:nvPicPr>
        <p:blipFill>
          <a:blip r:embed="rId3"/>
          <a:stretch>
            <a:fillRect/>
          </a:stretch>
        </p:blipFill>
        <p:spPr>
          <a:xfrm>
            <a:off x="10469880" y="1371600"/>
            <a:ext cx="1188720" cy="1307592"/>
          </a:xfrm>
          <a:prstGeom prst="rect">
            <a:avLst/>
          </a:prstGeom>
        </p:spPr>
      </p:pic>
      <p:pic>
        <p:nvPicPr>
          <p:cNvPr id="8" name="Mascota Bitácora" descr="Mascota de Bitácora">    </p:cNvPr>
          <p:cNvPicPr>
            <a:picLocks noChangeAspect="1"/>
          </p:cNvPicPr>
          <p:nvPr/>
        </p:nvPicPr>
        <p:blipFill>
          <a:blip r:embed="rId4"/>
          <a:stretch>
            <a:fillRect/>
          </a:stretch>
        </p:blipFill>
        <p:spPr>
          <a:xfrm>
            <a:off x="7726680" y="3611880"/>
            <a:ext cx="1188720" cy="1307592"/>
          </a:xfrm>
          <a:prstGeom prst="rect">
            <a:avLst/>
          </a:prstGeom>
        </p:spPr>
      </p:pic>
      <p:pic>
        <p:nvPicPr>
          <p:cNvPr id="9" name="Mascota Caudal" descr="Mascota de Caudal">    </p:cNvPr>
          <p:cNvPicPr>
            <a:picLocks noChangeAspect="1"/>
          </p:cNvPicPr>
          <p:nvPr/>
        </p:nvPicPr>
        <p:blipFill>
          <a:blip r:embed="rId5"/>
          <a:stretch>
            <a:fillRect/>
          </a:stretch>
        </p:blipFill>
        <p:spPr>
          <a:xfrm>
            <a:off x="9098280" y="3977640"/>
            <a:ext cx="1188720" cy="1307592"/>
          </a:xfrm>
          <a:prstGeom prst="rect">
            <a:avLst/>
          </a:prstGeom>
        </p:spPr>
      </p:pic>
      <p:pic>
        <p:nvPicPr>
          <p:cNvPr id="10" name="Mascota Lupa" descr="Mascota de Lupa">    </p:cNvPr>
          <p:cNvPicPr>
            <a:picLocks noChangeAspect="1"/>
          </p:cNvPicPr>
          <p:nvPr/>
        </p:nvPicPr>
        <p:blipFill>
          <a:blip r:embed="rId6"/>
          <a:stretch>
            <a:fillRect/>
          </a:stretch>
        </p:blipFill>
        <p:spPr>
          <a:xfrm>
            <a:off x="10469880" y="3611880"/>
            <a:ext cx="1188720" cy="1307592"/>
          </a:xfrm>
          <a:prstGeom prst="rect">
            <a:avLst/>
          </a:prstGeom>
        </p:spPr>
      </p:pic>
    </p:spTree>
  </p:cSld>
  <p:clrMapOvr>
    <a:masterClrMapping/>
  </p:clrMapOvr>
</p:sld>
</file>

<file path=ppt/theme/theme1.xml><?xml version="1.0" encoding="utf-8"?>
<a:theme xmlns:a="http://schemas.openxmlformats.org/drawingml/2006/main" name="Brasper IA">
  <a:themeElements>
    <a:clrScheme name="Brasper IA">
      <a:dk1>
        <a:srgbClr val="0B1233"/>
      </a:dk1>
      <a:lt1>
        <a:srgbClr val="FFFFFF"/>
      </a:lt1>
      <a:dk2>
        <a:srgbClr val="4A5275"/>
      </a:dk2>
      <a:lt2>
        <a:srgbClr val="DCE3FF"/>
      </a:lt2>
      <a:accent1>
        <a:srgbClr val="4A52D8"/>
      </a:accent1>
      <a:accent2>
        <a:srgbClr val="0BB5D6"/>
      </a:accent2>
      <a:accent3>
        <a:srgbClr val="F59E0B"/>
      </a:accent3>
      <a:accent4>
        <a:srgbClr val="10B981"/>
      </a:accent4>
      <a:accent5>
        <a:srgbClr val="E23670"/>
      </a:accent5>
      <a:accent6>
        <a:srgbClr val="8B5CF6"/>
      </a:accent6>
      <a:hlink>
        <a:srgbClr val="3446C4"/>
      </a:hlink>
      <a:folHlink>
        <a:srgbClr val="6D28D9"/>
      </a:folHlink>
    </a:clrScheme>
    <a:fontScheme name="Brasper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Ellenistas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Brasper IA · Pitch IAthon 2026</dc:title>
  <dc:subject>RPA de facturación y ARM con agentes IA para Brasper</dc:subject>
  <dc:creator>Equipo Ellenistas</dc:creator>
  <cp:lastModifiedBy>Equipo Ellenistas</cp:lastModifiedBy>
  <cp:revision>1</cp:revision>
  <dcterms:created xsi:type="dcterms:W3CDTF">2026-10-15T15:20:19Z</dcterms:created>
  <dcterms:modified xsi:type="dcterms:W3CDTF">2026-10-15T15:20:19Z</dcterms:modified>
</cp:coreProperties>
</file>